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82" r:id="rId38"/>
    <p:sldId id="281" r:id="rId37"/>
    <p:sldId id="280" r:id="rId36"/>
    <p:sldId id="279" r:id="rId35"/>
    <p:sldId id="278" r:id="rId34"/>
    <p:sldId id="277" r:id="rId33"/>
    <p:sldId id="276" r:id="rId32"/>
    <p:sldId id="275" r:id="rId31"/>
    <p:sldId id="274" r:id="rId30"/>
    <p:sldId id="270" r:id="rId20"/>
    <p:sldId id="284" r:id="rId40"/>
    <p:sldId id="283" r:id="rId39"/>
    <p:sldId id="271" r:id="rId21"/>
    <p:sldId id="272" r:id="rId22"/>
    <p:sldId id="273" r:id="rId23"/>
  </p:sldIdLst>
  <p:sldSz cy="10287000" cx="18288000"/>
  <p:notesSz cx="10287000" cy="18288000"/>
  <p:embeddedFontLst>
    <p:embeddedFont>
      <p:font typeface="Poppins"/>
      <p:regular r:id="rId24"/>
      <p:bold r:id="rId25"/>
      <p:italic r:id="rId26"/>
      <p:boldItalic r:id="rId27"/>
    </p:embeddedFont>
    <p:embeddedFont>
      <p:font typeface="Sora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DAC2FE4-DBA5-4F3B-94BE-2F4E2715C5E2}">
  <a:tblStyle styleId="{0DAC2FE4-DBA5-4F3B-94BE-2F4E2715C5E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24.xml"/><Relationship Id="rId21" Type="http://schemas.openxmlformats.org/officeDocument/2006/relationships/slide" Target="slides/slide27.xml"/><Relationship Id="rId22" Type="http://schemas.openxmlformats.org/officeDocument/2006/relationships/slide" Target="slides/slide28.xml"/><Relationship Id="rId23" Type="http://schemas.openxmlformats.org/officeDocument/2006/relationships/slide" Target="slides/slide29.xml"/><Relationship Id="rId24" Type="http://schemas.openxmlformats.org/officeDocument/2006/relationships/font" Target="fonts/Poppins-regular.fntdata"/><Relationship Id="rId25" Type="http://schemas.openxmlformats.org/officeDocument/2006/relationships/font" Target="fonts/Poppins-bold.fntdata"/><Relationship Id="rId26" Type="http://schemas.openxmlformats.org/officeDocument/2006/relationships/font" Target="fonts/Poppins-italic.fntdata"/><Relationship Id="rId27" Type="http://schemas.openxmlformats.org/officeDocument/2006/relationships/font" Target="fonts/Poppins-boldItalic.fntdata"/><Relationship Id="rId28" Type="http://schemas.openxmlformats.org/officeDocument/2006/relationships/font" Target="fonts/Sora-regular.fntdata"/><Relationship Id="rId29" Type="http://schemas.openxmlformats.org/officeDocument/2006/relationships/font" Target="fonts/Sora-bold.fntdata"/><Relationship Id="rId30" Type="http://schemas.openxmlformats.org/officeDocument/2006/relationships/slide" Target="slides/slide23.xml"/><Relationship Id="rId31" Type="http://schemas.openxmlformats.org/officeDocument/2006/relationships/slide" Target="slides/slide22.xml"/><Relationship Id="rId32" Type="http://schemas.openxmlformats.org/officeDocument/2006/relationships/slide" Target="slides/slide21.xml"/><Relationship Id="rId33" Type="http://schemas.openxmlformats.org/officeDocument/2006/relationships/slide" Target="slides/slide20.xml"/><Relationship Id="rId34" Type="http://schemas.openxmlformats.org/officeDocument/2006/relationships/slide" Target="slides/slide19.xml"/><Relationship Id="rId35" Type="http://schemas.openxmlformats.org/officeDocument/2006/relationships/slide" Target="slides/slide18.xml"/><Relationship Id="rId36" Type="http://schemas.openxmlformats.org/officeDocument/2006/relationships/slide" Target="slides/slide17.xml"/><Relationship Id="rId37" Type="http://schemas.openxmlformats.org/officeDocument/2006/relationships/slide" Target="slides/slide16.xml"/><Relationship Id="rId38" Type="http://schemas.openxmlformats.org/officeDocument/2006/relationships/slide" Target="slides/slide15.xml"/><Relationship Id="rId39" Type="http://schemas.openxmlformats.org/officeDocument/2006/relationships/slide" Target="slides/slide26.xml"/><Relationship Id="rId40" Type="http://schemas.openxmlformats.org/officeDocument/2006/relationships/slide" Target="slides/slide2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6215B"/>
                </a:solidFill>
                <a:latin typeface="Poppins"/>
              </a:rPr>
              <a:t>eNPS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s0</c:v>
                </c:pt>
              </c:strCache>
            </c:strRef>
          </c:tx>
          <c:spPr>
            <a:solidFill>
              <a:srgbClr val="16215B"/>
            </a:solidFill>
          </c:spPr>
          <c:cat>
            <c:strRef>
              <c:f>Sheet1!$A$2:$A$4</c:f>
              <c:strCache>
                <c:ptCount val="3"/>
                <c:pt idx="0">
                  <c:v>c0</c:v>
                </c:pt>
                <c:pt idx="1">
                  <c:v>c1</c:v>
                </c:pt>
                <c:pt idx="2">
                  <c:v>c2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rgbClr val="A9B1C7"/>
            </a:solidFill>
          </c:spPr>
          <c:cat>
            <c:strRef>
              <c:f>Sheet1!$A$2:$A$4</c:f>
              <c:strCache>
                <c:ptCount val="3"/>
                <c:pt idx="0">
                  <c:v>c0</c:v>
                </c:pt>
                <c:pt idx="1">
                  <c:v>c1</c:v>
                </c:pt>
                <c:pt idx="2">
                  <c:v>c2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215B"/>
                  </a:solidFill>
                  <a:latin typeface="Poppi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9E5"/>
            </a:solidFill>
          </a:ln>
        </c:spPr>
        <c:txPr>
          <a:bodyPr/>
          <a:lstStyle/>
          <a:p>
            <a:pPr>
              <a:defRPr sz="1000">
                <a:solidFill>
                  <a:srgbClr val="4B5274"/>
                </a:solidFill>
                <a:latin typeface="Poppi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4B5274"/>
              </a:solidFill>
              <a:latin typeface="Poppin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6215B"/>
                </a:solidFill>
                <a:latin typeface="Poppins"/>
              </a:rPr>
              <a:t>Risco de retenção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s0</c:v>
                </c:pt>
              </c:strCache>
            </c:strRef>
          </c:tx>
          <c:spPr>
            <a:solidFill>
              <a:srgbClr val="16215B"/>
            </a:solidFill>
          </c:spPr>
          <c:cat>
            <c:strRef>
              <c:f>Sheet1!$A$2:$A$4</c:f>
              <c:strCache>
                <c:ptCount val="3"/>
                <c:pt idx="0">
                  <c:v>c0</c:v>
                </c:pt>
                <c:pt idx="1">
                  <c:v>c1</c:v>
                </c:pt>
                <c:pt idx="2">
                  <c:v>c2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rgbClr val="A9B1C7"/>
            </a:solidFill>
          </c:spPr>
          <c:cat>
            <c:strRef>
              <c:f>Sheet1!$A$2:$A$4</c:f>
              <c:strCache>
                <c:ptCount val="3"/>
                <c:pt idx="0">
                  <c:v>c0</c:v>
                </c:pt>
                <c:pt idx="1">
                  <c:v>c1</c:v>
                </c:pt>
                <c:pt idx="2">
                  <c:v>c2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16215B"/>
                  </a:solidFill>
                  <a:latin typeface="Poppi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9E5"/>
            </a:solidFill>
          </a:ln>
        </c:spPr>
        <c:txPr>
          <a:bodyPr/>
          <a:lstStyle/>
          <a:p>
            <a:pPr>
              <a:defRPr sz="1000">
                <a:solidFill>
                  <a:srgbClr val="4B5274"/>
                </a:solidFill>
                <a:latin typeface="Poppi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4B5274"/>
              </a:solidFill>
              <a:latin typeface="Poppin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s0</c:v>
                </c:pt>
              </c:strCache>
            </c:strRef>
          </c:tx>
          <c:spPr>
            <a:solidFill>
              <a:srgbClr val="16215B"/>
            </a:solidFill>
          </c:spPr>
          <c:cat>
            <c:strRef>
              <c:f>Sheet1!$A$2:$A$3</c:f>
              <c:strCache>
                <c:ptCount val="2"/>
                <c:pt idx="0">
                  <c:v>c0</c:v>
                </c:pt>
                <c:pt idx="1">
                  <c:v>c1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rgbClr val="A9B1C7"/>
            </a:solidFill>
          </c:spPr>
          <c:cat>
            <c:strRef>
              <c:f>Sheet1!$A$2:$A$3</c:f>
              <c:strCache>
                <c:ptCount val="2"/>
                <c:pt idx="0">
                  <c:v>c0</c:v>
                </c:pt>
                <c:pt idx="1">
                  <c:v>c1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700">
                  <a:solidFill>
                    <a:srgbClr val="16215B"/>
                  </a:solidFill>
                  <a:latin typeface="Poppi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9E5"/>
            </a:solidFill>
          </a:ln>
        </c:spPr>
        <c:txPr>
          <a:bodyPr/>
          <a:lstStyle/>
          <a:p>
            <a:pPr>
              <a:defRPr sz="700">
                <a:solidFill>
                  <a:srgbClr val="4B5274"/>
                </a:solidFill>
                <a:latin typeface="Poppi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700">
              <a:solidFill>
                <a:srgbClr val="4B5274"/>
              </a:solidFill>
              <a:latin typeface="Poppin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s0</c:v>
                </c:pt>
              </c:strCache>
            </c:strRef>
          </c:tx>
          <c:spPr>
            <a:solidFill>
              <a:srgbClr val="D5225D"/>
            </a:solidFill>
          </c:spPr>
          <c:cat>
            <c:strRef>
              <c:f>Sheet1!$A$2:$A$8</c:f>
              <c:strCache>
                <c:ptCount val="7"/>
                <c:pt idx="0">
                  <c:v>c0</c:v>
                </c:pt>
                <c:pt idx="1">
                  <c:v>c1</c:v>
                </c:pt>
                <c:pt idx="2">
                  <c:v>c2</c:v>
                </c:pt>
                <c:pt idx="3">
                  <c:v>c3</c:v>
                </c:pt>
                <c:pt idx="4">
                  <c:v>c4</c:v>
                </c:pt>
                <c:pt idx="5">
                  <c:v>c5</c:v>
                </c:pt>
                <c:pt idx="6">
                  <c:v>c6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600">
                  <a:solidFill>
                    <a:srgbClr val="16215B"/>
                  </a:solidFill>
                  <a:latin typeface="Poppi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9E5"/>
            </a:solidFill>
          </a:ln>
        </c:spPr>
        <c:txPr>
          <a:bodyPr/>
          <a:lstStyle/>
          <a:p>
            <a:pPr>
              <a:defRPr sz="600">
                <a:solidFill>
                  <a:srgbClr val="4B5274"/>
                </a:solidFill>
                <a:latin typeface="Poppi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s0</c:v>
                </c:pt>
              </c:strCache>
            </c:strRef>
          </c:tx>
          <c:spPr>
            <a:solidFill>
              <a:srgbClr val="16215B"/>
            </a:solidFill>
          </c:spPr>
          <c:cat>
            <c:strRef>
              <c:f>Sheet1!$A$2:$A$3</c:f>
              <c:strCache>
                <c:ptCount val="2"/>
                <c:pt idx="0">
                  <c:v>c0</c:v>
                </c:pt>
                <c:pt idx="1">
                  <c:v>c1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rgbClr val="A9B1C7"/>
            </a:solidFill>
          </c:spPr>
          <c:cat>
            <c:strRef>
              <c:f>Sheet1!$A$2:$A$3</c:f>
              <c:strCache>
                <c:ptCount val="2"/>
                <c:pt idx="0">
                  <c:v>c0</c:v>
                </c:pt>
                <c:pt idx="1">
                  <c:v>c1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16215B"/>
                  </a:solidFill>
                  <a:latin typeface="Poppi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9E5"/>
            </a:solidFill>
          </a:ln>
        </c:spPr>
        <c:txPr>
          <a:bodyPr/>
          <a:lstStyle/>
          <a:p>
            <a:pPr>
              <a:defRPr sz="800">
                <a:solidFill>
                  <a:srgbClr val="4B5274"/>
                </a:solidFill>
                <a:latin typeface="Poppi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4B5274"/>
              </a:solidFill>
              <a:latin typeface="Poppin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s0</c:v>
                </c:pt>
              </c:strCache>
            </c:strRef>
          </c:tx>
          <c:spPr>
            <a:solidFill>
              <a:srgbClr val="16215B"/>
            </a:solidFill>
          </c:spPr>
          <c:cat>
            <c:strRef>
              <c:f>Sheet1!$A$2:$A$3</c:f>
              <c:strCache>
                <c:ptCount val="2"/>
                <c:pt idx="0">
                  <c:v>c0</c:v>
                </c:pt>
                <c:pt idx="1">
                  <c:v>c1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rgbClr val="A9B1C7"/>
            </a:solidFill>
          </c:spPr>
          <c:cat>
            <c:strRef>
              <c:f>Sheet1!$A$2:$A$3</c:f>
              <c:strCache>
                <c:ptCount val="2"/>
                <c:pt idx="0">
                  <c:v>c0</c:v>
                </c:pt>
                <c:pt idx="1">
                  <c:v>c1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16215B"/>
                  </a:solidFill>
                  <a:latin typeface="Poppi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9E5"/>
            </a:solidFill>
          </a:ln>
        </c:spPr>
        <c:txPr>
          <a:bodyPr/>
          <a:lstStyle/>
          <a:p>
            <a:pPr>
              <a:defRPr sz="800">
                <a:solidFill>
                  <a:srgbClr val="4B5274"/>
                </a:solidFill>
                <a:latin typeface="Poppi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4B5274"/>
              </a:solidFill>
              <a:latin typeface="Poppin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s0</c:v>
                </c:pt>
              </c:strCache>
            </c:strRef>
          </c:tx>
          <c:spPr>
            <a:solidFill>
              <a:srgbClr val="16215B"/>
            </a:solidFill>
          </c:spPr>
          <c:cat>
            <c:strRef>
              <c:f>Sheet1!$A$2:$A$3</c:f>
              <c:strCache>
                <c:ptCount val="2"/>
                <c:pt idx="0">
                  <c:v>c0</c:v>
                </c:pt>
                <c:pt idx="1">
                  <c:v>c1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rgbClr val="A9B1C7"/>
            </a:solidFill>
          </c:spPr>
          <c:cat>
            <c:strRef>
              <c:f>Sheet1!$A$2:$A$3</c:f>
              <c:strCache>
                <c:ptCount val="2"/>
                <c:pt idx="0">
                  <c:v>c0</c:v>
                </c:pt>
                <c:pt idx="1">
                  <c:v>c1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16215B"/>
                  </a:solidFill>
                  <a:latin typeface="Poppi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9E5"/>
            </a:solidFill>
          </a:ln>
        </c:spPr>
        <c:txPr>
          <a:bodyPr/>
          <a:lstStyle/>
          <a:p>
            <a:pPr>
              <a:defRPr sz="800">
                <a:solidFill>
                  <a:srgbClr val="4B5274"/>
                </a:solidFill>
                <a:latin typeface="Poppi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4B5274"/>
              </a:solidFill>
              <a:latin typeface="Poppin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s0</c:v>
                </c:pt>
              </c:strCache>
            </c:strRef>
          </c:tx>
          <c:spPr>
            <a:solidFill>
              <a:srgbClr val="16215B"/>
            </a:solidFill>
          </c:spPr>
          <c:cat>
            <c:strRef>
              <c:f>Sheet1!$A$2:$A$3</c:f>
              <c:strCache>
                <c:ptCount val="2"/>
                <c:pt idx="0">
                  <c:v>c0</c:v>
                </c:pt>
                <c:pt idx="1">
                  <c:v>c1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rgbClr val="A9B1C7"/>
            </a:solidFill>
          </c:spPr>
          <c:cat>
            <c:strRef>
              <c:f>Sheet1!$A$2:$A$3</c:f>
              <c:strCache>
                <c:ptCount val="2"/>
                <c:pt idx="0">
                  <c:v>c0</c:v>
                </c:pt>
                <c:pt idx="1">
                  <c:v>c1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16215B"/>
                  </a:solidFill>
                  <a:latin typeface="Poppi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9E5"/>
            </a:solidFill>
          </a:ln>
        </c:spPr>
        <c:txPr>
          <a:bodyPr/>
          <a:lstStyle/>
          <a:p>
            <a:pPr>
              <a:defRPr sz="800">
                <a:solidFill>
                  <a:srgbClr val="4B5274"/>
                </a:solidFill>
                <a:latin typeface="Poppi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4B5274"/>
              </a:solidFill>
              <a:latin typeface="Poppin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s0</c:v>
                </c:pt>
              </c:strCache>
            </c:strRef>
          </c:tx>
          <c:spPr>
            <a:solidFill>
              <a:srgbClr val="16215B"/>
            </a:solidFill>
          </c:spPr>
          <c:cat>
            <c:strRef>
              <c:f>Sheet1!$A$2:$A$3</c:f>
              <c:strCache>
                <c:ptCount val="2"/>
                <c:pt idx="0">
                  <c:v>c0</c:v>
                </c:pt>
                <c:pt idx="1">
                  <c:v>c1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rgbClr val="A9B1C7"/>
            </a:solidFill>
          </c:spPr>
          <c:cat>
            <c:strRef>
              <c:f>Sheet1!$A$2:$A$3</c:f>
              <c:strCache>
                <c:ptCount val="2"/>
                <c:pt idx="0">
                  <c:v>c0</c:v>
                </c:pt>
                <c:pt idx="1">
                  <c:v>c1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16215B"/>
                  </a:solidFill>
                  <a:latin typeface="Poppi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9E5"/>
            </a:solidFill>
          </a:ln>
        </c:spPr>
        <c:txPr>
          <a:bodyPr/>
          <a:lstStyle/>
          <a:p>
            <a:pPr>
              <a:defRPr sz="800">
                <a:solidFill>
                  <a:srgbClr val="4B5274"/>
                </a:solidFill>
                <a:latin typeface="Poppi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4B5274"/>
              </a:solidFill>
              <a:latin typeface="Poppin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s0</c:v>
                </c:pt>
              </c:strCache>
            </c:strRef>
          </c:tx>
          <c:spPr>
            <a:solidFill>
              <a:srgbClr val="16215B"/>
            </a:solidFill>
          </c:spPr>
          <c:cat>
            <c:strRef>
              <c:f>Sheet1!$A$2:$A$3</c:f>
              <c:strCache>
                <c:ptCount val="2"/>
                <c:pt idx="0">
                  <c:v>c0</c:v>
                </c:pt>
                <c:pt idx="1">
                  <c:v>c1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rgbClr val="A9B1C7"/>
            </a:solidFill>
          </c:spPr>
          <c:cat>
            <c:strRef>
              <c:f>Sheet1!$A$2:$A$3</c:f>
              <c:strCache>
                <c:ptCount val="2"/>
                <c:pt idx="0">
                  <c:v>c0</c:v>
                </c:pt>
                <c:pt idx="1">
                  <c:v>c1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16215B"/>
                  </a:solidFill>
                  <a:latin typeface="Poppi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9E5"/>
            </a:solidFill>
          </a:ln>
        </c:spPr>
        <c:txPr>
          <a:bodyPr/>
          <a:lstStyle/>
          <a:p>
            <a:pPr>
              <a:defRPr sz="800">
                <a:solidFill>
                  <a:srgbClr val="4B5274"/>
                </a:solidFill>
                <a:latin typeface="Poppi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4B5274"/>
              </a:solidFill>
              <a:latin typeface="Poppin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s0</c:v>
                </c:pt>
              </c:strCache>
            </c:strRef>
          </c:tx>
          <c:spPr>
            <a:solidFill>
              <a:srgbClr val="16215B"/>
            </a:solidFill>
          </c:spPr>
          <c:cat>
            <c:strRef>
              <c:f>Sheet1!$A$2:$A$3</c:f>
              <c:strCache>
                <c:ptCount val="2"/>
                <c:pt idx="0">
                  <c:v>c0</c:v>
                </c:pt>
                <c:pt idx="1">
                  <c:v>c1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rgbClr val="A9B1C7"/>
            </a:solidFill>
          </c:spPr>
          <c:cat>
            <c:strRef>
              <c:f>Sheet1!$A$2:$A$3</c:f>
              <c:strCache>
                <c:ptCount val="2"/>
                <c:pt idx="0">
                  <c:v>c0</c:v>
                </c:pt>
                <c:pt idx="1">
                  <c:v>c1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16215B"/>
                  </a:solidFill>
                  <a:latin typeface="Poppi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9E5"/>
            </a:solidFill>
          </a:ln>
        </c:spPr>
        <c:txPr>
          <a:bodyPr/>
          <a:lstStyle/>
          <a:p>
            <a:pPr>
              <a:defRPr sz="800">
                <a:solidFill>
                  <a:srgbClr val="4B5274"/>
                </a:solidFill>
                <a:latin typeface="Poppi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4B5274"/>
              </a:solidFill>
              <a:latin typeface="Poppin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s0</c:v>
                </c:pt>
              </c:strCache>
            </c:strRef>
          </c:tx>
          <c:spPr>
            <a:solidFill>
              <a:srgbClr val="16215B"/>
            </a:solidFill>
          </c:spPr>
          <c:cat>
            <c:strRef>
              <c:f>Sheet1!$A$2:$A$3</c:f>
              <c:strCache>
                <c:ptCount val="2"/>
                <c:pt idx="0">
                  <c:v>c0</c:v>
                </c:pt>
                <c:pt idx="1">
                  <c:v>c1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rgbClr val="A9B1C7"/>
            </a:solidFill>
          </c:spPr>
          <c:cat>
            <c:strRef>
              <c:f>Sheet1!$A$2:$A$3</c:f>
              <c:strCache>
                <c:ptCount val="2"/>
                <c:pt idx="0">
                  <c:v>c0</c:v>
                </c:pt>
                <c:pt idx="1">
                  <c:v>c1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16215B"/>
                  </a:solidFill>
                  <a:latin typeface="Poppi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9E5"/>
            </a:solidFill>
          </a:ln>
        </c:spPr>
        <c:txPr>
          <a:bodyPr/>
          <a:lstStyle/>
          <a:p>
            <a:pPr>
              <a:defRPr sz="800">
                <a:solidFill>
                  <a:srgbClr val="4B5274"/>
                </a:solidFill>
                <a:latin typeface="Poppi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4B5274"/>
              </a:solidFill>
              <a:latin typeface="Poppin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s0</c:v>
                </c:pt>
              </c:strCache>
            </c:strRef>
          </c:tx>
          <c:spPr>
            <a:solidFill>
              <a:srgbClr val="16215B"/>
            </a:solidFill>
          </c:spPr>
          <c:cat>
            <c:strRef>
              <c:f>Sheet1!$A$2:$A$3</c:f>
              <c:strCache>
                <c:ptCount val="2"/>
                <c:pt idx="0">
                  <c:v>c0</c:v>
                </c:pt>
                <c:pt idx="1">
                  <c:v>c1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rgbClr val="A9B1C7"/>
            </a:solidFill>
          </c:spPr>
          <c:cat>
            <c:strRef>
              <c:f>Sheet1!$A$2:$A$3</c:f>
              <c:strCache>
                <c:ptCount val="2"/>
                <c:pt idx="0">
                  <c:v>c0</c:v>
                </c:pt>
                <c:pt idx="1">
                  <c:v>c1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16215B"/>
                  </a:solidFill>
                  <a:latin typeface="Poppi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9E5"/>
            </a:solidFill>
          </a:ln>
        </c:spPr>
        <c:txPr>
          <a:bodyPr/>
          <a:lstStyle/>
          <a:p>
            <a:pPr>
              <a:defRPr sz="800">
                <a:solidFill>
                  <a:srgbClr val="4B5274"/>
                </a:solidFill>
                <a:latin typeface="Poppi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4B5274"/>
              </a:solidFill>
              <a:latin typeface="Poppin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s0</c:v>
                </c:pt>
              </c:strCache>
            </c:strRef>
          </c:tx>
          <c:spPr>
            <a:solidFill>
              <a:srgbClr val="16215B"/>
            </a:solidFill>
          </c:spPr>
          <c:cat>
            <c:strRef>
              <c:f>Sheet1!$A$2:$A$3</c:f>
              <c:strCache>
                <c:ptCount val="2"/>
                <c:pt idx="0">
                  <c:v>c0</c:v>
                </c:pt>
                <c:pt idx="1">
                  <c:v>c1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rgbClr val="A9B1C7"/>
            </a:solidFill>
          </c:spPr>
          <c:cat>
            <c:strRef>
              <c:f>Sheet1!$A$2:$A$3</c:f>
              <c:strCache>
                <c:ptCount val="2"/>
                <c:pt idx="0">
                  <c:v>c0</c:v>
                </c:pt>
                <c:pt idx="1">
                  <c:v>c1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16215B"/>
                  </a:solidFill>
                  <a:latin typeface="Poppi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9E5"/>
            </a:solidFill>
          </a:ln>
        </c:spPr>
        <c:txPr>
          <a:bodyPr/>
          <a:lstStyle/>
          <a:p>
            <a:pPr>
              <a:defRPr sz="800">
                <a:solidFill>
                  <a:srgbClr val="4B5274"/>
                </a:solidFill>
                <a:latin typeface="Poppi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4B5274"/>
              </a:solidFill>
              <a:latin typeface="Poppin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6215B"/>
                </a:solidFill>
                <a:latin typeface="Poppins"/>
              </a:rPr>
              <a:t>eNPS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s0</c:v>
                </c:pt>
              </c:strCache>
            </c:strRef>
          </c:tx>
          <c:spPr>
            <a:solidFill>
              <a:srgbClr val="16215B"/>
            </a:solidFill>
          </c:spPr>
          <c:cat>
            <c:strRef>
              <c:f>Sheet1!$A$2:$A$4</c:f>
              <c:strCache>
                <c:ptCount val="3"/>
                <c:pt idx="0">
                  <c:v>c0</c:v>
                </c:pt>
                <c:pt idx="1">
                  <c:v>c1</c:v>
                </c:pt>
                <c:pt idx="2">
                  <c:v>c2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rgbClr val="A9B1C7"/>
            </a:solidFill>
          </c:spPr>
          <c:cat>
            <c:strRef>
              <c:f>Sheet1!$A$2:$A$4</c:f>
              <c:strCache>
                <c:ptCount val="3"/>
                <c:pt idx="0">
                  <c:v>c0</c:v>
                </c:pt>
                <c:pt idx="1">
                  <c:v>c1</c:v>
                </c:pt>
                <c:pt idx="2">
                  <c:v>c2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215B"/>
                  </a:solidFill>
                  <a:latin typeface="Poppi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9E5"/>
            </a:solidFill>
          </a:ln>
        </c:spPr>
        <c:txPr>
          <a:bodyPr/>
          <a:lstStyle/>
          <a:p>
            <a:pPr>
              <a:defRPr sz="1000">
                <a:solidFill>
                  <a:srgbClr val="4B5274"/>
                </a:solidFill>
                <a:latin typeface="Poppi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4B5274"/>
              </a:solidFill>
              <a:latin typeface="Poppin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6215B"/>
                </a:solidFill>
                <a:latin typeface="Poppins"/>
              </a:rPr>
              <a:t>Satisfação (0–10)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s0</c:v>
                </c:pt>
              </c:strCache>
            </c:strRef>
          </c:tx>
          <c:spPr>
            <a:solidFill>
              <a:srgbClr val="16215B"/>
            </a:solidFill>
          </c:spPr>
          <c:cat>
            <c:strRef>
              <c:f>Sheet1!$A$2:$A$4</c:f>
              <c:strCache>
                <c:ptCount val="3"/>
                <c:pt idx="0">
                  <c:v>c0</c:v>
                </c:pt>
                <c:pt idx="1">
                  <c:v>c1</c:v>
                </c:pt>
                <c:pt idx="2">
                  <c:v>c2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rgbClr val="A9B1C7"/>
            </a:solidFill>
          </c:spPr>
          <c:cat>
            <c:strRef>
              <c:f>Sheet1!$A$2:$A$4</c:f>
              <c:strCache>
                <c:ptCount val="3"/>
                <c:pt idx="0">
                  <c:v>c0</c:v>
                </c:pt>
                <c:pt idx="1">
                  <c:v>c1</c:v>
                </c:pt>
                <c:pt idx="2">
                  <c:v>c2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16215B"/>
                  </a:solidFill>
                  <a:latin typeface="Poppi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9E5"/>
            </a:solidFill>
          </a:ln>
        </c:spPr>
        <c:txPr>
          <a:bodyPr/>
          <a:lstStyle/>
          <a:p>
            <a:pPr>
              <a:defRPr sz="1000">
                <a:solidFill>
                  <a:srgbClr val="4B5274"/>
                </a:solidFill>
                <a:latin typeface="Poppi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.5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4B5274"/>
              </a:solidFill>
              <a:latin typeface="Poppin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6215B"/>
                </a:solidFill>
                <a:latin typeface="Poppins"/>
              </a:rPr>
              <a:t>Risco de retenção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s0</c:v>
                </c:pt>
              </c:strCache>
            </c:strRef>
          </c:tx>
          <c:spPr>
            <a:solidFill>
              <a:srgbClr val="16215B"/>
            </a:solidFill>
          </c:spPr>
          <c:cat>
            <c:strRef>
              <c:f>Sheet1!$A$2:$A$4</c:f>
              <c:strCache>
                <c:ptCount val="3"/>
                <c:pt idx="0">
                  <c:v>c0</c:v>
                </c:pt>
                <c:pt idx="1">
                  <c:v>c1</c:v>
                </c:pt>
                <c:pt idx="2">
                  <c:v>c2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rgbClr val="A9B1C7"/>
            </a:solidFill>
          </c:spPr>
          <c:cat>
            <c:strRef>
              <c:f>Sheet1!$A$2:$A$4</c:f>
              <c:strCache>
                <c:ptCount val="3"/>
                <c:pt idx="0">
                  <c:v>c0</c:v>
                </c:pt>
                <c:pt idx="1">
                  <c:v>c1</c:v>
                </c:pt>
                <c:pt idx="2">
                  <c:v>c2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16215B"/>
                  </a:solidFill>
                  <a:latin typeface="Poppi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9E5"/>
            </a:solidFill>
          </a:ln>
        </c:spPr>
        <c:txPr>
          <a:bodyPr/>
          <a:lstStyle/>
          <a:p>
            <a:pPr>
              <a:defRPr sz="1000">
                <a:solidFill>
                  <a:srgbClr val="4B5274"/>
                </a:solidFill>
                <a:latin typeface="Poppi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4B5274"/>
              </a:solidFill>
              <a:latin typeface="Poppin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s0</c:v>
                </c:pt>
              </c:strCache>
            </c:strRef>
          </c:tx>
          <c:spPr>
            <a:solidFill>
              <a:srgbClr val="D5225D"/>
            </a:solidFill>
          </c:spPr>
          <c:cat>
            <c:strRef>
              <c:f>Sheet1!$A$2:$A$11</c:f>
              <c:strCache>
                <c:ptCount val="10"/>
                <c:pt idx="0">
                  <c:v>c0</c:v>
                </c:pt>
                <c:pt idx="1">
                  <c:v>c1</c:v>
                </c:pt>
                <c:pt idx="2">
                  <c:v>c2</c:v>
                </c:pt>
                <c:pt idx="3">
                  <c:v>c3</c:v>
                </c:pt>
                <c:pt idx="4">
                  <c:v>c4</c:v>
                </c:pt>
                <c:pt idx="5">
                  <c:v>c5</c:v>
                </c:pt>
                <c:pt idx="6">
                  <c:v>c6</c:v>
                </c:pt>
                <c:pt idx="7">
                  <c:v>c7</c:v>
                </c:pt>
                <c:pt idx="8">
                  <c:v>c8</c:v>
                </c:pt>
                <c:pt idx="9">
                  <c:v>c9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</c:numCache>
            </c:numRef>
          </c:val>
        </c:ser>
        <c:dLbls>
          <c:numFmt formatCode="+0.0;−0.0;0" sourceLinked="0"/>
          <c:txPr>
            <a:bodyPr/>
            <a:lstStyle/>
            <a:p>
              <a:pPr>
                <a:defRPr sz="800">
                  <a:solidFill>
                    <a:srgbClr val="16215B"/>
                  </a:solidFill>
                  <a:latin typeface="Poppi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D5D9E5"/>
            </a:solidFill>
          </a:ln>
        </c:spPr>
        <c:txPr>
          <a:bodyPr/>
          <a:lstStyle/>
          <a:p>
            <a:pPr>
              <a:defRPr sz="800">
                <a:solidFill>
                  <a:srgbClr val="4B5274"/>
                </a:solidFill>
                <a:latin typeface="Poppi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s0</c:v>
                </c:pt>
              </c:strCache>
            </c:strRef>
          </c:tx>
          <c:spPr>
            <a:solidFill>
              <a:srgbClr val="16215B"/>
            </a:solidFill>
          </c:spPr>
          <c:cat>
            <c:strRef>
              <c:f>Sheet1!$A$2:$A$8</c:f>
              <c:strCache>
                <c:ptCount val="7"/>
                <c:pt idx="0">
                  <c:v>c0</c:v>
                </c:pt>
                <c:pt idx="1">
                  <c:v>c1</c:v>
                </c:pt>
                <c:pt idx="2">
                  <c:v>c2</c:v>
                </c:pt>
                <c:pt idx="3">
                  <c:v>c3</c:v>
                </c:pt>
                <c:pt idx="4">
                  <c:v>c4</c:v>
                </c:pt>
                <c:pt idx="5">
                  <c:v>c5</c:v>
                </c:pt>
                <c:pt idx="6">
                  <c:v>c6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rgbClr val="D5225D"/>
            </a:solidFill>
          </c:spPr>
          <c:cat>
            <c:strRef>
              <c:f>Sheet1!$A$2:$A$8</c:f>
              <c:strCache>
                <c:ptCount val="7"/>
                <c:pt idx="0">
                  <c:v>c0</c:v>
                </c:pt>
                <c:pt idx="1">
                  <c:v>c1</c:v>
                </c:pt>
                <c:pt idx="2">
                  <c:v>c2</c:v>
                </c:pt>
                <c:pt idx="3">
                  <c:v>c3</c:v>
                </c:pt>
                <c:pt idx="4">
                  <c:v>c4</c:v>
                </c:pt>
                <c:pt idx="5">
                  <c:v>c5</c:v>
                </c:pt>
                <c:pt idx="6">
                  <c:v>c6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16215B"/>
                  </a:solidFill>
                  <a:latin typeface="Poppi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9E5"/>
            </a:solidFill>
          </a:ln>
        </c:spPr>
        <c:txPr>
          <a:bodyPr/>
          <a:lstStyle/>
          <a:p>
            <a:pPr>
              <a:defRPr sz="800">
                <a:solidFill>
                  <a:srgbClr val="4B5274"/>
                </a:solidFill>
                <a:latin typeface="Poppi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5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4B5274"/>
              </a:solidFill>
              <a:latin typeface="Poppin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s0</c:v>
                </c:pt>
              </c:strCache>
            </c:strRef>
          </c:tx>
          <c:spPr>
            <a:solidFill>
              <a:srgbClr val="16215B"/>
            </a:solidFill>
          </c:spPr>
          <c:cat>
            <c:strRef>
              <c:f>Sheet1!$A$2:$A$3</c:f>
              <c:strCache>
                <c:ptCount val="2"/>
                <c:pt idx="0">
                  <c:v>c0</c:v>
                </c:pt>
                <c:pt idx="1">
                  <c:v>c1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rgbClr val="D5225D"/>
            </a:solidFill>
          </c:spPr>
          <c:cat>
            <c:strRef>
              <c:f>Sheet1!$A$2:$A$3</c:f>
              <c:strCache>
                <c:ptCount val="2"/>
                <c:pt idx="0">
                  <c:v>c0</c:v>
                </c:pt>
                <c:pt idx="1">
                  <c:v>c1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16215B"/>
                  </a:solidFill>
                  <a:latin typeface="Poppi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9E5"/>
            </a:solidFill>
          </a:ln>
        </c:spPr>
        <c:txPr>
          <a:bodyPr/>
          <a:lstStyle/>
          <a:p>
            <a:pPr>
              <a:defRPr sz="800">
                <a:solidFill>
                  <a:srgbClr val="4B5274"/>
                </a:solidFill>
                <a:latin typeface="Poppi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5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4B5274"/>
              </a:solidFill>
              <a:latin typeface="Poppin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s0</c:v>
                </c:pt>
              </c:strCache>
            </c:strRef>
          </c:tx>
          <c:spPr>
            <a:solidFill>
              <a:srgbClr val="16215B"/>
            </a:solidFill>
          </c:spPr>
          <c:cat>
            <c:strRef>
              <c:f>Sheet1!$A$2:$A$4</c:f>
              <c:strCache>
                <c:ptCount val="3"/>
                <c:pt idx="0">
                  <c:v>c0</c:v>
                </c:pt>
                <c:pt idx="1">
                  <c:v>c1</c:v>
                </c:pt>
                <c:pt idx="2">
                  <c:v>c2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rgbClr val="D5225D"/>
            </a:solidFill>
          </c:spPr>
          <c:cat>
            <c:strRef>
              <c:f>Sheet1!$A$2:$A$4</c:f>
              <c:strCache>
                <c:ptCount val="3"/>
                <c:pt idx="0">
                  <c:v>c0</c:v>
                </c:pt>
                <c:pt idx="1">
                  <c:v>c1</c:v>
                </c:pt>
                <c:pt idx="2">
                  <c:v>c2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16215B"/>
                  </a:solidFill>
                  <a:latin typeface="Poppi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9E5"/>
            </a:solidFill>
          </a:ln>
        </c:spPr>
        <c:txPr>
          <a:bodyPr/>
          <a:lstStyle/>
          <a:p>
            <a:pPr>
              <a:defRPr sz="800">
                <a:solidFill>
                  <a:srgbClr val="4B5274"/>
                </a:solidFill>
                <a:latin typeface="Poppi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5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4B5274"/>
              </a:solidFill>
              <a:latin typeface="Poppin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s0</c:v>
                </c:pt>
              </c:strCache>
            </c:strRef>
          </c:tx>
          <c:spPr>
            <a:solidFill>
              <a:srgbClr val="16215B"/>
            </a:solidFill>
          </c:spPr>
          <c:cat>
            <c:strRef>
              <c:f>Sheet1!$A$2:$A$4</c:f>
              <c:strCache>
                <c:ptCount val="3"/>
                <c:pt idx="0">
                  <c:v>c0</c:v>
                </c:pt>
                <c:pt idx="1">
                  <c:v>c1</c:v>
                </c:pt>
                <c:pt idx="2">
                  <c:v>c2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rgbClr val="D5225D"/>
            </a:solidFill>
          </c:spPr>
          <c:cat>
            <c:strRef>
              <c:f>Sheet1!$A$2:$A$4</c:f>
              <c:strCache>
                <c:ptCount val="3"/>
                <c:pt idx="0">
                  <c:v>c0</c:v>
                </c:pt>
                <c:pt idx="1">
                  <c:v>c1</c:v>
                </c:pt>
                <c:pt idx="2">
                  <c:v>c2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16215B"/>
                  </a:solidFill>
                  <a:latin typeface="Poppi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9E5"/>
            </a:solidFill>
          </a:ln>
        </c:spPr>
        <c:txPr>
          <a:bodyPr/>
          <a:lstStyle/>
          <a:p>
            <a:pPr>
              <a:defRPr sz="800">
                <a:solidFill>
                  <a:srgbClr val="4B5274"/>
                </a:solidFill>
                <a:latin typeface="Poppi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5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4B5274"/>
              </a:solidFill>
              <a:latin typeface="Poppin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" name="Google Shape;54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8" name="Google Shape;57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0" name="Google Shape;63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4" name="Google Shape;64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0" name="Google Shape;67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7" name="Google Shape;70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5.png"/><Relationship Id="rId6" Type="http://schemas.openxmlformats.org/officeDocument/2006/relationships/image" Target="../media/image4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9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7.png"/><Relationship Id="rId5" Type="http://schemas.openxmlformats.org/officeDocument/2006/relationships/image" Target="../media/image19.png"/><Relationship Id="rId6" Type="http://schemas.openxmlformats.org/officeDocument/2006/relationships/image" Target="../media/image12.png"/><Relationship Id="rId7" Type="http://schemas.openxmlformats.org/officeDocument/2006/relationships/chart" Target="../charts/chart1.xml"/><Relationship Id="rId8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24.png"/><Relationship Id="rId6" Type="http://schemas.openxmlformats.org/officeDocument/2006/relationships/image" Target="../media/image23.png"/><Relationship Id="rId7" Type="http://schemas.openxmlformats.org/officeDocument/2006/relationships/image" Target="../media/image16.png"/><Relationship Id="rId8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31.png"/><Relationship Id="rId6" Type="http://schemas.openxmlformats.org/officeDocument/2006/relationships/image" Target="../media/image2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3.png"/><Relationship Id="rId5" Type="http://schemas.openxmlformats.org/officeDocument/2006/relationships/image" Target="../media/image32.png"/><Relationship Id="rId6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6.png"/><Relationship Id="rId5" Type="http://schemas.openxmlformats.org/officeDocument/2006/relationships/image" Target="../media/image72.png"/><Relationship Id="rId6" Type="http://schemas.openxmlformats.org/officeDocument/2006/relationships/image" Target="../media/image70.png"/><Relationship Id="rId7" Type="http://schemas.openxmlformats.org/officeDocument/2006/relationships/image" Target="../media/image29.png"/><Relationship Id="rId8" Type="http://schemas.openxmlformats.org/officeDocument/2006/relationships/chart" Target="../charts/chart3.xml"/><Relationship Id="rId9" Type="http://schemas.openxmlformats.org/officeDocument/2006/relationships/chart" Target="../charts/char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5.png"/><Relationship Id="rId5" Type="http://schemas.openxmlformats.org/officeDocument/2006/relationships/image" Target="../media/image34.png"/><Relationship Id="rId6" Type="http://schemas.openxmlformats.org/officeDocument/2006/relationships/image" Target="../media/image4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7.png"/><Relationship Id="rId6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40.png"/><Relationship Id="rId5" Type="http://schemas.openxmlformats.org/officeDocument/2006/relationships/image" Target="../media/image46.png"/><Relationship Id="rId6" Type="http://schemas.openxmlformats.org/officeDocument/2006/relationships/image" Target="../media/image4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48.png"/><Relationship Id="rId5" Type="http://schemas.openxmlformats.org/officeDocument/2006/relationships/image" Target="../media/image44.png"/><Relationship Id="rId6" Type="http://schemas.openxmlformats.org/officeDocument/2006/relationships/image" Target="../media/image43.png"/><Relationship Id="rId7" Type="http://schemas.openxmlformats.org/officeDocument/2006/relationships/image" Target="../media/image49.png"/><Relationship Id="rId8" Type="http://schemas.openxmlformats.org/officeDocument/2006/relationships/image" Target="../media/image53.png"/><Relationship Id="rId9" Type="http://schemas.openxmlformats.org/officeDocument/2006/relationships/chart" Target="../charts/char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6.xml"/><Relationship Id="rId3" Type="http://schemas.openxmlformats.org/officeDocument/2006/relationships/image" Target="../media/image1.png"/><Relationship Id="rId4" Type="http://schemas.openxmlformats.org/officeDocument/2006/relationships/image" Target="../media/image48.png"/><Relationship Id="rId5" Type="http://schemas.openxmlformats.org/officeDocument/2006/relationships/image" Target="../media/image44.png"/><Relationship Id="rId6" Type="http://schemas.openxmlformats.org/officeDocument/2006/relationships/image" Target="../media/image43.png"/><Relationship Id="rId7" Type="http://schemas.openxmlformats.org/officeDocument/2006/relationships/image" Target="../media/image49.png"/><Relationship Id="rId8" Type="http://schemas.openxmlformats.org/officeDocument/2006/relationships/image" Target="../media/image5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7.xml"/><Relationship Id="rId3" Type="http://schemas.openxmlformats.org/officeDocument/2006/relationships/image" Target="../media/image1.png"/><Relationship Id="rId4" Type="http://schemas.openxmlformats.org/officeDocument/2006/relationships/image" Target="../media/image48.png"/><Relationship Id="rId5" Type="http://schemas.openxmlformats.org/officeDocument/2006/relationships/image" Target="../media/image44.png"/><Relationship Id="rId6" Type="http://schemas.openxmlformats.org/officeDocument/2006/relationships/image" Target="../media/image43.png"/><Relationship Id="rId7" Type="http://schemas.openxmlformats.org/officeDocument/2006/relationships/image" Target="../media/image49.png"/><Relationship Id="rId8" Type="http://schemas.openxmlformats.org/officeDocument/2006/relationships/image" Target="../media/image5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8.xml"/><Relationship Id="rId3" Type="http://schemas.openxmlformats.org/officeDocument/2006/relationships/image" Target="../media/image1.png"/><Relationship Id="rId4" Type="http://schemas.openxmlformats.org/officeDocument/2006/relationships/image" Target="../media/image48.png"/><Relationship Id="rId5" Type="http://schemas.openxmlformats.org/officeDocument/2006/relationships/image" Target="../media/image44.png"/><Relationship Id="rId6" Type="http://schemas.openxmlformats.org/officeDocument/2006/relationships/image" Target="../media/image43.png"/><Relationship Id="rId7" Type="http://schemas.openxmlformats.org/officeDocument/2006/relationships/image" Target="../media/image49.png"/><Relationship Id="rId8" Type="http://schemas.openxmlformats.org/officeDocument/2006/relationships/image" Target="../media/image5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9.xml"/><Relationship Id="rId3" Type="http://schemas.openxmlformats.org/officeDocument/2006/relationships/image" Target="../media/image1.png"/><Relationship Id="rId4" Type="http://schemas.openxmlformats.org/officeDocument/2006/relationships/image" Target="../media/image48.png"/><Relationship Id="rId5" Type="http://schemas.openxmlformats.org/officeDocument/2006/relationships/image" Target="../media/image44.png"/><Relationship Id="rId6" Type="http://schemas.openxmlformats.org/officeDocument/2006/relationships/image" Target="../media/image43.png"/><Relationship Id="rId7" Type="http://schemas.openxmlformats.org/officeDocument/2006/relationships/image" Target="../media/image49.png"/><Relationship Id="rId8" Type="http://schemas.openxmlformats.org/officeDocument/2006/relationships/image" Target="../media/image5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0.xml"/><Relationship Id="rId3" Type="http://schemas.openxmlformats.org/officeDocument/2006/relationships/image" Target="../media/image1.png"/><Relationship Id="rId4" Type="http://schemas.openxmlformats.org/officeDocument/2006/relationships/image" Target="../media/image48.png"/><Relationship Id="rId5" Type="http://schemas.openxmlformats.org/officeDocument/2006/relationships/image" Target="../media/image44.png"/><Relationship Id="rId6" Type="http://schemas.openxmlformats.org/officeDocument/2006/relationships/image" Target="../media/image43.png"/><Relationship Id="rId7" Type="http://schemas.openxmlformats.org/officeDocument/2006/relationships/image" Target="../media/image49.png"/><Relationship Id="rId8" Type="http://schemas.openxmlformats.org/officeDocument/2006/relationships/image" Target="../media/image5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1.xml"/><Relationship Id="rId3" Type="http://schemas.openxmlformats.org/officeDocument/2006/relationships/image" Target="../media/image1.png"/><Relationship Id="rId4" Type="http://schemas.openxmlformats.org/officeDocument/2006/relationships/image" Target="../media/image48.png"/><Relationship Id="rId5" Type="http://schemas.openxmlformats.org/officeDocument/2006/relationships/image" Target="../media/image44.png"/><Relationship Id="rId6" Type="http://schemas.openxmlformats.org/officeDocument/2006/relationships/image" Target="../media/image43.png"/><Relationship Id="rId7" Type="http://schemas.openxmlformats.org/officeDocument/2006/relationships/image" Target="../media/image49.png"/><Relationship Id="rId8" Type="http://schemas.openxmlformats.org/officeDocument/2006/relationships/image" Target="../media/image5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2.xml"/><Relationship Id="rId3" Type="http://schemas.openxmlformats.org/officeDocument/2006/relationships/image" Target="../media/image1.png"/><Relationship Id="rId4" Type="http://schemas.openxmlformats.org/officeDocument/2006/relationships/image" Target="../media/image48.png"/><Relationship Id="rId5" Type="http://schemas.openxmlformats.org/officeDocument/2006/relationships/image" Target="../media/image44.png"/><Relationship Id="rId6" Type="http://schemas.openxmlformats.org/officeDocument/2006/relationships/image" Target="../media/image43.png"/><Relationship Id="rId7" Type="http://schemas.openxmlformats.org/officeDocument/2006/relationships/image" Target="../media/image49.png"/><Relationship Id="rId8" Type="http://schemas.openxmlformats.org/officeDocument/2006/relationships/image" Target="../media/image5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3.xml"/><Relationship Id="rId3" Type="http://schemas.openxmlformats.org/officeDocument/2006/relationships/image" Target="../media/image1.png"/><Relationship Id="rId4" Type="http://schemas.openxmlformats.org/officeDocument/2006/relationships/image" Target="../media/image48.png"/><Relationship Id="rId5" Type="http://schemas.openxmlformats.org/officeDocument/2006/relationships/image" Target="../media/image44.png"/><Relationship Id="rId6" Type="http://schemas.openxmlformats.org/officeDocument/2006/relationships/image" Target="../media/image43.png"/><Relationship Id="rId7" Type="http://schemas.openxmlformats.org/officeDocument/2006/relationships/image" Target="../media/image49.png"/><Relationship Id="rId8" Type="http://schemas.openxmlformats.org/officeDocument/2006/relationships/image" Target="../media/image5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4.xml"/><Relationship Id="rId3" Type="http://schemas.openxmlformats.org/officeDocument/2006/relationships/image" Target="../media/image1.png"/><Relationship Id="rId4" Type="http://schemas.openxmlformats.org/officeDocument/2006/relationships/image" Target="../media/image48.png"/><Relationship Id="rId5" Type="http://schemas.openxmlformats.org/officeDocument/2006/relationships/image" Target="../media/image44.png"/><Relationship Id="rId6" Type="http://schemas.openxmlformats.org/officeDocument/2006/relationships/image" Target="../media/image43.png"/><Relationship Id="rId7" Type="http://schemas.openxmlformats.org/officeDocument/2006/relationships/image" Target="../media/image49.png"/><Relationship Id="rId8" Type="http://schemas.openxmlformats.org/officeDocument/2006/relationships/image" Target="../media/image5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4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4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4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48.png"/><Relationship Id="rId5" Type="http://schemas.openxmlformats.org/officeDocument/2006/relationships/image" Target="../media/image55.png"/><Relationship Id="rId6" Type="http://schemas.openxmlformats.org/officeDocument/2006/relationships/image" Target="../media/image57.png"/><Relationship Id="rId7" Type="http://schemas.openxmlformats.org/officeDocument/2006/relationships/image" Target="../media/image56.png"/><Relationship Id="rId8" Type="http://schemas.openxmlformats.org/officeDocument/2006/relationships/chart" Target="../charts/chart15.xml"/><Relationship Id="rId9" Type="http://schemas.openxmlformats.org/officeDocument/2006/relationships/chart" Target="../charts/chart16.xml"/><Relationship Id="rId10" Type="http://schemas.openxmlformats.org/officeDocument/2006/relationships/chart" Target="../charts/chart17.xml"/><Relationship Id="rId11" Type="http://schemas.openxmlformats.org/officeDocument/2006/relationships/chart" Target="../charts/chart1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48.png"/><Relationship Id="rId5" Type="http://schemas.openxmlformats.org/officeDocument/2006/relationships/image" Target="../media/image60.png"/><Relationship Id="rId6" Type="http://schemas.openxmlformats.org/officeDocument/2006/relationships/image" Target="../media/image66.png"/><Relationship Id="rId7" Type="http://schemas.openxmlformats.org/officeDocument/2006/relationships/image" Target="../media/image61.png"/><Relationship Id="rId8" Type="http://schemas.openxmlformats.org/officeDocument/2006/relationships/image" Target="../media/image71.png"/><Relationship Id="rId9" Type="http://schemas.openxmlformats.org/officeDocument/2006/relationships/chart" Target="../charts/chart19.xml"/><Relationship Id="rId10" Type="http://schemas.openxmlformats.org/officeDocument/2006/relationships/chart" Target="../charts/chart20.xml"/><Relationship Id="rId11" Type="http://schemas.openxmlformats.org/officeDocument/2006/relationships/chart" Target="../charts/chart21.xml"/><Relationship Id="rId12" Type="http://schemas.openxmlformats.org/officeDocument/2006/relationships/chart" Target="../charts/chart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5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15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dac6518d6f877de6ded8dac23173552b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50770" y="1872055"/>
            <a:ext cx="8572500" cy="857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0" y="9544507"/>
            <a:ext cx="18288000" cy="743407"/>
          </a:xfrm>
          <a:prstGeom prst="rect">
            <a:avLst/>
          </a:prstGeom>
          <a:solidFill>
            <a:srgbClr val="000000">
              <a:alpha val="18039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/>
        </p:nvSpPr>
        <p:spPr>
          <a:xfrm>
            <a:off x="13906195" y="1410005"/>
            <a:ext cx="3238805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Poppins"/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[DATA DA SESSÃO DE LIDERANÇA]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5185441" y="914400"/>
            <a:ext cx="1962302" cy="362102"/>
          </a:xfrm>
          <a:prstGeom prst="roundRect">
            <a:avLst>
              <a:gd fmla="val 50000" name="adj"/>
            </a:avLst>
          </a:prstGeom>
          <a:noFill/>
          <a:ln cap="flat" cmpd="sng" w="12700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15185441" y="914400"/>
            <a:ext cx="1962302" cy="362102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00" lIns="139700" spcFirstLastPara="1" rIns="139700" wrap="square" tIns="762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Poppins"/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{{ONDA}}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1143000" y="3619195"/>
            <a:ext cx="12382805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1350"/>
              <a:buFont typeface="Poppins"/>
              <a:buNone/>
            </a:pPr>
            <a:r>
              <a:rPr b="0" i="0" lang="en-US" sz="1350" u="none" cap="none" strike="noStrike">
                <a:solidFill>
                  <a:srgbClr val="0285FF"/>
                </a:solidFill>
                <a:latin typeface="Poppins"/>
                <a:ea typeface="Poppins"/>
                <a:cs typeface="Poppins"/>
                <a:sym typeface="Poppins"/>
              </a:rPr>
              <a:t>Pesquisa de Engajamento · Sessão de Trabalho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1143000" y="4219956"/>
            <a:ext cx="12382805" cy="25246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50"/>
              <a:buFont typeface="Sora"/>
              <a:buNone/>
            </a:pPr>
            <a:r>
              <a:rPr b="1" i="0" lang="en-US" sz="830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Pesquisa de</a:t>
            </a:r>
            <a:endParaRPr b="0" i="0" sz="8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50"/>
              <a:buFont typeface="Sora"/>
              <a:buNone/>
            </a:pPr>
            <a:r>
              <a:rPr b="1" i="1" lang="en-US" sz="830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Engajamento</a:t>
            </a:r>
            <a:endParaRPr b="0" i="0" sz="8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f9be622aaaf1e146cff3f994144a5288.png" id="23" name="Google Shape;23;p3"/>
          <p:cNvPicPr preferRelativeResize="0"/>
          <p:nvPr/>
        </p:nvPicPr>
        <p:blipFill rotWithShape="1">
          <a:blip r:embed="rId4">
            <a:alphaModFix/>
          </a:blip>
          <a:srcRect b="-420" l="0" r="0" t="-420"/>
          <a:stretch/>
        </p:blipFill>
        <p:spPr>
          <a:xfrm>
            <a:off x="1143000" y="7015277"/>
            <a:ext cx="761695" cy="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/>
          <p:nvPr/>
        </p:nvSpPr>
        <p:spPr>
          <a:xfrm>
            <a:off x="2133295" y="6810451"/>
            <a:ext cx="3219602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Sora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{{AREA}}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 txBox="1"/>
          <p:nvPr/>
        </p:nvSpPr>
        <p:spPr>
          <a:xfrm>
            <a:off x="1143000" y="7543800"/>
            <a:ext cx="7383780" cy="33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oppins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 percepção das pessoas às prioridades da liderança.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 txBox="1"/>
          <p:nvPr/>
        </p:nvSpPr>
        <p:spPr>
          <a:xfrm>
            <a:off x="1143000" y="9810598"/>
            <a:ext cx="8572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Poppins"/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Interno · Sessão de Trabalho da Liderança · Conduzida pelo HRBP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 txBox="1"/>
          <p:nvPr/>
        </p:nvSpPr>
        <p:spPr>
          <a:xfrm>
            <a:off x="16554298" y="9849002"/>
            <a:ext cx="714146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Sora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01 / 13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D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571723da0b9e7496659dc38ed713a537.png" id="33" name="Google Shape;33;p4"/>
          <p:cNvPicPr preferRelativeResize="0"/>
          <p:nvPr/>
        </p:nvPicPr>
        <p:blipFill rotWithShape="1">
          <a:blip r:embed="rId3">
            <a:alphaModFix/>
          </a:blip>
          <a:srcRect b="0" l="-2083" r="-2083" t="0"/>
          <a:stretch/>
        </p:blipFill>
        <p:spPr>
          <a:xfrm>
            <a:off x="1143000" y="2095805"/>
            <a:ext cx="16002000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/>
          <p:nvPr/>
        </p:nvSpPr>
        <p:spPr>
          <a:xfrm>
            <a:off x="1143000" y="5524805"/>
            <a:ext cx="2933395" cy="26956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1143000" y="5524805"/>
            <a:ext cx="2933395" cy="28346"/>
          </a:xfrm>
          <a:prstGeom prst="rect">
            <a:avLst/>
          </a:prstGeom>
          <a:solidFill>
            <a:srgbClr val="16215B"/>
          </a:solidFill>
          <a:ln cap="flat" cmpd="sng" w="12700">
            <a:solidFill>
              <a:srgbClr val="16215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4324198" y="5524805"/>
            <a:ext cx="2933395" cy="26956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324198" y="5524805"/>
            <a:ext cx="2933395" cy="28346"/>
          </a:xfrm>
          <a:prstGeom prst="rect">
            <a:avLst/>
          </a:prstGeom>
          <a:solidFill>
            <a:srgbClr val="0285FF"/>
          </a:solidFill>
          <a:ln cap="flat" cmpd="sng" w="12700">
            <a:solidFill>
              <a:srgbClr val="0285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7505395" y="5524805"/>
            <a:ext cx="2933395" cy="26956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7505395" y="5524805"/>
            <a:ext cx="2933395" cy="28346"/>
          </a:xfrm>
          <a:prstGeom prst="rect">
            <a:avLst/>
          </a:prstGeom>
          <a:solidFill>
            <a:srgbClr val="895CF5"/>
          </a:solidFill>
          <a:ln cap="flat" cmpd="sng" w="12700">
            <a:solidFill>
              <a:srgbClr val="895C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10687507" y="5524805"/>
            <a:ext cx="2933395" cy="26956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10687507" y="5524805"/>
            <a:ext cx="2933395" cy="28346"/>
          </a:xfrm>
          <a:prstGeom prst="rect">
            <a:avLst/>
          </a:prstGeom>
          <a:solidFill>
            <a:srgbClr val="D5225D"/>
          </a:solidFill>
          <a:ln cap="flat" cmpd="sng" w="12700">
            <a:solidFill>
              <a:srgbClr val="D5225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13868705" y="5524805"/>
            <a:ext cx="2933395" cy="2667305"/>
          </a:xfrm>
          <a:prstGeom prst="rect">
            <a:avLst/>
          </a:prstGeom>
          <a:solidFill>
            <a:srgbClr val="16215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1143000" y="8572500"/>
            <a:ext cx="15659100" cy="1143000"/>
          </a:xfrm>
          <a:prstGeom prst="rect">
            <a:avLst/>
          </a:prstGeom>
          <a:solidFill>
            <a:srgbClr val="EAF0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1143000" y="1143000"/>
            <a:ext cx="571500" cy="571500"/>
          </a:xfrm>
          <a:prstGeom prst="ellipse">
            <a:avLst/>
          </a:prstGeom>
          <a:solidFill>
            <a:srgbClr val="0285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 txBox="1"/>
          <p:nvPr/>
        </p:nvSpPr>
        <p:spPr>
          <a:xfrm>
            <a:off x="1356055" y="1285646"/>
            <a:ext cx="152705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or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 txBox="1"/>
          <p:nvPr/>
        </p:nvSpPr>
        <p:spPr>
          <a:xfrm>
            <a:off x="1904695" y="1333195"/>
            <a:ext cx="571500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1050"/>
              <a:buFont typeface="Poppins"/>
              <a:buNone/>
            </a:pPr>
            <a:r>
              <a:rPr b="1" i="0" lang="en-US" sz="1050" u="none" cap="none" strike="noStrike">
                <a:solidFill>
                  <a:srgbClr val="16215B"/>
                </a:solidFill>
                <a:latin typeface="Poppins"/>
                <a:ea typeface="Poppins"/>
                <a:cs typeface="Poppins"/>
                <a:sym typeface="Poppins"/>
              </a:rPr>
              <a:t>Definindo a conversa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 txBox="1"/>
          <p:nvPr/>
        </p:nvSpPr>
        <p:spPr>
          <a:xfrm>
            <a:off x="1143000" y="2476195"/>
            <a:ext cx="12382805" cy="1571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6300"/>
              <a:buFont typeface="Sora"/>
              <a:buNone/>
            </a:pPr>
            <a:r>
              <a:rPr b="1" i="0" lang="en-US" sz="63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A conversa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6300"/>
              <a:buFont typeface="Sora"/>
              <a:buNone/>
            </a:pPr>
            <a:r>
              <a:rPr b="1" i="1" lang="en-US" sz="6300" u="none" cap="none" strike="noStrike">
                <a:solidFill>
                  <a:srgbClr val="0285FF"/>
                </a:solidFill>
                <a:latin typeface="Sora"/>
                <a:ea typeface="Sora"/>
                <a:cs typeface="Sora"/>
                <a:sym typeface="Sora"/>
              </a:rPr>
              <a:t>de hoje.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 txBox="1"/>
          <p:nvPr/>
        </p:nvSpPr>
        <p:spPr>
          <a:xfrm>
            <a:off x="1143000" y="4349801"/>
            <a:ext cx="9525305" cy="9811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30"/>
              </a:lnSpc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650"/>
              <a:buFont typeface="Poppins"/>
              <a:buNone/>
            </a:pPr>
            <a:r>
              <a:rPr b="0" i="0" lang="en-US" sz="165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Esta não é uma apresentação com todos os resultados da pesquisa. É uma conversa estruturada sobre o que as pessoas estão vivendo, o que merece nossa atenção e o que queremos fazer a seguir.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 txBox="1"/>
          <p:nvPr/>
        </p:nvSpPr>
        <p:spPr>
          <a:xfrm>
            <a:off x="1143000" y="4953305"/>
            <a:ext cx="8572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975"/>
              <a:buFont typeface="Poppins"/>
              <a:buNone/>
            </a:pPr>
            <a:r>
              <a:rPr b="1" i="0" lang="en-US" sz="975" u="none" cap="none" strike="noStrike">
                <a:solidFill>
                  <a:srgbClr val="16215B"/>
                </a:solidFill>
                <a:latin typeface="Poppins"/>
                <a:ea typeface="Poppins"/>
                <a:cs typeface="Poppins"/>
                <a:sym typeface="Poppins"/>
              </a:rPr>
              <a:t>O caminho da sessão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 txBox="1"/>
          <p:nvPr/>
        </p:nvSpPr>
        <p:spPr>
          <a:xfrm>
            <a:off x="1333195" y="5772607"/>
            <a:ext cx="2572207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975"/>
              <a:buFont typeface="Sora"/>
              <a:buNone/>
            </a:pPr>
            <a:r>
              <a:rPr b="1" i="0" lang="en-US" sz="975" u="none" cap="none" strike="noStrike">
                <a:solidFill>
                  <a:srgbClr val="0285FF"/>
                </a:solidFill>
                <a:latin typeface="Sora"/>
                <a:ea typeface="Sora"/>
                <a:cs typeface="Sora"/>
                <a:sym typeface="Sora"/>
              </a:rPr>
              <a:t>01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 txBox="1"/>
          <p:nvPr/>
        </p:nvSpPr>
        <p:spPr>
          <a:xfrm>
            <a:off x="1333195" y="6010351"/>
            <a:ext cx="257220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2850"/>
              <a:buFont typeface="Sora"/>
              <a:buNone/>
            </a:pPr>
            <a:r>
              <a:rPr b="1" i="0" lang="en-US" sz="285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OUVIR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ebb1c604fc782604e988d7eeb2f6956f.png" id="52" name="Google Shape;52;p4"/>
          <p:cNvPicPr preferRelativeResize="0"/>
          <p:nvPr/>
        </p:nvPicPr>
        <p:blipFill rotWithShape="1">
          <a:blip r:embed="rId4">
            <a:alphaModFix/>
          </a:blip>
          <a:srcRect b="-400" l="0" r="0" t="-400"/>
          <a:stretch/>
        </p:blipFill>
        <p:spPr>
          <a:xfrm>
            <a:off x="1333195" y="6696151"/>
            <a:ext cx="571500" cy="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4"/>
          <p:cNvSpPr txBox="1"/>
          <p:nvPr/>
        </p:nvSpPr>
        <p:spPr>
          <a:xfrm>
            <a:off x="1333195" y="6943954"/>
            <a:ext cx="2572207" cy="553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500"/>
              <a:buFont typeface="Poppins"/>
              <a:buNone/>
            </a:pPr>
            <a:r>
              <a:rPr b="0" i="0" lang="en-US" sz="15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O que as pessoas nos disseram.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4515307" y="5772607"/>
            <a:ext cx="2572207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975"/>
              <a:buFont typeface="Sora"/>
              <a:buNone/>
            </a:pPr>
            <a:r>
              <a:rPr b="1" i="0" lang="en-US" sz="975" u="none" cap="none" strike="noStrike">
                <a:solidFill>
                  <a:srgbClr val="0285FF"/>
                </a:solidFill>
                <a:latin typeface="Sora"/>
                <a:ea typeface="Sora"/>
                <a:cs typeface="Sora"/>
                <a:sym typeface="Sora"/>
              </a:rPr>
              <a:t>02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4515307" y="6010351"/>
            <a:ext cx="257220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2850"/>
              <a:buFont typeface="Sora"/>
              <a:buNone/>
            </a:pPr>
            <a:r>
              <a:rPr b="1" i="0" lang="en-US" sz="285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COMPREENDER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639fc3ff82f8efbb6fed31cc725f5534.png" id="56" name="Google Shape;56;p4"/>
          <p:cNvPicPr preferRelativeResize="0"/>
          <p:nvPr/>
        </p:nvPicPr>
        <p:blipFill rotWithShape="1">
          <a:blip r:embed="rId5">
            <a:alphaModFix/>
          </a:blip>
          <a:srcRect b="-400" l="0" r="0" t="-400"/>
          <a:stretch/>
        </p:blipFill>
        <p:spPr>
          <a:xfrm>
            <a:off x="4515307" y="6696151"/>
            <a:ext cx="571500" cy="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4"/>
          <p:cNvSpPr txBox="1"/>
          <p:nvPr/>
        </p:nvSpPr>
        <p:spPr>
          <a:xfrm>
            <a:off x="4515307" y="6943954"/>
            <a:ext cx="2572207" cy="553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500"/>
              <a:buFont typeface="Poppins"/>
              <a:buNone/>
            </a:pPr>
            <a:r>
              <a:rPr b="0" i="0" lang="en-US" sz="15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O que as evidências mostram.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7696505" y="5772607"/>
            <a:ext cx="2572207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5CF5"/>
              </a:buClr>
              <a:buSzPts val="975"/>
              <a:buFont typeface="Sora"/>
              <a:buNone/>
            </a:pPr>
            <a:r>
              <a:rPr b="1" i="0" lang="en-US" sz="975" u="none" cap="none" strike="noStrike">
                <a:solidFill>
                  <a:srgbClr val="895CF5"/>
                </a:solidFill>
                <a:latin typeface="Sora"/>
                <a:ea typeface="Sora"/>
                <a:cs typeface="Sora"/>
                <a:sym typeface="Sora"/>
              </a:rPr>
              <a:t>03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7696505" y="6010351"/>
            <a:ext cx="257220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2850"/>
              <a:buFont typeface="Sora"/>
              <a:buNone/>
            </a:pPr>
            <a:r>
              <a:rPr b="1" i="0" lang="en-US" sz="285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REFLETIR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74841058d5fe05ab575284776392db91.png" id="60" name="Google Shape;60;p4"/>
          <p:cNvPicPr preferRelativeResize="0"/>
          <p:nvPr/>
        </p:nvPicPr>
        <p:blipFill rotWithShape="1">
          <a:blip r:embed="rId6">
            <a:alphaModFix/>
          </a:blip>
          <a:srcRect b="-400" l="0" r="0" t="-400"/>
          <a:stretch/>
        </p:blipFill>
        <p:spPr>
          <a:xfrm>
            <a:off x="7696505" y="6696151"/>
            <a:ext cx="571500" cy="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4"/>
          <p:cNvSpPr txBox="1"/>
          <p:nvPr/>
        </p:nvSpPr>
        <p:spPr>
          <a:xfrm>
            <a:off x="7696505" y="6943954"/>
            <a:ext cx="2572207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500"/>
              <a:buFont typeface="Poppins"/>
              <a:buNone/>
            </a:pPr>
            <a:r>
              <a:rPr b="0" i="0" lang="en-US" sz="15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O que pode explicar.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10877702" y="5772607"/>
            <a:ext cx="2572207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225D"/>
              </a:buClr>
              <a:buSzPts val="975"/>
              <a:buFont typeface="Sora"/>
              <a:buNone/>
            </a:pPr>
            <a:r>
              <a:rPr b="1" i="0" lang="en-US" sz="975" u="none" cap="none" strike="noStrike">
                <a:solidFill>
                  <a:srgbClr val="D5225D"/>
                </a:solidFill>
                <a:latin typeface="Sora"/>
                <a:ea typeface="Sora"/>
                <a:cs typeface="Sora"/>
                <a:sym typeface="Sora"/>
              </a:rPr>
              <a:t>04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10877702" y="6010351"/>
            <a:ext cx="257220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2850"/>
              <a:buFont typeface="Sora"/>
              <a:buNone/>
            </a:pPr>
            <a:r>
              <a:rPr b="1" i="0" lang="en-US" sz="285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PRIORIZAR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bfb6eb5e7ff90699eb052546ae8a30a7.png" id="64" name="Google Shape;64;p4"/>
          <p:cNvPicPr preferRelativeResize="0"/>
          <p:nvPr/>
        </p:nvPicPr>
        <p:blipFill rotWithShape="1">
          <a:blip r:embed="rId7">
            <a:alphaModFix/>
          </a:blip>
          <a:srcRect b="-400" l="0" r="0" t="-400"/>
          <a:stretch/>
        </p:blipFill>
        <p:spPr>
          <a:xfrm>
            <a:off x="10877702" y="6696151"/>
            <a:ext cx="571500" cy="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4"/>
          <p:cNvSpPr txBox="1"/>
          <p:nvPr/>
        </p:nvSpPr>
        <p:spPr>
          <a:xfrm>
            <a:off x="10877702" y="6943954"/>
            <a:ext cx="2572207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500"/>
              <a:buFont typeface="Poppins"/>
              <a:buNone/>
            </a:pPr>
            <a:r>
              <a:rPr b="0" i="0" lang="en-US" sz="15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O que mais importa.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14058900" y="5772607"/>
            <a:ext cx="2572207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CD4B"/>
              </a:buClr>
              <a:buSzPts val="975"/>
              <a:buFont typeface="Sora"/>
              <a:buNone/>
            </a:pPr>
            <a:r>
              <a:rPr b="1" i="0" lang="en-US" sz="975" u="none" cap="none" strike="noStrike">
                <a:solidFill>
                  <a:srgbClr val="F8CD4B"/>
                </a:solidFill>
                <a:latin typeface="Sora"/>
                <a:ea typeface="Sora"/>
                <a:cs typeface="Sora"/>
                <a:sym typeface="Sora"/>
              </a:rPr>
              <a:t>05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 txBox="1"/>
          <p:nvPr/>
        </p:nvSpPr>
        <p:spPr>
          <a:xfrm>
            <a:off x="14058900" y="6010351"/>
            <a:ext cx="257220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Sora"/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AGIR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e2739b857fe263d267c0b244a16996d2.png" id="68" name="Google Shape;68;p4"/>
          <p:cNvPicPr preferRelativeResize="0"/>
          <p:nvPr/>
        </p:nvPicPr>
        <p:blipFill rotWithShape="1">
          <a:blip r:embed="rId8">
            <a:alphaModFix/>
          </a:blip>
          <a:srcRect b="-400" l="0" r="0" t="-400"/>
          <a:stretch/>
        </p:blipFill>
        <p:spPr>
          <a:xfrm>
            <a:off x="14058900" y="6696151"/>
            <a:ext cx="571500" cy="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4"/>
          <p:cNvSpPr txBox="1"/>
          <p:nvPr/>
        </p:nvSpPr>
        <p:spPr>
          <a:xfrm>
            <a:off x="14058900" y="6943954"/>
            <a:ext cx="2732227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oppins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que faremos a seguir.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 txBox="1"/>
          <p:nvPr/>
        </p:nvSpPr>
        <p:spPr>
          <a:xfrm>
            <a:off x="1524305" y="8762695"/>
            <a:ext cx="36201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0285FF"/>
                </a:solidFill>
                <a:latin typeface="Poppins"/>
                <a:ea typeface="Poppins"/>
                <a:cs typeface="Poppins"/>
                <a:sym typeface="Poppins"/>
              </a:rPr>
              <a:t>Resultado desejado hoje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 txBox="1"/>
          <p:nvPr/>
        </p:nvSpPr>
        <p:spPr>
          <a:xfrm>
            <a:off x="1524305" y="9038844"/>
            <a:ext cx="382585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1650"/>
              <a:buFont typeface="Sora"/>
              <a:buNone/>
            </a:pPr>
            <a:r>
              <a:rPr b="0" i="0" lang="en-US" sz="165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Quatro entregas para levarmos.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 txBox="1"/>
          <p:nvPr/>
        </p:nvSpPr>
        <p:spPr>
          <a:xfrm>
            <a:off x="5333695" y="8762695"/>
            <a:ext cx="3238805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75"/>
              <a:buFont typeface="Poppins"/>
              <a:buNone/>
            </a:pPr>
            <a:r>
              <a:rPr b="0" i="0" lang="en-US" sz="975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—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 txBox="1"/>
          <p:nvPr/>
        </p:nvSpPr>
        <p:spPr>
          <a:xfrm>
            <a:off x="5333695" y="9010498"/>
            <a:ext cx="3238805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16215B"/>
                </a:solidFill>
                <a:latin typeface="Poppins"/>
                <a:ea typeface="Poppins"/>
                <a:cs typeface="Poppins"/>
                <a:sym typeface="Poppins"/>
              </a:rPr>
              <a:t>Âncoras que queremos proteger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 txBox="1"/>
          <p:nvPr/>
        </p:nvSpPr>
        <p:spPr>
          <a:xfrm>
            <a:off x="8762695" y="8762695"/>
            <a:ext cx="362011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75"/>
              <a:buFont typeface="Poppins"/>
              <a:buNone/>
            </a:pPr>
            <a:r>
              <a:rPr b="0" i="0" lang="en-US" sz="975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—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 txBox="1"/>
          <p:nvPr/>
        </p:nvSpPr>
        <p:spPr>
          <a:xfrm>
            <a:off x="8762695" y="9010498"/>
            <a:ext cx="3620110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16215B"/>
                </a:solidFill>
                <a:latin typeface="Poppins"/>
                <a:ea typeface="Poppins"/>
                <a:cs typeface="Poppins"/>
                <a:sym typeface="Poppins"/>
              </a:rPr>
              <a:t>Tópicos prioritários a tratar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 txBox="1"/>
          <p:nvPr/>
        </p:nvSpPr>
        <p:spPr>
          <a:xfrm>
            <a:off x="12573000" y="8762695"/>
            <a:ext cx="190561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75"/>
              <a:buFont typeface="Poppins"/>
              <a:buNone/>
            </a:pPr>
            <a:r>
              <a:rPr b="0" i="0" lang="en-US" sz="975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—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 txBox="1"/>
          <p:nvPr/>
        </p:nvSpPr>
        <p:spPr>
          <a:xfrm>
            <a:off x="12573000" y="9010498"/>
            <a:ext cx="1905610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16215B"/>
                </a:solidFill>
                <a:latin typeface="Poppins"/>
                <a:ea typeface="Poppins"/>
                <a:cs typeface="Poppins"/>
                <a:sym typeface="Poppins"/>
              </a:rPr>
              <a:t>Questões em aberto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 txBox="1"/>
          <p:nvPr/>
        </p:nvSpPr>
        <p:spPr>
          <a:xfrm>
            <a:off x="14668805" y="8762695"/>
            <a:ext cx="190561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75"/>
              <a:buFont typeface="Poppins"/>
              <a:buNone/>
            </a:pPr>
            <a:r>
              <a:rPr b="0" i="0" lang="en-US" sz="975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—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 txBox="1"/>
          <p:nvPr/>
        </p:nvSpPr>
        <p:spPr>
          <a:xfrm>
            <a:off x="14668805" y="9010498"/>
            <a:ext cx="1905610" cy="476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16215B"/>
                </a:solidFill>
                <a:latin typeface="Poppins"/>
                <a:ea typeface="Poppins"/>
                <a:cs typeface="Poppins"/>
                <a:sym typeface="Poppins"/>
              </a:rPr>
              <a:t>Responsáveis e próximos passos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 txBox="1"/>
          <p:nvPr/>
        </p:nvSpPr>
        <p:spPr>
          <a:xfrm>
            <a:off x="16663111" y="9773107"/>
            <a:ext cx="681228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050"/>
              <a:buFont typeface="Sora"/>
              <a:buNone/>
            </a:pPr>
            <a:r>
              <a:rPr b="0" i="0" lang="en-US" sz="1050" u="none" cap="none" strike="noStrike">
                <a:solidFill>
                  <a:srgbClr val="4B5274"/>
                </a:solidFill>
                <a:latin typeface="Sora"/>
                <a:ea typeface="Sora"/>
                <a:cs typeface="Sora"/>
                <a:sym typeface="Sora"/>
              </a:rPr>
              <a:t>02 / 13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D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571723da0b9e7496659dc38ed713a537.png" id="86" name="Google Shape;86;p5"/>
          <p:cNvPicPr preferRelativeResize="0"/>
          <p:nvPr/>
        </p:nvPicPr>
        <p:blipFill rotWithShape="1">
          <a:blip r:embed="rId3">
            <a:alphaModFix/>
          </a:blip>
          <a:srcRect b="0" l="-2083" r="-2083" t="0"/>
          <a:stretch/>
        </p:blipFill>
        <p:spPr>
          <a:xfrm>
            <a:off x="1143000" y="2095805"/>
            <a:ext cx="16002000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5"/>
          <p:cNvSpPr/>
          <p:nvPr/>
        </p:nvSpPr>
        <p:spPr>
          <a:xfrm>
            <a:off x="1143000" y="4190695"/>
            <a:ext cx="4953305" cy="4572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6476695" y="4190695"/>
            <a:ext cx="4953305" cy="4572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11811305" y="4190695"/>
            <a:ext cx="5333695" cy="4572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1143000" y="9048902"/>
            <a:ext cx="16002000" cy="609905"/>
          </a:xfrm>
          <a:prstGeom prst="rect">
            <a:avLst/>
          </a:prstGeom>
          <a:solidFill>
            <a:srgbClr val="16215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d386765dd7aa19d987d7d365f6f5c220.png" id="91" name="Google Shape;91;p5"/>
          <p:cNvPicPr preferRelativeResize="0"/>
          <p:nvPr/>
        </p:nvPicPr>
        <p:blipFill rotWithShape="1">
          <a:blip r:embed="rId4">
            <a:alphaModFix/>
          </a:blip>
          <a:srcRect b="-397" l="0" r="0" t="-397"/>
          <a:stretch/>
        </p:blipFill>
        <p:spPr>
          <a:xfrm>
            <a:off x="1143000" y="4190695"/>
            <a:ext cx="4953305" cy="576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43c2393b353c9efeaffb0360f0e5b8f7.png" id="92" name="Google Shape;92;p5"/>
          <p:cNvPicPr preferRelativeResize="0"/>
          <p:nvPr/>
        </p:nvPicPr>
        <p:blipFill rotWithShape="1">
          <a:blip r:embed="rId5">
            <a:alphaModFix/>
          </a:blip>
          <a:srcRect b="-397" l="0" r="0" t="-397"/>
          <a:stretch/>
        </p:blipFill>
        <p:spPr>
          <a:xfrm>
            <a:off x="6476695" y="4190695"/>
            <a:ext cx="4953305" cy="576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a4b526dd164ec794df5a6f8b2ac4a433.png" id="93" name="Google Shape;93;p5"/>
          <p:cNvPicPr preferRelativeResize="0"/>
          <p:nvPr/>
        </p:nvPicPr>
        <p:blipFill rotWithShape="1">
          <a:blip r:embed="rId6">
            <a:alphaModFix/>
          </a:blip>
          <a:srcRect b="-403" l="0" r="0" t="-403"/>
          <a:stretch/>
        </p:blipFill>
        <p:spPr>
          <a:xfrm>
            <a:off x="11811305" y="4190695"/>
            <a:ext cx="5333695" cy="57607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5"/>
          <p:cNvSpPr/>
          <p:nvPr/>
        </p:nvSpPr>
        <p:spPr>
          <a:xfrm>
            <a:off x="12191695" y="7524598"/>
            <a:ext cx="4591202" cy="857707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1143000" y="1143000"/>
            <a:ext cx="571500" cy="571500"/>
          </a:xfrm>
          <a:prstGeom prst="ellipse">
            <a:avLst/>
          </a:prstGeom>
          <a:solidFill>
            <a:srgbClr val="0285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 txBox="1"/>
          <p:nvPr/>
        </p:nvSpPr>
        <p:spPr>
          <a:xfrm>
            <a:off x="1904695" y="1333195"/>
            <a:ext cx="6667805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975"/>
              <a:buFont typeface="Poppins"/>
              <a:buNone/>
            </a:pPr>
            <a:r>
              <a:rPr b="1" i="0" lang="en-US" sz="975" u="none" cap="none" strike="noStrike">
                <a:solidFill>
                  <a:srgbClr val="16215B"/>
                </a:solidFill>
                <a:latin typeface="Poppins"/>
                <a:ea typeface="Poppins"/>
                <a:cs typeface="Poppins"/>
                <a:sym typeface="Poppins"/>
              </a:rPr>
              <a:t>Metodologia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 txBox="1"/>
          <p:nvPr/>
        </p:nvSpPr>
        <p:spPr>
          <a:xfrm>
            <a:off x="1143000" y="2476195"/>
            <a:ext cx="14287500" cy="705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5550"/>
              <a:buFont typeface="Sora"/>
              <a:buNone/>
            </a:pPr>
            <a:r>
              <a:rPr b="1" i="0" lang="en-US" sz="555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Como </a:t>
            </a:r>
            <a:r>
              <a:rPr b="1" i="1" lang="en-US" sz="5550" u="none" cap="none" strike="noStrike">
                <a:solidFill>
                  <a:srgbClr val="0285FF"/>
                </a:solidFill>
                <a:latin typeface="Sora"/>
                <a:ea typeface="Sora"/>
                <a:cs typeface="Sora"/>
                <a:sym typeface="Sora"/>
              </a:rPr>
              <a:t>ouvimos.</a:t>
            </a:r>
            <a:endParaRPr b="0" i="0" sz="5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 txBox="1"/>
          <p:nvPr/>
        </p:nvSpPr>
        <p:spPr>
          <a:xfrm>
            <a:off x="1143000" y="3409798"/>
            <a:ext cx="10858500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500"/>
              <a:buFont typeface="Poppins"/>
              <a:buNone/>
            </a:pPr>
            <a:r>
              <a:rPr b="0" i="0" lang="en-US" sz="15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O que as pessoas nos disseram, como medimos e como a liderança deve ler os números que seguem.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 txBox="1"/>
          <p:nvPr/>
        </p:nvSpPr>
        <p:spPr>
          <a:xfrm>
            <a:off x="1524305" y="4572000"/>
            <a:ext cx="419161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900"/>
              <a:buFont typeface="Poppins"/>
              <a:buNone/>
            </a:pPr>
            <a:r>
              <a:rPr b="1" i="0" lang="en-US" sz="900" u="none" cap="none" strike="noStrike">
                <a:solidFill>
                  <a:srgbClr val="0285FF"/>
                </a:solidFill>
                <a:latin typeface="Poppins"/>
                <a:ea typeface="Poppins"/>
                <a:cs typeface="Poppins"/>
                <a:sym typeface="Poppins"/>
              </a:rPr>
              <a:t>Bloco 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 txBox="1"/>
          <p:nvPr/>
        </p:nvSpPr>
        <p:spPr>
          <a:xfrm>
            <a:off x="1524305" y="4876495"/>
            <a:ext cx="4191610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2700"/>
              <a:buFont typeface="Sora"/>
              <a:buNone/>
            </a:pPr>
            <a:r>
              <a:rPr b="1" i="0" lang="en-US" sz="27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Participação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1524305" y="5524805"/>
            <a:ext cx="419161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6300"/>
              <a:buFont typeface="Sora"/>
              <a:buNone/>
            </a:pPr>
            <a:r>
              <a:rPr b="0" i="0" lang="en-US" sz="6300" u="none" cap="none" strike="noStrike">
                <a:solidFill>
                  <a:srgbClr val="0285FF"/>
                </a:solidFill>
                <a:latin typeface="Sora"/>
                <a:ea typeface="Sora"/>
                <a:cs typeface="Sora"/>
                <a:sym typeface="Sora"/>
              </a:rPr>
              <a:t>{{PART}}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1524305" y="6458407"/>
            <a:ext cx="419161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350"/>
              <a:buFont typeface="Poppins"/>
              <a:buNone/>
            </a:pPr>
            <a:r>
              <a:rPr b="0" i="0" lang="en-US" sz="135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taxa de participação · {{BENCH}} {{PART_FB}}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29ef20c730219f0c0b9e0cf79cf43a77.png" id="103" name="Google Shape;103;p5"/>
          <p:cNvPicPr preferRelativeResize="0"/>
          <p:nvPr/>
        </p:nvPicPr>
        <p:blipFill rotWithShape="1">
          <a:blip r:embed="rId7">
            <a:alphaModFix/>
          </a:blip>
          <a:srcRect b="-400" l="0" r="0" t="-400"/>
          <a:stretch/>
        </p:blipFill>
        <p:spPr>
          <a:xfrm>
            <a:off x="1524305" y="6772046"/>
            <a:ext cx="571500" cy="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5"/>
          <p:cNvSpPr txBox="1"/>
          <p:nvPr/>
        </p:nvSpPr>
        <p:spPr>
          <a:xfrm>
            <a:off x="1524305" y="7019849"/>
            <a:ext cx="1181405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2400"/>
              <a:buFont typeface="Sora"/>
              <a:buNone/>
            </a:pPr>
            <a:r>
              <a:rPr b="1" i="0" lang="en-US" sz="24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{{ELEG}}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 txBox="1"/>
          <p:nvPr/>
        </p:nvSpPr>
        <p:spPr>
          <a:xfrm>
            <a:off x="1524305" y="7457846"/>
            <a:ext cx="1538021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pessoas elegíveis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 txBox="1"/>
          <p:nvPr/>
        </p:nvSpPr>
        <p:spPr>
          <a:xfrm>
            <a:off x="4355287" y="7019849"/>
            <a:ext cx="1362456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2400"/>
              <a:buFont typeface="Sora"/>
              <a:buNone/>
            </a:pPr>
            <a:r>
              <a:rPr b="1" i="0" lang="en-US" sz="24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{{RESP}}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 txBox="1"/>
          <p:nvPr/>
        </p:nvSpPr>
        <p:spPr>
          <a:xfrm>
            <a:off x="4355287" y="7457846"/>
            <a:ext cx="1710842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respostas recebidas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 txBox="1"/>
          <p:nvPr/>
        </p:nvSpPr>
        <p:spPr>
          <a:xfrm>
            <a:off x="6858000" y="4572000"/>
            <a:ext cx="419161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900"/>
              <a:buFont typeface="Poppins"/>
              <a:buNone/>
            </a:pPr>
            <a:r>
              <a:rPr b="1" i="0" lang="en-US" sz="900" u="none" cap="none" strike="noStrike">
                <a:solidFill>
                  <a:srgbClr val="0285FF"/>
                </a:solidFill>
                <a:latin typeface="Poppins"/>
                <a:ea typeface="Poppins"/>
                <a:cs typeface="Poppins"/>
                <a:sym typeface="Poppins"/>
              </a:rPr>
              <a:t>Bloco 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 txBox="1"/>
          <p:nvPr/>
        </p:nvSpPr>
        <p:spPr>
          <a:xfrm>
            <a:off x="6858000" y="4876495"/>
            <a:ext cx="4191610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2700"/>
              <a:buFont typeface="Sora"/>
              <a:buNone/>
            </a:pPr>
            <a:r>
              <a:rPr b="1" i="0" lang="en-US" sz="27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O que medimos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 txBox="1"/>
          <p:nvPr/>
        </p:nvSpPr>
        <p:spPr>
          <a:xfrm>
            <a:off x="6858000" y="5524805"/>
            <a:ext cx="1905610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16215B"/>
                </a:solidFill>
                <a:latin typeface="Poppins"/>
                <a:ea typeface="Poppins"/>
                <a:cs typeface="Poppins"/>
                <a:sym typeface="Poppins"/>
              </a:rPr>
              <a:t>Desfechos de engajamento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6858000" y="6019495"/>
            <a:ext cx="1904695" cy="9144"/>
          </a:xfrm>
          <a:prstGeom prst="rect">
            <a:avLst/>
          </a:prstGeom>
          <a:solidFill>
            <a:srgbClr val="D9DEEC"/>
          </a:solidFill>
          <a:ln cap="flat" cmpd="sng" w="12700">
            <a:solidFill>
              <a:srgbClr val="D9DEE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 txBox="1"/>
          <p:nvPr/>
        </p:nvSpPr>
        <p:spPr>
          <a:xfrm>
            <a:off x="6858000" y="6162142"/>
            <a:ext cx="1905610" cy="238658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9700" lIns="139700" spcFirstLastPara="1" rIns="1397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eNPS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6858000" y="6495898"/>
            <a:ext cx="1904695" cy="9144"/>
          </a:xfrm>
          <a:prstGeom prst="rect">
            <a:avLst/>
          </a:prstGeom>
          <a:solidFill>
            <a:srgbClr val="D9DEEC"/>
          </a:solidFill>
          <a:ln cap="flat" cmpd="sng" w="12700">
            <a:solidFill>
              <a:srgbClr val="D9DEE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 txBox="1"/>
          <p:nvPr/>
        </p:nvSpPr>
        <p:spPr>
          <a:xfrm>
            <a:off x="6858000" y="6638544"/>
            <a:ext cx="1905610" cy="238658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9700" lIns="139700" spcFirstLastPara="1" rIns="1397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Satisfação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6858000" y="6972300"/>
            <a:ext cx="1904695" cy="9144"/>
          </a:xfrm>
          <a:prstGeom prst="rect">
            <a:avLst/>
          </a:prstGeom>
          <a:solidFill>
            <a:srgbClr val="D9DEEC"/>
          </a:solidFill>
          <a:ln cap="flat" cmpd="sng" w="12700">
            <a:solidFill>
              <a:srgbClr val="D9DEE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 txBox="1"/>
          <p:nvPr/>
        </p:nvSpPr>
        <p:spPr>
          <a:xfrm>
            <a:off x="6858000" y="7114946"/>
            <a:ext cx="1905610" cy="238658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9700" lIns="139700" spcFirstLastPara="1" rIns="1397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Risco de retenção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 txBox="1"/>
          <p:nvPr/>
        </p:nvSpPr>
        <p:spPr>
          <a:xfrm>
            <a:off x="9525305" y="5524805"/>
            <a:ext cx="2095805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5CF5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895CF5"/>
                </a:solidFill>
                <a:latin typeface="Poppins"/>
                <a:ea typeface="Poppins"/>
                <a:cs typeface="Poppins"/>
                <a:sym typeface="Poppins"/>
              </a:rPr>
              <a:t>Experiência das pessoas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9525305" y="5857646"/>
            <a:ext cx="2095805" cy="9144"/>
          </a:xfrm>
          <a:prstGeom prst="rect">
            <a:avLst/>
          </a:prstGeom>
          <a:solidFill>
            <a:srgbClr val="D9DEEC"/>
          </a:solidFill>
          <a:ln cap="flat" cmpd="sng" w="12700">
            <a:solidFill>
              <a:srgbClr val="D9DEE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 txBox="1"/>
          <p:nvPr/>
        </p:nvSpPr>
        <p:spPr>
          <a:xfrm>
            <a:off x="9525305" y="6000293"/>
            <a:ext cx="2095805" cy="19111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9700" lIns="139700" spcFirstLastPara="1" rIns="13970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75"/>
              <a:buFont typeface="Poppins"/>
              <a:buNone/>
            </a:pPr>
            <a:r>
              <a:rPr b="0" i="0" lang="en-US" sz="975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Drivers: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9525305" y="6262726"/>
            <a:ext cx="2095805" cy="648310"/>
          </a:xfrm>
          <a:prstGeom prst="rect">
            <a:avLst/>
          </a:prstGeom>
          <a:solidFill>
            <a:srgbClr val="F4F7FC"/>
          </a:solidFill>
          <a:ln cap="flat" cmpd="sng" w="1270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300" lIns="114300" spcFirstLastPara="1" rIns="114300" wrap="square" tIns="1143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{{DRIVERS_RESUMO}}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 txBox="1"/>
          <p:nvPr/>
        </p:nvSpPr>
        <p:spPr>
          <a:xfrm>
            <a:off x="12191695" y="4572000"/>
            <a:ext cx="457200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900"/>
              <a:buFont typeface="Poppins"/>
              <a:buNone/>
            </a:pPr>
            <a:r>
              <a:rPr b="1" i="0" lang="en-US" sz="900" u="none" cap="none" strike="noStrike">
                <a:solidFill>
                  <a:srgbClr val="0285FF"/>
                </a:solidFill>
                <a:latin typeface="Poppins"/>
                <a:ea typeface="Poppins"/>
                <a:cs typeface="Poppins"/>
                <a:sym typeface="Poppins"/>
              </a:rPr>
              <a:t>Bloco 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 txBox="1"/>
          <p:nvPr/>
        </p:nvSpPr>
        <p:spPr>
          <a:xfrm>
            <a:off x="12191695" y="4876495"/>
            <a:ext cx="4796028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2700"/>
              <a:buFont typeface="Sora"/>
              <a:buNone/>
            </a:pPr>
            <a:r>
              <a:rPr b="1" i="0" lang="en-US" sz="27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Como ler os resultados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 txBox="1"/>
          <p:nvPr/>
        </p:nvSpPr>
        <p:spPr>
          <a:xfrm>
            <a:off x="12191695" y="5524805"/>
            <a:ext cx="285750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16215B"/>
                </a:solidFill>
                <a:latin typeface="Poppins"/>
                <a:ea typeface="Poppins"/>
                <a:cs typeface="Poppins"/>
                <a:sym typeface="Poppins"/>
              </a:rPr>
              <a:t>Para perguntas de 1–5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12191695" y="5939028"/>
            <a:ext cx="171907" cy="171907"/>
          </a:xfrm>
          <a:prstGeom prst="ellipse">
            <a:avLst/>
          </a:prstGeom>
          <a:solidFill>
            <a:srgbClr val="2BB673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 txBox="1"/>
          <p:nvPr/>
        </p:nvSpPr>
        <p:spPr>
          <a:xfrm>
            <a:off x="12497105" y="5896051"/>
            <a:ext cx="96012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350"/>
              <a:buFont typeface="Poppins"/>
              <a:buNone/>
            </a:pPr>
            <a:r>
              <a:rPr b="0" i="0" lang="en-US" sz="1350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Favorável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14666976" y="5919826"/>
            <a:ext cx="46543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350"/>
              <a:buFont typeface="Sora"/>
              <a:buNone/>
            </a:pPr>
            <a:r>
              <a:rPr b="0" i="0" lang="en-US" sz="1350" u="none" cap="none" strike="noStrike">
                <a:solidFill>
                  <a:srgbClr val="131A40"/>
                </a:solidFill>
                <a:latin typeface="Sora"/>
                <a:ea typeface="Sora"/>
                <a:cs typeface="Sora"/>
                <a:sym typeface="Sora"/>
              </a:rPr>
              <a:t>4 – 5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12191695" y="6329477"/>
            <a:ext cx="171907" cy="171907"/>
          </a:xfrm>
          <a:prstGeom prst="ellipse">
            <a:avLst/>
          </a:prstGeom>
          <a:solidFill>
            <a:srgbClr val="F8CD4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 txBox="1"/>
          <p:nvPr/>
        </p:nvSpPr>
        <p:spPr>
          <a:xfrm>
            <a:off x="12497105" y="6286500"/>
            <a:ext cx="640994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350"/>
              <a:buFont typeface="Poppins"/>
              <a:buNone/>
            </a:pPr>
            <a:r>
              <a:rPr b="0" i="0" lang="en-US" sz="1350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Neutro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 txBox="1"/>
          <p:nvPr/>
        </p:nvSpPr>
        <p:spPr>
          <a:xfrm>
            <a:off x="14944039" y="6310274"/>
            <a:ext cx="1143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350"/>
              <a:buFont typeface="Sora"/>
              <a:buNone/>
            </a:pPr>
            <a:r>
              <a:rPr b="0" i="0" lang="en-US" sz="1350" u="none" cap="none" strike="noStrike">
                <a:solidFill>
                  <a:srgbClr val="131A40"/>
                </a:solidFill>
                <a:latin typeface="Sora"/>
                <a:ea typeface="Sora"/>
                <a:cs typeface="Sora"/>
                <a:sym typeface="Sora"/>
              </a:rPr>
              <a:t>3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12191695" y="6719926"/>
            <a:ext cx="171907" cy="171907"/>
          </a:xfrm>
          <a:prstGeom prst="ellipse">
            <a:avLst/>
          </a:prstGeom>
          <a:solidFill>
            <a:srgbClr val="D5225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 txBox="1"/>
          <p:nvPr/>
        </p:nvSpPr>
        <p:spPr>
          <a:xfrm>
            <a:off x="12497105" y="6676949"/>
            <a:ext cx="128016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350"/>
              <a:buFont typeface="Poppins"/>
              <a:buNone/>
            </a:pPr>
            <a:r>
              <a:rPr b="0" i="0" lang="en-US" sz="1350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Desfavorável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14705381" y="6700723"/>
            <a:ext cx="41971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350"/>
              <a:buFont typeface="Sora"/>
              <a:buNone/>
            </a:pPr>
            <a:r>
              <a:rPr b="0" i="0" lang="en-US" sz="1350" u="none" cap="none" strike="noStrike">
                <a:solidFill>
                  <a:srgbClr val="131A40"/>
                </a:solidFill>
                <a:latin typeface="Sora"/>
                <a:ea typeface="Sora"/>
                <a:cs typeface="Sora"/>
                <a:sym typeface="Sora"/>
              </a:rPr>
              <a:t>1 – 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 txBox="1"/>
          <p:nvPr/>
        </p:nvSpPr>
        <p:spPr>
          <a:xfrm>
            <a:off x="12382805" y="7658100"/>
            <a:ext cx="422910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Para indicadores 0–10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 txBox="1"/>
          <p:nvPr/>
        </p:nvSpPr>
        <p:spPr>
          <a:xfrm>
            <a:off x="12382805" y="7915046"/>
            <a:ext cx="422910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eNPS: % notas 9–10 − % notas 0–6 · Risco: % notas 0–6 em permanência · Satisfação: média 0–10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1524305" y="9239098"/>
            <a:ext cx="1505011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CD4B"/>
              </a:buClr>
              <a:buSzPts val="1125"/>
              <a:buFont typeface="Poppins"/>
              <a:buNone/>
            </a:pPr>
            <a:r>
              <a:rPr b="1" i="0" lang="en-US" sz="1125" u="none" cap="none" strike="noStrike">
                <a:solidFill>
                  <a:srgbClr val="F8CD4B"/>
                </a:solidFill>
                <a:latin typeface="Poppins"/>
                <a:ea typeface="Poppins"/>
                <a:cs typeface="Poppins"/>
                <a:sym typeface="Poppins"/>
              </a:rPr>
              <a:t>Nota ·</a:t>
            </a:r>
            <a:r>
              <a:rPr b="0" i="0" lang="en-US" sz="11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Os resultados refletem a percepção no nível de Departamento. A pesquisa não fornece resultados por time.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 txBox="1"/>
          <p:nvPr/>
        </p:nvSpPr>
        <p:spPr>
          <a:xfrm>
            <a:off x="16663111" y="9773107"/>
            <a:ext cx="681228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050"/>
              <a:buFont typeface="Sora"/>
              <a:buNone/>
            </a:pPr>
            <a:r>
              <a:rPr b="0" i="0" lang="en-US" sz="1050" u="none" cap="none" strike="noStrike">
                <a:solidFill>
                  <a:srgbClr val="4B5274"/>
                </a:solidFill>
                <a:latin typeface="Sora"/>
                <a:ea typeface="Sora"/>
                <a:cs typeface="Sora"/>
                <a:sym typeface="Sora"/>
              </a:rPr>
              <a:t>03 / 13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1385316" y="1314907"/>
            <a:ext cx="152705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or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D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571723da0b9e7496659dc38ed713a537.png" id="143" name="Google Shape;143;p6"/>
          <p:cNvPicPr preferRelativeResize="0"/>
          <p:nvPr/>
        </p:nvPicPr>
        <p:blipFill rotWithShape="1">
          <a:blip r:embed="rId3">
            <a:alphaModFix/>
          </a:blip>
          <a:srcRect b="0" l="-2083" r="-2083" t="0"/>
          <a:stretch/>
        </p:blipFill>
        <p:spPr>
          <a:xfrm>
            <a:off x="1143000" y="2095805"/>
            <a:ext cx="16002000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6"/>
          <p:cNvSpPr/>
          <p:nvPr/>
        </p:nvSpPr>
        <p:spPr>
          <a:xfrm>
            <a:off x="1143000" y="4381805"/>
            <a:ext cx="3619195" cy="190469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4953305" y="4381805"/>
            <a:ext cx="3619195" cy="190469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8762695" y="4381805"/>
            <a:ext cx="3619195" cy="190469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12573000" y="4381805"/>
            <a:ext cx="3619195" cy="190469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1143000" y="6667805"/>
            <a:ext cx="16002000" cy="800100"/>
          </a:xfrm>
          <a:prstGeom prst="rect">
            <a:avLst/>
          </a:prstGeom>
          <a:solidFill>
            <a:srgbClr val="16215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8762695" y="8229600"/>
            <a:ext cx="2723998" cy="133319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8762695" y="8229600"/>
            <a:ext cx="57607" cy="1333195"/>
          </a:xfrm>
          <a:prstGeom prst="rect">
            <a:avLst/>
          </a:prstGeom>
          <a:solidFill>
            <a:srgbClr val="2BB673"/>
          </a:solidFill>
          <a:ln cap="flat" cmpd="sng" w="12700">
            <a:solidFill>
              <a:srgbClr val="2BB67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11620195" y="8229600"/>
            <a:ext cx="2723998" cy="133319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11620195" y="8229600"/>
            <a:ext cx="57607" cy="1333195"/>
          </a:xfrm>
          <a:prstGeom prst="rect">
            <a:avLst/>
          </a:prstGeom>
          <a:solidFill>
            <a:srgbClr val="D5225D"/>
          </a:solidFill>
          <a:ln cap="flat" cmpd="sng" w="12700">
            <a:solidFill>
              <a:srgbClr val="D5225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14477695" y="8229600"/>
            <a:ext cx="2723998" cy="133319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14477695" y="8229600"/>
            <a:ext cx="57607" cy="1333195"/>
          </a:xfrm>
          <a:prstGeom prst="rect">
            <a:avLst/>
          </a:prstGeom>
          <a:solidFill>
            <a:srgbClr val="F8CD4B"/>
          </a:solidFill>
          <a:ln cap="flat" cmpd="sng" w="12700">
            <a:solidFill>
              <a:srgbClr val="F8CD4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1143000" y="1143000"/>
            <a:ext cx="571500" cy="571500"/>
          </a:xfrm>
          <a:prstGeom prst="ellipse">
            <a:avLst/>
          </a:prstGeom>
          <a:solidFill>
            <a:srgbClr val="0285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 txBox="1"/>
          <p:nvPr/>
        </p:nvSpPr>
        <p:spPr>
          <a:xfrm>
            <a:off x="1351483" y="1285646"/>
            <a:ext cx="162763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or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 txBox="1"/>
          <p:nvPr/>
        </p:nvSpPr>
        <p:spPr>
          <a:xfrm>
            <a:off x="1904695" y="1333195"/>
            <a:ext cx="6667805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975"/>
              <a:buFont typeface="Poppins"/>
              <a:buNone/>
            </a:pPr>
            <a:r>
              <a:rPr b="1" i="0" lang="en-US" sz="975" u="none" cap="none" strike="noStrike">
                <a:solidFill>
                  <a:srgbClr val="16215B"/>
                </a:solidFill>
                <a:latin typeface="Poppins"/>
                <a:ea typeface="Poppins"/>
                <a:cs typeface="Poppins"/>
                <a:sym typeface="Poppins"/>
              </a:rPr>
              <a:t>Diretrizes de leitura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 txBox="1"/>
          <p:nvPr/>
        </p:nvSpPr>
        <p:spPr>
          <a:xfrm>
            <a:off x="1143000" y="2476195"/>
            <a:ext cx="14287500" cy="1410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5550"/>
              <a:buFont typeface="Sora"/>
              <a:buNone/>
            </a:pPr>
            <a:r>
              <a:rPr b="1" i="0" lang="en-US" sz="555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Como interpretar</a:t>
            </a:r>
            <a:endParaRPr b="0" i="0" sz="5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5550"/>
              <a:buFont typeface="Sora"/>
              <a:buNone/>
            </a:pPr>
            <a:r>
              <a:rPr b="1" i="0" lang="en-US" sz="555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o que você vai </a:t>
            </a:r>
            <a:r>
              <a:rPr b="1" i="1" lang="en-US" sz="5550" u="none" cap="none" strike="noStrike">
                <a:solidFill>
                  <a:srgbClr val="0285FF"/>
                </a:solidFill>
                <a:latin typeface="Sora"/>
                <a:ea typeface="Sora"/>
                <a:cs typeface="Sora"/>
                <a:sym typeface="Sora"/>
              </a:rPr>
              <a:t>ver.</a:t>
            </a:r>
            <a:endParaRPr b="0" i="0" sz="5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 txBox="1"/>
          <p:nvPr/>
        </p:nvSpPr>
        <p:spPr>
          <a:xfrm>
            <a:off x="1447495" y="4667098"/>
            <a:ext cx="3048610" cy="6099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4800"/>
              <a:buFont typeface="Sora"/>
              <a:buNone/>
            </a:pPr>
            <a:r>
              <a:rPr b="1" i="0" lang="en-US" sz="48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01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 txBox="1"/>
          <p:nvPr/>
        </p:nvSpPr>
        <p:spPr>
          <a:xfrm>
            <a:off x="1447495" y="5447995"/>
            <a:ext cx="3048610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800"/>
              <a:buFont typeface="Sora"/>
              <a:buNone/>
            </a:pPr>
            <a:r>
              <a:rPr b="1" i="0" lang="en-US" sz="1800" u="none" cap="none" strike="noStrike">
                <a:solidFill>
                  <a:srgbClr val="131A40"/>
                </a:solidFill>
                <a:latin typeface="Sora"/>
                <a:ea typeface="Sora"/>
                <a:cs typeface="Sora"/>
                <a:sym typeface="Sora"/>
              </a:rPr>
              <a:t>Pontuação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 txBox="1"/>
          <p:nvPr/>
        </p:nvSpPr>
        <p:spPr>
          <a:xfrm>
            <a:off x="1447495" y="5829300"/>
            <a:ext cx="3048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Onde a percepção está hoje.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 txBox="1"/>
          <p:nvPr/>
        </p:nvSpPr>
        <p:spPr>
          <a:xfrm>
            <a:off x="5257800" y="4667098"/>
            <a:ext cx="3048610" cy="6099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4800"/>
              <a:buFont typeface="Sora"/>
              <a:buNone/>
            </a:pPr>
            <a:r>
              <a:rPr b="1" i="0" lang="en-US" sz="4800" u="none" cap="none" strike="noStrike">
                <a:solidFill>
                  <a:srgbClr val="0285FF"/>
                </a:solidFill>
                <a:latin typeface="Sora"/>
                <a:ea typeface="Sora"/>
                <a:cs typeface="Sora"/>
                <a:sym typeface="Sora"/>
              </a:rPr>
              <a:t>02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 txBox="1"/>
          <p:nvPr/>
        </p:nvSpPr>
        <p:spPr>
          <a:xfrm>
            <a:off x="5257800" y="5447995"/>
            <a:ext cx="3048610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800"/>
              <a:buFont typeface="Sora"/>
              <a:buNone/>
            </a:pPr>
            <a:r>
              <a:rPr b="1" i="0" lang="en-US" sz="1800" u="none" cap="none" strike="noStrike">
                <a:solidFill>
                  <a:srgbClr val="131A40"/>
                </a:solidFill>
                <a:latin typeface="Sora"/>
                <a:ea typeface="Sora"/>
                <a:cs typeface="Sora"/>
                <a:sym typeface="Sora"/>
              </a:rPr>
              <a:t>Comparação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 txBox="1"/>
          <p:nvPr/>
        </p:nvSpPr>
        <p:spPr>
          <a:xfrm>
            <a:off x="5257800" y="5829300"/>
            <a:ext cx="304861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Como {{AREA}} se compara com a Flutter Brasil.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 txBox="1"/>
          <p:nvPr/>
        </p:nvSpPr>
        <p:spPr>
          <a:xfrm>
            <a:off x="9068105" y="4667098"/>
            <a:ext cx="3048610" cy="6099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5CF5"/>
              </a:buClr>
              <a:buSzPts val="4800"/>
              <a:buFont typeface="Sora"/>
              <a:buNone/>
            </a:pPr>
            <a:r>
              <a:rPr b="1" i="0" lang="en-US" sz="4800" u="none" cap="none" strike="noStrike">
                <a:solidFill>
                  <a:srgbClr val="895CF5"/>
                </a:solidFill>
                <a:latin typeface="Sora"/>
                <a:ea typeface="Sora"/>
                <a:cs typeface="Sora"/>
                <a:sym typeface="Sora"/>
              </a:rPr>
              <a:t>03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 txBox="1"/>
          <p:nvPr/>
        </p:nvSpPr>
        <p:spPr>
          <a:xfrm>
            <a:off x="9068105" y="5447995"/>
            <a:ext cx="3048610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800"/>
              <a:buFont typeface="Sora"/>
              <a:buNone/>
            </a:pPr>
            <a:r>
              <a:rPr b="1" i="0" lang="en-US" sz="1800" u="none" cap="none" strike="noStrike">
                <a:solidFill>
                  <a:srgbClr val="131A40"/>
                </a:solidFill>
                <a:latin typeface="Sora"/>
                <a:ea typeface="Sora"/>
                <a:cs typeface="Sora"/>
                <a:sym typeface="Sora"/>
              </a:rPr>
              <a:t>Movimento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 txBox="1"/>
          <p:nvPr/>
        </p:nvSpPr>
        <p:spPr>
          <a:xfrm>
            <a:off x="9068105" y="5829300"/>
            <a:ext cx="3048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Como a percepção evoluiu.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 txBox="1"/>
          <p:nvPr/>
        </p:nvSpPr>
        <p:spPr>
          <a:xfrm>
            <a:off x="12877495" y="4667098"/>
            <a:ext cx="3048610" cy="6099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225D"/>
              </a:buClr>
              <a:buSzPts val="4800"/>
              <a:buFont typeface="Sora"/>
              <a:buNone/>
            </a:pPr>
            <a:r>
              <a:rPr b="1" i="0" lang="en-US" sz="4800" u="none" cap="none" strike="noStrike">
                <a:solidFill>
                  <a:srgbClr val="D5225D"/>
                </a:solidFill>
                <a:latin typeface="Sora"/>
                <a:ea typeface="Sora"/>
                <a:cs typeface="Sora"/>
                <a:sym typeface="Sora"/>
              </a:rPr>
              <a:t>04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 txBox="1"/>
          <p:nvPr/>
        </p:nvSpPr>
        <p:spPr>
          <a:xfrm>
            <a:off x="12877495" y="5447995"/>
            <a:ext cx="3048610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800"/>
              <a:buFont typeface="Sora"/>
              <a:buNone/>
            </a:pPr>
            <a:r>
              <a:rPr b="1" i="0" lang="en-US" sz="1800" u="none" cap="none" strike="noStrike">
                <a:solidFill>
                  <a:srgbClr val="131A40"/>
                </a:solidFill>
                <a:latin typeface="Sora"/>
                <a:ea typeface="Sora"/>
                <a:cs typeface="Sora"/>
                <a:sym typeface="Sora"/>
              </a:rPr>
              <a:t>Pessoas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 txBox="1"/>
          <p:nvPr/>
        </p:nvSpPr>
        <p:spPr>
          <a:xfrm>
            <a:off x="12877495" y="5829300"/>
            <a:ext cx="304861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Se algumas populações vivem a organização de modo diferente.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 txBox="1"/>
          <p:nvPr/>
        </p:nvSpPr>
        <p:spPr>
          <a:xfrm>
            <a:off x="1524305" y="6858000"/>
            <a:ext cx="14859000" cy="33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CD4B"/>
              </a:buClr>
              <a:buSzPts val="1800"/>
              <a:buFont typeface="Sora"/>
              <a:buNone/>
            </a:pPr>
            <a:r>
              <a:rPr b="0" i="1" lang="en-US" sz="1800" u="none" cap="none" strike="noStrike">
                <a:solidFill>
                  <a:srgbClr val="F8CD4B"/>
                </a:solidFill>
                <a:latin typeface="Sora"/>
                <a:ea typeface="Sora"/>
                <a:cs typeface="Sora"/>
                <a:sym typeface="Sora"/>
              </a:rPr>
              <a:t>Nenhum número sozinho</a:t>
            </a:r>
            <a:r>
              <a:rPr b="0" i="0" lang="en-US" sz="180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 define uma prioridade. Buscamos </a:t>
            </a:r>
            <a:r>
              <a:rPr b="0" i="1" lang="en-US" sz="180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padrões entre múltiplas evidências.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 txBox="1"/>
          <p:nvPr/>
        </p:nvSpPr>
        <p:spPr>
          <a:xfrm>
            <a:off x="1143000" y="7772400"/>
            <a:ext cx="7239305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0285FF"/>
                </a:solidFill>
                <a:latin typeface="Poppins"/>
                <a:ea typeface="Poppins"/>
                <a:cs typeface="Poppins"/>
                <a:sym typeface="Poppins"/>
              </a:rPr>
              <a:t>Alguns cuidados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 txBox="1"/>
          <p:nvPr/>
        </p:nvSpPr>
        <p:spPr>
          <a:xfrm>
            <a:off x="1143000" y="8051292"/>
            <a:ext cx="7239305" cy="1255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44"/>
              </a:lnSpc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Resultados de Departamento não identificam times individuais.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44"/>
              </a:lnSpc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Populações pequenas devem ser interpretadas com cautela.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44"/>
              </a:lnSpc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Associação com engajamento não estabelece causalidade.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44"/>
              </a:lnSpc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Comentários das pessoas representam percepções e contexto.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44"/>
              </a:lnSpc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Hipóteses da liderança não devem aparecer como achados da pesquisa.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 txBox="1"/>
          <p:nvPr/>
        </p:nvSpPr>
        <p:spPr>
          <a:xfrm>
            <a:off x="8762695" y="7772400"/>
            <a:ext cx="8382305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0285FF"/>
                </a:solidFill>
                <a:latin typeface="Poppins"/>
                <a:ea typeface="Poppins"/>
                <a:cs typeface="Poppins"/>
                <a:sym typeface="Poppins"/>
              </a:rPr>
              <a:t>Estrutura de trabalho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 txBox="1"/>
          <p:nvPr/>
        </p:nvSpPr>
        <p:spPr>
          <a:xfrm>
            <a:off x="9010498" y="8419795"/>
            <a:ext cx="228600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B673"/>
              </a:buClr>
              <a:buSzPts val="1650"/>
              <a:buFont typeface="Sora"/>
              <a:buNone/>
            </a:pPr>
            <a:r>
              <a:rPr b="1" i="0" lang="en-US" sz="1650" u="none" cap="none" strike="noStrike">
                <a:solidFill>
                  <a:srgbClr val="2BB673"/>
                </a:solidFill>
                <a:latin typeface="Sora"/>
                <a:ea typeface="Sora"/>
                <a:cs typeface="Sora"/>
                <a:sym typeface="Sora"/>
              </a:rPr>
              <a:t>PROTEGER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 txBox="1"/>
          <p:nvPr/>
        </p:nvSpPr>
        <p:spPr>
          <a:xfrm>
            <a:off x="9010498" y="8791956"/>
            <a:ext cx="2286000" cy="391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47"/>
              </a:lnSpc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Algo valioso que deve permanecer forte.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 txBox="1"/>
          <p:nvPr/>
        </p:nvSpPr>
        <p:spPr>
          <a:xfrm>
            <a:off x="11867998" y="8419795"/>
            <a:ext cx="228600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225D"/>
              </a:buClr>
              <a:buSzPts val="1650"/>
              <a:buFont typeface="Sora"/>
              <a:buNone/>
            </a:pPr>
            <a:r>
              <a:rPr b="1" i="0" lang="en-US" sz="1650" u="none" cap="none" strike="noStrike">
                <a:solidFill>
                  <a:srgbClr val="D5225D"/>
                </a:solidFill>
                <a:latin typeface="Sora"/>
                <a:ea typeface="Sora"/>
                <a:cs typeface="Sora"/>
                <a:sym typeface="Sora"/>
              </a:rPr>
              <a:t>TRATAR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 txBox="1"/>
          <p:nvPr/>
        </p:nvSpPr>
        <p:spPr>
          <a:xfrm>
            <a:off x="11867998" y="8791956"/>
            <a:ext cx="2286000" cy="391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47"/>
              </a:lnSpc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Fricção crível onde a evidência sustenta ação.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 txBox="1"/>
          <p:nvPr/>
        </p:nvSpPr>
        <p:spPr>
          <a:xfrm>
            <a:off x="14725498" y="8419795"/>
            <a:ext cx="228600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68A14"/>
              </a:buClr>
              <a:buSzPts val="1650"/>
              <a:buFont typeface="Sora"/>
              <a:buNone/>
            </a:pPr>
            <a:r>
              <a:rPr b="1" i="0" lang="en-US" sz="1650" u="none" cap="none" strike="noStrike">
                <a:solidFill>
                  <a:srgbClr val="B68A14"/>
                </a:solidFill>
                <a:latin typeface="Sora"/>
                <a:ea typeface="Sora"/>
                <a:cs typeface="Sora"/>
                <a:sym typeface="Sora"/>
              </a:rPr>
              <a:t>APROFUNDAR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 txBox="1"/>
          <p:nvPr/>
        </p:nvSpPr>
        <p:spPr>
          <a:xfrm>
            <a:off x="14725498" y="8791956"/>
            <a:ext cx="2286000" cy="391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47"/>
              </a:lnSpc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Sinal relevante que pede mais investigação.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 txBox="1"/>
          <p:nvPr/>
        </p:nvSpPr>
        <p:spPr>
          <a:xfrm>
            <a:off x="16659454" y="9773107"/>
            <a:ext cx="681228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050"/>
              <a:buFont typeface="Sora"/>
              <a:buNone/>
            </a:pPr>
            <a:r>
              <a:rPr b="0" i="0" lang="en-US" sz="1050" u="none" cap="none" strike="noStrike">
                <a:solidFill>
                  <a:srgbClr val="4B5274"/>
                </a:solidFill>
                <a:latin typeface="Sora"/>
                <a:ea typeface="Sora"/>
                <a:cs typeface="Sora"/>
                <a:sym typeface="Sora"/>
              </a:rPr>
              <a:t>04 / 13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D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571723da0b9e7496659dc38ed713a537.png" id="187" name="Google Shape;187;p7"/>
          <p:cNvPicPr preferRelativeResize="0"/>
          <p:nvPr/>
        </p:nvPicPr>
        <p:blipFill rotWithShape="1">
          <a:blip r:embed="rId3">
            <a:alphaModFix/>
          </a:blip>
          <a:srcRect b="0" l="-2083" r="-2083" t="0"/>
          <a:stretch/>
        </p:blipFill>
        <p:spPr>
          <a:xfrm>
            <a:off x="1143000" y="2095805"/>
            <a:ext cx="16002000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7"/>
          <p:cNvSpPr/>
          <p:nvPr/>
        </p:nvSpPr>
        <p:spPr>
          <a:xfrm>
            <a:off x="1143000" y="4095598"/>
            <a:ext cx="10858500" cy="495330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12382805" y="4095598"/>
            <a:ext cx="4762195" cy="3619195"/>
          </a:xfrm>
          <a:prstGeom prst="rect">
            <a:avLst/>
          </a:prstGeom>
          <a:solidFill>
            <a:srgbClr val="EAF0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12382805" y="7905902"/>
            <a:ext cx="4762195" cy="1143000"/>
          </a:xfrm>
          <a:prstGeom prst="rect">
            <a:avLst/>
          </a:prstGeom>
          <a:solidFill>
            <a:srgbClr val="16215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ac0f0736bef8251357c202e8481c5a4c.png" id="191" name="Google Shape;191;p7"/>
          <p:cNvPicPr preferRelativeResize="0"/>
          <p:nvPr/>
        </p:nvPicPr>
        <p:blipFill rotWithShape="1">
          <a:blip r:embed="rId4">
            <a:alphaModFix/>
          </a:blip>
          <a:srcRect b="-400" l="0" r="0" t="-400"/>
          <a:stretch/>
        </p:blipFill>
        <p:spPr>
          <a:xfrm>
            <a:off x="1143000" y="4095598"/>
            <a:ext cx="10858500" cy="576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2e64afe16678efa691ac7e4407b0cdd9.png" id="196" name="Google Shape;196;p7"/>
          <p:cNvPicPr preferRelativeResize="0"/>
          <p:nvPr/>
        </p:nvPicPr>
        <p:blipFill rotWithShape="1">
          <a:blip r:embed="rId6">
            <a:alphaModFix/>
          </a:blip>
          <a:srcRect b="0" l="-2078" r="-2078" t="0"/>
          <a:stretch/>
        </p:blipFill>
        <p:spPr>
          <a:xfrm>
            <a:off x="13144500" y="5544007"/>
            <a:ext cx="3619195" cy="91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2e64afe16678efa691ac7e4407b0cdd9.png" id="197" name="Google Shape;197;p7"/>
          <p:cNvPicPr preferRelativeResize="0"/>
          <p:nvPr/>
        </p:nvPicPr>
        <p:blipFill rotWithShape="1">
          <a:blip r:embed="rId6">
            <a:alphaModFix/>
          </a:blip>
          <a:srcRect b="0" l="-2078" r="-2078" t="0"/>
          <a:stretch/>
        </p:blipFill>
        <p:spPr>
          <a:xfrm>
            <a:off x="13144500" y="6439205"/>
            <a:ext cx="3619195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1143000" y="1143000"/>
            <a:ext cx="571500" cy="571500"/>
          </a:xfrm>
          <a:prstGeom prst="ellipse">
            <a:avLst/>
          </a:prstGeom>
          <a:solidFill>
            <a:srgbClr val="0285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 txBox="1"/>
          <p:nvPr/>
        </p:nvSpPr>
        <p:spPr>
          <a:xfrm>
            <a:off x="1355141" y="1285646"/>
            <a:ext cx="152705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or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 txBox="1"/>
          <p:nvPr/>
        </p:nvSpPr>
        <p:spPr>
          <a:xfrm>
            <a:off x="1904695" y="1333195"/>
            <a:ext cx="6667805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975"/>
              <a:buFont typeface="Poppins"/>
              <a:buNone/>
            </a:pPr>
            <a:r>
              <a:rPr b="1" i="0" lang="en-US" sz="975" u="none" cap="none" strike="noStrike">
                <a:solidFill>
                  <a:srgbClr val="16215B"/>
                </a:solidFill>
                <a:latin typeface="Poppins"/>
                <a:ea typeface="Poppins"/>
                <a:cs typeface="Poppins"/>
                <a:sym typeface="Poppins"/>
              </a:rPr>
              <a:t>Orientação histórica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 txBox="1"/>
          <p:nvPr/>
        </p:nvSpPr>
        <p:spPr>
          <a:xfrm>
            <a:off x="1143000" y="2381098"/>
            <a:ext cx="11430000" cy="128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4800"/>
              <a:buFont typeface="Sora"/>
              <a:buNone/>
            </a:pPr>
            <a:r>
              <a:rPr b="1" i="0" lang="en-US" sz="48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Como o sentimento das pessoas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4800"/>
              <a:buFont typeface="Sora"/>
              <a:buNone/>
            </a:pPr>
            <a:r>
              <a:rPr b="1" i="0" lang="en-US" sz="48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evoluiu no </a:t>
            </a:r>
            <a:r>
              <a:rPr b="1" i="1" lang="en-US" sz="4800" u="none" cap="none" strike="noStrike">
                <a:solidFill>
                  <a:srgbClr val="0285FF"/>
                </a:solidFill>
                <a:latin typeface="Sora"/>
                <a:ea typeface="Sora"/>
                <a:cs typeface="Sora"/>
                <a:sym typeface="Sora"/>
              </a:rPr>
              <a:t>{{AREA}}?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 txBox="1"/>
          <p:nvPr/>
        </p:nvSpPr>
        <p:spPr>
          <a:xfrm>
            <a:off x="1524305" y="4438498"/>
            <a:ext cx="857250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0285FF"/>
                </a:solidFill>
                <a:latin typeface="Poppins"/>
                <a:ea typeface="Poppins"/>
                <a:cs typeface="Poppins"/>
                <a:sym typeface="Poppins"/>
              </a:rPr>
              <a:t>Evidência da pesquisa · 60% do slide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 txBox="1"/>
          <p:nvPr/>
        </p:nvSpPr>
        <p:spPr>
          <a:xfrm>
            <a:off x="1524305" y="4695444"/>
            <a:ext cx="8572500" cy="362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2250"/>
              <a:buFont typeface="Sora"/>
              <a:buNone/>
            </a:pPr>
            <a:r>
              <a:rPr b="1" i="0" lang="en-US" sz="225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Visão histórica da percepção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 txBox="1"/>
          <p:nvPr/>
        </p:nvSpPr>
        <p:spPr>
          <a:xfrm>
            <a:off x="1524305" y="8544154"/>
            <a:ext cx="1009680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Fonte: dashboard People Analytics · {{AREA}} ({{HIST_N}}) vs {{BENCH}}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 txBox="1"/>
          <p:nvPr/>
        </p:nvSpPr>
        <p:spPr>
          <a:xfrm>
            <a:off x="12763195" y="4381805"/>
            <a:ext cx="400050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0285FF"/>
                </a:solidFill>
                <a:latin typeface="Poppins"/>
                <a:ea typeface="Poppins"/>
                <a:cs typeface="Poppins"/>
                <a:sym typeface="Poppins"/>
              </a:rPr>
              <a:t>O que os dados mostram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 txBox="1"/>
          <p:nvPr/>
        </p:nvSpPr>
        <p:spPr>
          <a:xfrm>
            <a:off x="12763195" y="4819802"/>
            <a:ext cx="458114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2700"/>
              <a:buFont typeface="Sora"/>
              <a:buNone/>
            </a:pPr>
            <a:r>
              <a:rPr b="1" i="0" lang="en-US" sz="2700" u="none" cap="none" strike="noStrike">
                <a:solidFill>
                  <a:srgbClr val="0285FF"/>
                </a:solidFill>
                <a:latin typeface="Sora"/>
                <a:ea typeface="Sora"/>
                <a:cs typeface="Sora"/>
                <a:sym typeface="Sora"/>
              </a:rPr>
              <a:t>01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 txBox="1"/>
          <p:nvPr/>
        </p:nvSpPr>
        <p:spPr>
          <a:xfrm>
            <a:off x="13340182" y="4819802"/>
            <a:ext cx="3406140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[OBSERVAÇÃO-CHAVE HISTÓRICA DO HRBP]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 txBox="1"/>
          <p:nvPr/>
        </p:nvSpPr>
        <p:spPr>
          <a:xfrm>
            <a:off x="12763195" y="5715000"/>
            <a:ext cx="476402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2700"/>
              <a:buFont typeface="Sora"/>
              <a:buNone/>
            </a:pPr>
            <a:r>
              <a:rPr b="1" i="0" lang="en-US" sz="2700" u="none" cap="none" strike="noStrike">
                <a:solidFill>
                  <a:srgbClr val="0285FF"/>
                </a:solidFill>
                <a:latin typeface="Sora"/>
                <a:ea typeface="Sora"/>
                <a:cs typeface="Sora"/>
                <a:sym typeface="Sora"/>
              </a:rPr>
              <a:t>02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 txBox="1"/>
          <p:nvPr/>
        </p:nvSpPr>
        <p:spPr>
          <a:xfrm>
            <a:off x="13409676" y="5715000"/>
            <a:ext cx="3406140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[OBSERVAÇÃO-CHAVE HISTÓRICA DO HRBP]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 txBox="1"/>
          <p:nvPr/>
        </p:nvSpPr>
        <p:spPr>
          <a:xfrm>
            <a:off x="12763195" y="6610198"/>
            <a:ext cx="476402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2700"/>
              <a:buFont typeface="Sora"/>
              <a:buNone/>
            </a:pPr>
            <a:r>
              <a:rPr b="1" i="0" lang="en-US" sz="2700" u="none" cap="none" strike="noStrike">
                <a:solidFill>
                  <a:srgbClr val="0285FF"/>
                </a:solidFill>
                <a:latin typeface="Sora"/>
                <a:ea typeface="Sora"/>
                <a:cs typeface="Sora"/>
                <a:sym typeface="Sora"/>
              </a:rPr>
              <a:t>03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 txBox="1"/>
          <p:nvPr/>
        </p:nvSpPr>
        <p:spPr>
          <a:xfrm>
            <a:off x="13408762" y="6610198"/>
            <a:ext cx="3406140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[OBSERVAÇÃO-CHAVE HISTÓRICA DO HRBP]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 txBox="1"/>
          <p:nvPr/>
        </p:nvSpPr>
        <p:spPr>
          <a:xfrm>
            <a:off x="12763195" y="8134502"/>
            <a:ext cx="400050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CD4B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F8CD4B"/>
                </a:solidFill>
                <a:latin typeface="Poppins"/>
                <a:ea typeface="Poppins"/>
                <a:cs typeface="Poppins"/>
                <a:sym typeface="Poppins"/>
              </a:rPr>
              <a:t>Leitura geral do HRBP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 txBox="1"/>
          <p:nvPr/>
        </p:nvSpPr>
        <p:spPr>
          <a:xfrm>
            <a:off x="12763195" y="8429854"/>
            <a:ext cx="40005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[Síntese da trajetória em 1–2 frases]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 txBox="1"/>
          <p:nvPr/>
        </p:nvSpPr>
        <p:spPr>
          <a:xfrm>
            <a:off x="16662197" y="9773107"/>
            <a:ext cx="681228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050"/>
              <a:buFont typeface="Sora"/>
              <a:buNone/>
            </a:pPr>
            <a:r>
              <a:rPr b="0" i="0" lang="en-US" sz="1050" u="none" cap="none" strike="noStrike">
                <a:solidFill>
                  <a:srgbClr val="4B5274"/>
                </a:solidFill>
                <a:latin typeface="Sora"/>
                <a:ea typeface="Sora"/>
                <a:cs typeface="Sora"/>
                <a:sym typeface="Sora"/>
              </a:rPr>
              <a:t>05 / 13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6" name="Chart 215"/>
          <p:cNvGraphicFramePr>
            <a:graphicFrameLocks noGrp="1"/>
          </p:cNvGraphicFramePr>
          <p:nvPr/>
        </p:nvGraphicFramePr>
        <p:xfrm>
          <a:off x="1527048" y="5257800"/>
          <a:ext cx="4937760" cy="3200400"/>
        </p:xfrm>
        <a:graphic>
          <a:graphicData uri="http://schemas.openxmlformats.org/drawingml/2006/chart">
            <c:chart r:id="rId7"/>
          </a:graphicData>
        </a:graphic>
      </p:graphicFrame>
      <p:graphicFrame>
        <p:nvGraphicFramePr>
          <p:cNvPr id="217" name="Chart 216"/>
          <p:cNvGraphicFramePr>
            <a:graphicFrameLocks noGrp="1"/>
          </p:cNvGraphicFramePr>
          <p:nvPr/>
        </p:nvGraphicFramePr>
        <p:xfrm>
          <a:off x="6702552" y="5257800"/>
          <a:ext cx="4937760" cy="3200400"/>
        </p:xfrm>
        <a:graphic>
          <a:graphicData uri="http://schemas.openxmlformats.org/drawingml/2006/chart">
            <c:chart r:id="rId8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D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571723da0b9e7496659dc38ed713a537.png" id="221" name="Google Shape;221;p8"/>
          <p:cNvPicPr preferRelativeResize="0"/>
          <p:nvPr/>
        </p:nvPicPr>
        <p:blipFill rotWithShape="1">
          <a:blip r:embed="rId3">
            <a:alphaModFix/>
          </a:blip>
          <a:srcRect b="0" l="-2083" r="-2083" t="0"/>
          <a:stretch/>
        </p:blipFill>
        <p:spPr>
          <a:xfrm>
            <a:off x="1143000" y="2095805"/>
            <a:ext cx="16002000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8"/>
          <p:cNvSpPr/>
          <p:nvPr/>
        </p:nvSpPr>
        <p:spPr>
          <a:xfrm>
            <a:off x="1143000" y="3619195"/>
            <a:ext cx="3619195" cy="190469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4953305" y="3619195"/>
            <a:ext cx="3619195" cy="190469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8762695" y="3619195"/>
            <a:ext cx="3619195" cy="190469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12573000" y="3619195"/>
            <a:ext cx="3619195" cy="190469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8762695" y="5905195"/>
            <a:ext cx="7429500" cy="2190902"/>
          </a:xfrm>
          <a:prstGeom prst="rect">
            <a:avLst/>
          </a:prstGeom>
          <a:solidFill>
            <a:srgbClr val="16215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1143000" y="8382305"/>
            <a:ext cx="15049195" cy="1238098"/>
          </a:xfrm>
          <a:prstGeom prst="rect">
            <a:avLst/>
          </a:prstGeom>
          <a:solidFill>
            <a:srgbClr val="EAF0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2c57750bb86fb0d98276d09ac0904c68.png" id="228" name="Google Shape;228;p8"/>
          <p:cNvPicPr preferRelativeResize="0"/>
          <p:nvPr/>
        </p:nvPicPr>
        <p:blipFill rotWithShape="1">
          <a:blip r:embed="rId4">
            <a:alphaModFix/>
          </a:blip>
          <a:srcRect b="-404" l="0" r="0" t="-404"/>
          <a:stretch/>
        </p:blipFill>
        <p:spPr>
          <a:xfrm>
            <a:off x="1143000" y="3619195"/>
            <a:ext cx="3619195" cy="576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b4b14867eed28854f61a0778ce311888.png" id="229" name="Google Shape;229;p8"/>
          <p:cNvPicPr preferRelativeResize="0"/>
          <p:nvPr/>
        </p:nvPicPr>
        <p:blipFill rotWithShape="1">
          <a:blip r:embed="rId5">
            <a:alphaModFix/>
          </a:blip>
          <a:srcRect b="-404" l="0" r="0" t="-404"/>
          <a:stretch/>
        </p:blipFill>
        <p:spPr>
          <a:xfrm>
            <a:off x="4953305" y="3619195"/>
            <a:ext cx="3619195" cy="576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55d011dd77b04abfeb0fc9735283a3d5.png" id="230" name="Google Shape;230;p8"/>
          <p:cNvPicPr preferRelativeResize="0"/>
          <p:nvPr/>
        </p:nvPicPr>
        <p:blipFill rotWithShape="1">
          <a:blip r:embed="rId6">
            <a:alphaModFix/>
          </a:blip>
          <a:srcRect b="-404" l="0" r="0" t="-404"/>
          <a:stretch/>
        </p:blipFill>
        <p:spPr>
          <a:xfrm>
            <a:off x="8762695" y="3619195"/>
            <a:ext cx="3619195" cy="576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91b2fcf0a9fa020dc644d8225b5f7d0d.png" id="231" name="Google Shape;231;p8"/>
          <p:cNvPicPr preferRelativeResize="0"/>
          <p:nvPr/>
        </p:nvPicPr>
        <p:blipFill rotWithShape="1">
          <a:blip r:embed="rId7">
            <a:alphaModFix/>
          </a:blip>
          <a:srcRect b="-404" l="0" r="0" t="-404"/>
          <a:stretch/>
        </p:blipFill>
        <p:spPr>
          <a:xfrm>
            <a:off x="12573000" y="3619195"/>
            <a:ext cx="3619195" cy="576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100a37d2f7d805adc0a22bd43fa21f51.png" id="232" name="Google Shape;232;p8"/>
          <p:cNvPicPr preferRelativeResize="0"/>
          <p:nvPr/>
        </p:nvPicPr>
        <p:blipFill rotWithShape="1">
          <a:blip r:embed="rId8">
            <a:alphaModFix/>
          </a:blip>
          <a:srcRect b="0" l="-406" r="-406" t="0"/>
          <a:stretch/>
        </p:blipFill>
        <p:spPr>
          <a:xfrm>
            <a:off x="1143000" y="8382305"/>
            <a:ext cx="57607" cy="1238098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8"/>
          <p:cNvSpPr/>
          <p:nvPr/>
        </p:nvSpPr>
        <p:spPr>
          <a:xfrm>
            <a:off x="1143000" y="1143000"/>
            <a:ext cx="571500" cy="571500"/>
          </a:xfrm>
          <a:prstGeom prst="ellipse">
            <a:avLst/>
          </a:prstGeom>
          <a:solidFill>
            <a:srgbClr val="0285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"/>
          <p:cNvSpPr txBox="1"/>
          <p:nvPr/>
        </p:nvSpPr>
        <p:spPr>
          <a:xfrm>
            <a:off x="1350569" y="1285646"/>
            <a:ext cx="162763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or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 txBox="1"/>
          <p:nvPr/>
        </p:nvSpPr>
        <p:spPr>
          <a:xfrm>
            <a:off x="1904695" y="1333195"/>
            <a:ext cx="6667805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975"/>
              <a:buFont typeface="Poppins"/>
              <a:buNone/>
            </a:pPr>
            <a:r>
              <a:rPr b="1" i="0" lang="en-US" sz="975" u="none" cap="none" strike="noStrike">
                <a:solidFill>
                  <a:srgbClr val="16215B"/>
                </a:solidFill>
                <a:latin typeface="Poppins"/>
                <a:ea typeface="Poppins"/>
                <a:cs typeface="Poppins"/>
                <a:sym typeface="Poppins"/>
              </a:rPr>
              <a:t>Estado atual — diagnóstico em um slide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 txBox="1"/>
          <p:nvPr/>
        </p:nvSpPr>
        <p:spPr>
          <a:xfrm>
            <a:off x="1143000" y="2381098"/>
            <a:ext cx="14287500" cy="6099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4800"/>
              <a:buFont typeface="Sora"/>
              <a:buNone/>
            </a:pPr>
            <a:r>
              <a:rPr b="1" i="0" lang="en-US" sz="48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Onde estamos </a:t>
            </a:r>
            <a:r>
              <a:rPr b="1" i="1" lang="en-US" sz="4800" u="none" cap="none" strike="noStrike">
                <a:solidFill>
                  <a:srgbClr val="0285FF"/>
                </a:solidFill>
                <a:latin typeface="Sora"/>
                <a:ea typeface="Sora"/>
                <a:cs typeface="Sora"/>
                <a:sym typeface="Sora"/>
              </a:rPr>
              <a:t>hoje.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 txBox="1"/>
          <p:nvPr/>
        </p:nvSpPr>
        <p:spPr>
          <a:xfrm>
            <a:off x="1524305" y="3943807"/>
            <a:ext cx="2857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75"/>
              <a:buFont typeface="Poppins"/>
              <a:buNone/>
            </a:pPr>
            <a:r>
              <a:rPr b="1" i="0" lang="en-US" sz="975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eNPS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 txBox="1"/>
          <p:nvPr/>
        </p:nvSpPr>
        <p:spPr>
          <a:xfrm>
            <a:off x="1524305" y="4304995"/>
            <a:ext cx="2857500" cy="7434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5850"/>
              <a:buFont typeface="Sora"/>
              <a:buNone/>
            </a:pPr>
            <a:r>
              <a:rPr b="0" i="0" lang="en-US" sz="585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{{ENPS}}</a:t>
            </a:r>
            <a:endParaRPr b="0" i="0" sz="5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 txBox="1"/>
          <p:nvPr/>
        </p:nvSpPr>
        <p:spPr>
          <a:xfrm>
            <a:off x="1524305" y="5219395"/>
            <a:ext cx="30861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75"/>
              <a:buFont typeface="Poppins"/>
              <a:buNone/>
            </a:pPr>
            <a:r>
              <a:rPr b="0" i="0" lang="en-US" sz="975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{{ENPS_SUB}}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 txBox="1"/>
          <p:nvPr/>
        </p:nvSpPr>
        <p:spPr>
          <a:xfrm>
            <a:off x="5333695" y="3943807"/>
            <a:ext cx="2857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75"/>
              <a:buFont typeface="Poppins"/>
              <a:buNone/>
            </a:pPr>
            <a:r>
              <a:rPr b="1" i="0" lang="en-US" sz="975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Satisfação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 txBox="1"/>
          <p:nvPr/>
        </p:nvSpPr>
        <p:spPr>
          <a:xfrm>
            <a:off x="5333695" y="4304995"/>
            <a:ext cx="4380890" cy="7434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5850"/>
              <a:buFont typeface="Sora"/>
              <a:buNone/>
            </a:pPr>
            <a:r>
              <a:rPr b="0" i="0" lang="en-US" sz="5850" u="none" cap="none" strike="noStrike">
                <a:solidFill>
                  <a:srgbClr val="0285FF"/>
                </a:solidFill>
                <a:latin typeface="Sora"/>
                <a:ea typeface="Sora"/>
                <a:cs typeface="Sora"/>
                <a:sym typeface="Sora"/>
              </a:rPr>
              <a:t>{{SAT}} / 10</a:t>
            </a:r>
            <a:r>
              <a:rPr b="0" i="0" lang="en-US" sz="2700" u="none" cap="none" strike="noStrike">
                <a:solidFill>
                  <a:srgbClr val="4B5274"/>
                </a:solidFill>
                <a:latin typeface="Sora"/>
                <a:ea typeface="Sora"/>
                <a:cs typeface="Sora"/>
                <a:sym typeface="Sora"/>
              </a:rPr>
              <a:t/>
            </a:r>
            <a:endParaRPr b="0" i="0" sz="5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 txBox="1"/>
          <p:nvPr/>
        </p:nvSpPr>
        <p:spPr>
          <a:xfrm>
            <a:off x="5333695" y="5219395"/>
            <a:ext cx="30861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75"/>
              <a:buFont typeface="Poppins"/>
              <a:buNone/>
            </a:pPr>
            <a:r>
              <a:rPr b="0" i="0" lang="en-US" sz="975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{{SAT_SUB}}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 txBox="1"/>
          <p:nvPr/>
        </p:nvSpPr>
        <p:spPr>
          <a:xfrm>
            <a:off x="9144000" y="3943807"/>
            <a:ext cx="2857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75"/>
              <a:buFont typeface="Poppins"/>
              <a:buNone/>
            </a:pPr>
            <a:r>
              <a:rPr b="1" i="0" lang="en-US" sz="975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Risco de retenção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 txBox="1"/>
          <p:nvPr/>
        </p:nvSpPr>
        <p:spPr>
          <a:xfrm>
            <a:off x="9144000" y="4304995"/>
            <a:ext cx="2857500" cy="7434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225D"/>
              </a:buClr>
              <a:buSzPts val="5850"/>
              <a:buFont typeface="Sora"/>
              <a:buNone/>
            </a:pPr>
            <a:r>
              <a:rPr b="0" i="0" lang="en-US" sz="5850" u="none" cap="none" strike="noStrike">
                <a:solidFill>
                  <a:srgbClr val="D5225D"/>
                </a:solidFill>
                <a:latin typeface="Sora"/>
                <a:ea typeface="Sora"/>
                <a:cs typeface="Sora"/>
                <a:sym typeface="Sora"/>
              </a:rPr>
              <a:t>{{RISCO}}</a:t>
            </a:r>
            <a:endParaRPr b="0" i="0" sz="5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 txBox="1"/>
          <p:nvPr/>
        </p:nvSpPr>
        <p:spPr>
          <a:xfrm>
            <a:off x="9144000" y="5219395"/>
            <a:ext cx="30861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75"/>
              <a:buFont typeface="Poppins"/>
              <a:buNone/>
            </a:pPr>
            <a:r>
              <a:rPr b="0" i="0" lang="en-US" sz="975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{{RISCO_SUB}}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 txBox="1"/>
          <p:nvPr/>
        </p:nvSpPr>
        <p:spPr>
          <a:xfrm>
            <a:off x="12954305" y="3943807"/>
            <a:ext cx="2857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75"/>
              <a:buFont typeface="Poppins"/>
              <a:buNone/>
            </a:pPr>
            <a:r>
              <a:rPr b="1" i="0" lang="en-US" sz="975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Participação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 txBox="1"/>
          <p:nvPr/>
        </p:nvSpPr>
        <p:spPr>
          <a:xfrm>
            <a:off x="12954305" y="4304995"/>
            <a:ext cx="2857500" cy="7434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5CF5"/>
              </a:buClr>
              <a:buSzPts val="5850"/>
              <a:buFont typeface="Sora"/>
              <a:buNone/>
            </a:pPr>
            <a:r>
              <a:rPr b="0" i="0" lang="en-US" sz="5850" u="none" cap="none" strike="noStrike">
                <a:solidFill>
                  <a:srgbClr val="895CF5"/>
                </a:solidFill>
                <a:latin typeface="Sora"/>
                <a:ea typeface="Sora"/>
                <a:cs typeface="Sora"/>
                <a:sym typeface="Sora"/>
              </a:rPr>
              <a:t>{{PART}}</a:t>
            </a:r>
            <a:endParaRPr b="0" i="0" sz="5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 txBox="1"/>
          <p:nvPr/>
        </p:nvSpPr>
        <p:spPr>
          <a:xfrm>
            <a:off x="12954305" y="5219395"/>
            <a:ext cx="2857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75"/>
              <a:buFont typeface="Poppins"/>
              <a:buNone/>
            </a:pPr>
            <a:r>
              <a:rPr b="0" i="0" lang="en-US" sz="975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n = {{RESP}} · {{BENCH}} {{PART_FB}}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 txBox="1"/>
          <p:nvPr/>
        </p:nvSpPr>
        <p:spPr>
          <a:xfrm>
            <a:off x="1143000" y="5905195"/>
            <a:ext cx="7239305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0285FF"/>
                </a:solidFill>
                <a:latin typeface="Poppins"/>
                <a:ea typeface="Poppins"/>
                <a:cs typeface="Poppins"/>
                <a:sym typeface="Poppins"/>
              </a:rPr>
              <a:t>O que os dados mostram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1143000" y="6295644"/>
            <a:ext cx="323698" cy="323698"/>
          </a:xfrm>
          <a:prstGeom prst="ellipse">
            <a:avLst/>
          </a:prstGeom>
          <a:solidFill>
            <a:srgbClr val="0285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1143000" y="6295644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Sora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 txBox="1"/>
          <p:nvPr/>
        </p:nvSpPr>
        <p:spPr>
          <a:xfrm>
            <a:off x="1638605" y="6295644"/>
            <a:ext cx="4896612" cy="305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350"/>
              <a:buFont typeface="Poppins"/>
              <a:buNone/>
            </a:pPr>
            <a:r>
              <a:rPr b="0" i="0" lang="en-US" sz="1350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[ANÁLISE DO HRBP — bullet conciso, máx. 2 linhas]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1143000" y="6791249"/>
            <a:ext cx="323698" cy="323698"/>
          </a:xfrm>
          <a:prstGeom prst="ellipse">
            <a:avLst/>
          </a:prstGeom>
          <a:solidFill>
            <a:srgbClr val="0285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1143000" y="6791249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Sora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B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 txBox="1"/>
          <p:nvPr/>
        </p:nvSpPr>
        <p:spPr>
          <a:xfrm>
            <a:off x="1638605" y="6791249"/>
            <a:ext cx="4896612" cy="305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350"/>
              <a:buFont typeface="Poppins"/>
              <a:buNone/>
            </a:pPr>
            <a:r>
              <a:rPr b="0" i="0" lang="en-US" sz="1350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[ANÁLISE DO HRBP — bullet conciso, máx. 2 linhas]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1143000" y="7286854"/>
            <a:ext cx="323698" cy="323698"/>
          </a:xfrm>
          <a:prstGeom prst="ellipse">
            <a:avLst/>
          </a:prstGeom>
          <a:solidFill>
            <a:srgbClr val="0285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1143000" y="7286854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Sora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C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 txBox="1"/>
          <p:nvPr/>
        </p:nvSpPr>
        <p:spPr>
          <a:xfrm>
            <a:off x="1638605" y="7286854"/>
            <a:ext cx="4896612" cy="305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350"/>
              <a:buFont typeface="Poppins"/>
              <a:buNone/>
            </a:pPr>
            <a:r>
              <a:rPr b="0" i="0" lang="en-US" sz="1350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[ANÁLISE DO HRBP — bullet conciso, máx. 2 linhas]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 txBox="1"/>
          <p:nvPr/>
        </p:nvSpPr>
        <p:spPr>
          <a:xfrm>
            <a:off x="9144000" y="6152998"/>
            <a:ext cx="6667805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CD4B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F8CD4B"/>
                </a:solidFill>
                <a:latin typeface="Poppins"/>
                <a:ea typeface="Poppins"/>
                <a:cs typeface="Poppins"/>
                <a:sym typeface="Poppins"/>
              </a:rPr>
              <a:t>Leitura do HRBP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 txBox="1"/>
          <p:nvPr/>
        </p:nvSpPr>
        <p:spPr>
          <a:xfrm>
            <a:off x="9144000" y="6524244"/>
            <a:ext cx="6667805" cy="743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Sora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Qual é a história que esses indicadores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8CD4B"/>
              </a:buClr>
              <a:buSzPts val="2250"/>
              <a:buFont typeface="Sora"/>
              <a:buNone/>
            </a:pPr>
            <a:r>
              <a:rPr b="0" i="1" lang="en-US" sz="2250" u="none" cap="none" strike="noStrike">
                <a:solidFill>
                  <a:srgbClr val="F8CD4B"/>
                </a:solidFill>
                <a:latin typeface="Sora"/>
                <a:ea typeface="Sora"/>
                <a:cs typeface="Sora"/>
                <a:sym typeface="Sora"/>
              </a:rPr>
              <a:t>contam juntos?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 txBox="1"/>
          <p:nvPr/>
        </p:nvSpPr>
        <p:spPr>
          <a:xfrm>
            <a:off x="9144000" y="7496251"/>
            <a:ext cx="666780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Poppins"/>
              <a:buNone/>
            </a:pPr>
            <a:r>
              <a:rPr b="0" i="1" lang="en-US" sz="11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[Não basta repetir os KPIs. Traga o quadro completo.]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 txBox="1"/>
          <p:nvPr/>
        </p:nvSpPr>
        <p:spPr>
          <a:xfrm>
            <a:off x="1524305" y="8572500"/>
            <a:ext cx="36201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5CF5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895CF5"/>
                </a:solidFill>
                <a:latin typeface="Poppins"/>
                <a:ea typeface="Poppins"/>
                <a:cs typeface="Poppins"/>
                <a:sym typeface="Poppins"/>
              </a:rPr>
              <a:t>O que as pessoas estão dizendo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 txBox="1"/>
          <p:nvPr/>
        </p:nvSpPr>
        <p:spPr>
          <a:xfrm>
            <a:off x="1524305" y="8867851"/>
            <a:ext cx="362011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1650"/>
              <a:buFont typeface="Sora"/>
              <a:buNone/>
            </a:pPr>
            <a:r>
              <a:rPr b="0" i="0" lang="en-US" sz="165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2–3 percepções recorrentes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 txBox="1"/>
          <p:nvPr/>
        </p:nvSpPr>
        <p:spPr>
          <a:xfrm>
            <a:off x="5333695" y="8542325"/>
            <a:ext cx="10478110" cy="525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200"/>
              <a:buFont typeface="Poppins"/>
              <a:buNone/>
            </a:pPr>
            <a:r>
              <a:rPr b="0" i="1" lang="en-US" sz="12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[Insira os temas recorrentes que contextualizam 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200"/>
              <a:buFont typeface="Poppins"/>
              <a:buNone/>
            </a:pPr>
            <a:r>
              <a:rPr b="0" i="1" lang="en-US" sz="12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números acima. Use 2–3 linhas curtas, sem parágrafos.]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 txBox="1"/>
          <p:nvPr/>
        </p:nvSpPr>
        <p:spPr>
          <a:xfrm>
            <a:off x="16657625" y="9773107"/>
            <a:ext cx="683057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050"/>
              <a:buFont typeface="Sora"/>
              <a:buNone/>
            </a:pPr>
            <a:r>
              <a:rPr b="0" i="0" lang="en-US" sz="1050" u="none" cap="none" strike="noStrike">
                <a:solidFill>
                  <a:srgbClr val="4B5274"/>
                </a:solidFill>
                <a:latin typeface="Sora"/>
                <a:ea typeface="Sora"/>
                <a:cs typeface="Sora"/>
                <a:sym typeface="Sora"/>
              </a:rPr>
              <a:t>06 / 13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D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571723da0b9e7496659dc38ed713a537.png" id="271" name="Google Shape;271;p9"/>
          <p:cNvPicPr preferRelativeResize="0"/>
          <p:nvPr/>
        </p:nvPicPr>
        <p:blipFill rotWithShape="1">
          <a:blip r:embed="rId3">
            <a:alphaModFix/>
          </a:blip>
          <a:srcRect b="0" l="-2083" r="-2083" t="0"/>
          <a:stretch/>
        </p:blipFill>
        <p:spPr>
          <a:xfrm>
            <a:off x="1143000" y="2095805"/>
            <a:ext cx="16002000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9"/>
          <p:cNvSpPr/>
          <p:nvPr/>
        </p:nvSpPr>
        <p:spPr>
          <a:xfrm>
            <a:off x="1143000" y="5143500"/>
            <a:ext cx="5143500" cy="361919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9"/>
          <p:cNvSpPr/>
          <p:nvPr/>
        </p:nvSpPr>
        <p:spPr>
          <a:xfrm>
            <a:off x="6476695" y="5143500"/>
            <a:ext cx="5143500" cy="361919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9"/>
          <p:cNvSpPr/>
          <p:nvPr/>
        </p:nvSpPr>
        <p:spPr>
          <a:xfrm>
            <a:off x="11811305" y="5143500"/>
            <a:ext cx="5143500" cy="361919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1143000" y="8953805"/>
            <a:ext cx="15811805" cy="761695"/>
          </a:xfrm>
          <a:prstGeom prst="rect">
            <a:avLst/>
          </a:prstGeom>
          <a:solidFill>
            <a:srgbClr val="EAF0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ef716a7ffcd019e31f4c9db229db726b.png" id="276" name="Google Shape;276;p9"/>
          <p:cNvPicPr preferRelativeResize="0"/>
          <p:nvPr/>
        </p:nvPicPr>
        <p:blipFill rotWithShape="1">
          <a:blip r:embed="rId4">
            <a:alphaModFix/>
          </a:blip>
          <a:srcRect b="-400" l="0" r="0" t="-400"/>
          <a:stretch/>
        </p:blipFill>
        <p:spPr>
          <a:xfrm>
            <a:off x="1143000" y="5143500"/>
            <a:ext cx="5143500" cy="576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ef716a7ffcd019e31f4c9db229db726b.png" id="277" name="Google Shape;277;p9"/>
          <p:cNvPicPr preferRelativeResize="0"/>
          <p:nvPr/>
        </p:nvPicPr>
        <p:blipFill rotWithShape="1">
          <a:blip r:embed="rId4">
            <a:alphaModFix/>
          </a:blip>
          <a:srcRect b="-400" l="0" r="0" t="-400"/>
          <a:stretch/>
        </p:blipFill>
        <p:spPr>
          <a:xfrm>
            <a:off x="6476695" y="5143500"/>
            <a:ext cx="5143500" cy="576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ef716a7ffcd019e31f4c9db229db726b.png" id="278" name="Google Shape;278;p9"/>
          <p:cNvPicPr preferRelativeResize="0"/>
          <p:nvPr/>
        </p:nvPicPr>
        <p:blipFill rotWithShape="1">
          <a:blip r:embed="rId4">
            <a:alphaModFix/>
          </a:blip>
          <a:srcRect b="-400" l="0" r="0" t="-400"/>
          <a:stretch/>
        </p:blipFill>
        <p:spPr>
          <a:xfrm>
            <a:off x="11811305" y="5143500"/>
            <a:ext cx="5143500" cy="576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0488a9f057625e794ee95b0b10ba4401.png" id="279" name="Google Shape;279;p9"/>
          <p:cNvPicPr preferRelativeResize="0"/>
          <p:nvPr/>
        </p:nvPicPr>
        <p:blipFill rotWithShape="1">
          <a:blip r:embed="rId5">
            <a:alphaModFix/>
          </a:blip>
          <a:srcRect b="0" l="-420" r="-420" t="0"/>
          <a:stretch/>
        </p:blipFill>
        <p:spPr>
          <a:xfrm>
            <a:off x="1143000" y="8953805"/>
            <a:ext cx="57607" cy="761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03b2cf410200ae7e9b69cc3cdce8f143.png" id="280" name="Google Shape;280;p9"/>
          <p:cNvPicPr preferRelativeResize="0"/>
          <p:nvPr/>
        </p:nvPicPr>
        <p:blipFill rotWithShape="1">
          <a:blip r:embed="rId6">
            <a:alphaModFix/>
          </a:blip>
          <a:srcRect b="-2078" l="0" r="0" t="-2078"/>
          <a:stretch/>
        </p:blipFill>
        <p:spPr>
          <a:xfrm>
            <a:off x="6286500" y="5143500"/>
            <a:ext cx="9144" cy="36191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03b2cf410200ae7e9b69cc3cdce8f143.png" id="281" name="Google Shape;281;p9"/>
          <p:cNvPicPr preferRelativeResize="0"/>
          <p:nvPr/>
        </p:nvPicPr>
        <p:blipFill rotWithShape="1">
          <a:blip r:embed="rId6">
            <a:alphaModFix/>
          </a:blip>
          <a:srcRect b="-2078" l="0" r="0" t="-2078"/>
          <a:stretch/>
        </p:blipFill>
        <p:spPr>
          <a:xfrm>
            <a:off x="11620195" y="5143500"/>
            <a:ext cx="9144" cy="361919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9"/>
          <p:cNvSpPr/>
          <p:nvPr/>
        </p:nvSpPr>
        <p:spPr>
          <a:xfrm>
            <a:off x="1143000" y="1143000"/>
            <a:ext cx="571500" cy="571500"/>
          </a:xfrm>
          <a:prstGeom prst="ellipse">
            <a:avLst/>
          </a:prstGeom>
          <a:solidFill>
            <a:srgbClr val="2BB673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9"/>
          <p:cNvSpPr txBox="1"/>
          <p:nvPr/>
        </p:nvSpPr>
        <p:spPr>
          <a:xfrm>
            <a:off x="1358798" y="1285646"/>
            <a:ext cx="143561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or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 txBox="1"/>
          <p:nvPr/>
        </p:nvSpPr>
        <p:spPr>
          <a:xfrm>
            <a:off x="1904695" y="1333195"/>
            <a:ext cx="6667805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B673"/>
              </a:buClr>
              <a:buSzPts val="975"/>
              <a:buFont typeface="Poppins"/>
              <a:buNone/>
            </a:pPr>
            <a:r>
              <a:rPr b="1" i="0" lang="en-US" sz="975" u="none" cap="none" strike="noStrike">
                <a:solidFill>
                  <a:srgbClr val="2BB673"/>
                </a:solidFill>
                <a:latin typeface="Poppins"/>
                <a:ea typeface="Poppins"/>
                <a:cs typeface="Poppins"/>
                <a:sym typeface="Poppins"/>
              </a:rPr>
              <a:t>Âncoras que vale preservar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 txBox="1"/>
          <p:nvPr/>
        </p:nvSpPr>
        <p:spPr>
          <a:xfrm>
            <a:off x="1143000" y="2381098"/>
            <a:ext cx="14287500" cy="12006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4500"/>
              <a:buFont typeface="Sora"/>
              <a:buNone/>
            </a:pPr>
            <a:r>
              <a:rPr b="1" i="0" lang="en-US" sz="45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O que está funcionando</a:t>
            </a:r>
            <a:r>
              <a:rPr b="1" i="1" lang="en-US" sz="4500" u="none" cap="none" strike="noStrike">
                <a:solidFill>
                  <a:srgbClr val="2BB673"/>
                </a:solidFill>
                <a:latin typeface="Sora"/>
                <a:ea typeface="Sora"/>
                <a:cs typeface="Sora"/>
                <a:sym typeface="Sora"/>
              </a:rPr>
              <a:t> — </a:t>
            </a:r>
            <a:r>
              <a:rPr b="1" i="0" lang="en-US" sz="45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e vale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4500"/>
              <a:buFont typeface="Sora"/>
              <a:buNone/>
            </a:pPr>
            <a:r>
              <a:rPr b="1" i="0" lang="en-US" sz="45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ser protegido.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 txBox="1"/>
          <p:nvPr/>
        </p:nvSpPr>
        <p:spPr>
          <a:xfrm>
            <a:off x="1143000" y="4095598"/>
            <a:ext cx="1428750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900"/>
              <a:buFont typeface="Poppins"/>
              <a:buNone/>
            </a:pPr>
            <a:r>
              <a:rPr b="1" i="0" lang="en-US" sz="900" u="none" cap="none" strike="noStrike">
                <a:solidFill>
                  <a:srgbClr val="0285FF"/>
                </a:solidFill>
                <a:latin typeface="Poppins"/>
                <a:ea typeface="Poppins"/>
                <a:cs typeface="Poppins"/>
                <a:sym typeface="Poppins"/>
              </a:rPr>
              <a:t>Síntese do HRBP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 txBox="1"/>
          <p:nvPr/>
        </p:nvSpPr>
        <p:spPr>
          <a:xfrm>
            <a:off x="1143000" y="4381805"/>
            <a:ext cx="13335610" cy="314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650"/>
              <a:buFont typeface="Sora"/>
              <a:buNone/>
            </a:pPr>
            <a:r>
              <a:rPr b="0" i="1" lang="en-US" sz="1650" u="none" cap="none" strike="noStrike">
                <a:solidFill>
                  <a:srgbClr val="131A40"/>
                </a:solidFill>
                <a:latin typeface="Sora"/>
                <a:ea typeface="Sora"/>
                <a:cs typeface="Sora"/>
                <a:sym typeface="Sora"/>
              </a:rPr>
              <a:t>{{S7_SINTESE}}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 txBox="1"/>
          <p:nvPr/>
        </p:nvSpPr>
        <p:spPr>
          <a:xfrm>
            <a:off x="1524305" y="5896051"/>
            <a:ext cx="4572000" cy="362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2250"/>
              <a:buFont typeface="Sora"/>
              <a:buNone/>
            </a:pPr>
            <a:r>
              <a:rPr b="1" i="0" lang="en-US" sz="225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{{A0_TOP}}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 txBox="1"/>
          <p:nvPr/>
        </p:nvSpPr>
        <p:spPr>
          <a:xfrm>
            <a:off x="1524305" y="5447995"/>
            <a:ext cx="924458" cy="277063"/>
          </a:xfrm>
          <a:prstGeom prst="rect">
            <a:avLst/>
          </a:prstGeom>
          <a:solidFill>
            <a:srgbClr val="2BB673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500" lIns="114300" spcFirstLastPara="1" rIns="114300" wrap="square" tIns="63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PROTEGER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 txBox="1"/>
          <p:nvPr/>
        </p:nvSpPr>
        <p:spPr>
          <a:xfrm>
            <a:off x="1524305" y="6476695"/>
            <a:ext cx="457200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Evidência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 txBox="1"/>
          <p:nvPr/>
        </p:nvSpPr>
        <p:spPr>
          <a:xfrm>
            <a:off x="1524305" y="6715354"/>
            <a:ext cx="4572000" cy="2386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{{A0_EV}}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 txBox="1"/>
          <p:nvPr/>
        </p:nvSpPr>
        <p:spPr>
          <a:xfrm>
            <a:off x="1524305" y="7239305"/>
            <a:ext cx="457200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Por que importa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 txBox="1"/>
          <p:nvPr/>
        </p:nvSpPr>
        <p:spPr>
          <a:xfrm>
            <a:off x="1524305" y="7477049"/>
            <a:ext cx="4572000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[Interpretação do HRBP]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 txBox="1"/>
          <p:nvPr/>
        </p:nvSpPr>
        <p:spPr>
          <a:xfrm>
            <a:off x="1524305" y="8001000"/>
            <a:ext cx="457200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5CF5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895CF5"/>
                </a:solidFill>
                <a:latin typeface="Poppins"/>
                <a:ea typeface="Poppins"/>
                <a:cs typeface="Poppins"/>
                <a:sym typeface="Poppins"/>
              </a:rPr>
              <a:t>Percepção das pessoas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"/>
          <p:cNvSpPr txBox="1"/>
          <p:nvPr/>
        </p:nvSpPr>
        <p:spPr>
          <a:xfrm>
            <a:off x="1524305" y="8238744"/>
            <a:ext cx="4572000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200"/>
              <a:buFont typeface="Poppins"/>
              <a:buNone/>
            </a:pPr>
            <a:r>
              <a:rPr b="0" i="1" lang="en-US" sz="1200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[Tema positivo recorrente, breve]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 txBox="1"/>
          <p:nvPr/>
        </p:nvSpPr>
        <p:spPr>
          <a:xfrm>
            <a:off x="6858000" y="5896051"/>
            <a:ext cx="4572000" cy="362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2250"/>
              <a:buFont typeface="Sora"/>
              <a:buNone/>
            </a:pPr>
            <a:r>
              <a:rPr b="1" i="0" lang="en-US" sz="225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{{A1_TOP}}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 txBox="1"/>
          <p:nvPr/>
        </p:nvSpPr>
        <p:spPr>
          <a:xfrm>
            <a:off x="6858000" y="5447995"/>
            <a:ext cx="924458" cy="277063"/>
          </a:xfrm>
          <a:prstGeom prst="rect">
            <a:avLst/>
          </a:prstGeom>
          <a:solidFill>
            <a:srgbClr val="2BB673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500" lIns="114300" spcFirstLastPara="1" rIns="114300" wrap="square" tIns="63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PROTEGER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 txBox="1"/>
          <p:nvPr/>
        </p:nvSpPr>
        <p:spPr>
          <a:xfrm>
            <a:off x="6858000" y="6476695"/>
            <a:ext cx="457200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Evidência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 txBox="1"/>
          <p:nvPr/>
        </p:nvSpPr>
        <p:spPr>
          <a:xfrm>
            <a:off x="6858000" y="6715354"/>
            <a:ext cx="4572000" cy="2386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{{A1_EV}}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 txBox="1"/>
          <p:nvPr/>
        </p:nvSpPr>
        <p:spPr>
          <a:xfrm>
            <a:off x="6858000" y="7239305"/>
            <a:ext cx="457200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Por que importa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 txBox="1"/>
          <p:nvPr/>
        </p:nvSpPr>
        <p:spPr>
          <a:xfrm>
            <a:off x="6858000" y="7477049"/>
            <a:ext cx="4572000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[Interpretação do HRBP]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 txBox="1"/>
          <p:nvPr/>
        </p:nvSpPr>
        <p:spPr>
          <a:xfrm>
            <a:off x="6858000" y="8001000"/>
            <a:ext cx="457200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5CF5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895CF5"/>
                </a:solidFill>
                <a:latin typeface="Poppins"/>
                <a:ea typeface="Poppins"/>
                <a:cs typeface="Poppins"/>
                <a:sym typeface="Poppins"/>
              </a:rPr>
              <a:t>Percepção das pessoas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 txBox="1"/>
          <p:nvPr/>
        </p:nvSpPr>
        <p:spPr>
          <a:xfrm>
            <a:off x="6858000" y="8238744"/>
            <a:ext cx="4572000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200"/>
              <a:buFont typeface="Poppins"/>
              <a:buNone/>
            </a:pPr>
            <a:r>
              <a:rPr b="0" i="1" lang="en-US" sz="1200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[Tema positivo recorrente, breve]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 txBox="1"/>
          <p:nvPr/>
        </p:nvSpPr>
        <p:spPr>
          <a:xfrm>
            <a:off x="12191695" y="5896051"/>
            <a:ext cx="4572000" cy="362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2250"/>
              <a:buFont typeface="Sora"/>
              <a:buNone/>
            </a:pPr>
            <a:r>
              <a:rPr b="1" i="0" lang="en-US" sz="225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{{A2_TOP}}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 txBox="1"/>
          <p:nvPr/>
        </p:nvSpPr>
        <p:spPr>
          <a:xfrm>
            <a:off x="12191695" y="5447995"/>
            <a:ext cx="924458" cy="277063"/>
          </a:xfrm>
          <a:prstGeom prst="rect">
            <a:avLst/>
          </a:prstGeom>
          <a:solidFill>
            <a:srgbClr val="2BB673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500" lIns="114300" spcFirstLastPara="1" rIns="114300" wrap="square" tIns="63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PROTEGER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 txBox="1"/>
          <p:nvPr/>
        </p:nvSpPr>
        <p:spPr>
          <a:xfrm>
            <a:off x="12191695" y="6476695"/>
            <a:ext cx="457200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Evidência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 txBox="1"/>
          <p:nvPr/>
        </p:nvSpPr>
        <p:spPr>
          <a:xfrm>
            <a:off x="12191695" y="6715354"/>
            <a:ext cx="4572000" cy="2386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{{A2_EV}}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 txBox="1"/>
          <p:nvPr/>
        </p:nvSpPr>
        <p:spPr>
          <a:xfrm>
            <a:off x="12191695" y="7239305"/>
            <a:ext cx="457200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Por que importa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 txBox="1"/>
          <p:nvPr/>
        </p:nvSpPr>
        <p:spPr>
          <a:xfrm>
            <a:off x="12191695" y="7477049"/>
            <a:ext cx="4572000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[Interpretação do HRBP]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 txBox="1"/>
          <p:nvPr/>
        </p:nvSpPr>
        <p:spPr>
          <a:xfrm>
            <a:off x="12191695" y="8001000"/>
            <a:ext cx="457200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5CF5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895CF5"/>
                </a:solidFill>
                <a:latin typeface="Poppins"/>
                <a:ea typeface="Poppins"/>
                <a:cs typeface="Poppins"/>
                <a:sym typeface="Poppins"/>
              </a:rPr>
              <a:t>Percepção das pessoas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 txBox="1"/>
          <p:nvPr/>
        </p:nvSpPr>
        <p:spPr>
          <a:xfrm>
            <a:off x="12191695" y="8238744"/>
            <a:ext cx="4572000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200"/>
              <a:buFont typeface="Poppins"/>
              <a:buNone/>
            </a:pPr>
            <a:r>
              <a:rPr b="0" i="1" lang="en-US" sz="1200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[Tema positivo recorrente, breve]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 txBox="1"/>
          <p:nvPr/>
        </p:nvSpPr>
        <p:spPr>
          <a:xfrm>
            <a:off x="1524305" y="9105595"/>
            <a:ext cx="22860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68A14"/>
              </a:buClr>
              <a:buSzPts val="1350"/>
              <a:buFont typeface="Sora"/>
              <a:buNone/>
            </a:pPr>
            <a:r>
              <a:rPr b="1" i="0" lang="en-US" sz="1350" u="none" cap="none" strike="noStrike">
                <a:solidFill>
                  <a:srgbClr val="B68A14"/>
                </a:solidFill>
                <a:latin typeface="Sora"/>
                <a:ea typeface="Sora"/>
                <a:cs typeface="Sora"/>
                <a:sym typeface="Sora"/>
              </a:rPr>
              <a:t>Para refletir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 txBox="1"/>
          <p:nvPr/>
        </p:nvSpPr>
        <p:spPr>
          <a:xfrm>
            <a:off x="1524305" y="9372600"/>
            <a:ext cx="228600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825"/>
              <a:buFont typeface="Poppins"/>
              <a:buNone/>
            </a:pPr>
            <a:r>
              <a:rPr b="0" i="0" lang="en-US" sz="825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LIDERANÇA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 txBox="1"/>
          <p:nvPr/>
        </p:nvSpPr>
        <p:spPr>
          <a:xfrm>
            <a:off x="4381805" y="9084564"/>
            <a:ext cx="12382805" cy="449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O que estamos fazendo hoje que pode estar contribuindo para essas forças?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O que precisamos preservar conscientemente à medida que a organização evolui?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 txBox="1"/>
          <p:nvPr/>
        </p:nvSpPr>
        <p:spPr>
          <a:xfrm>
            <a:off x="16668598" y="9773107"/>
            <a:ext cx="680314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050"/>
              <a:buFont typeface="Sora"/>
              <a:buNone/>
            </a:pPr>
            <a:r>
              <a:rPr b="0" i="0" lang="en-US" sz="1050" u="none" cap="none" strike="noStrike">
                <a:solidFill>
                  <a:srgbClr val="4B5274"/>
                </a:solidFill>
                <a:latin typeface="Sora"/>
                <a:ea typeface="Sora"/>
                <a:cs typeface="Sora"/>
                <a:sym typeface="Sora"/>
              </a:rPr>
              <a:t>07 / 13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D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571723da0b9e7496659dc38ed713a537.png" id="321" name="Google Shape;321;p10"/>
          <p:cNvPicPr preferRelativeResize="0"/>
          <p:nvPr/>
        </p:nvPicPr>
        <p:blipFill rotWithShape="1">
          <a:blip r:embed="rId3">
            <a:alphaModFix/>
          </a:blip>
          <a:srcRect b="0" l="-2083" r="-2083" t="0"/>
          <a:stretch/>
        </p:blipFill>
        <p:spPr>
          <a:xfrm>
            <a:off x="1143000" y="2095805"/>
            <a:ext cx="16002000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0"/>
          <p:cNvSpPr/>
          <p:nvPr/>
        </p:nvSpPr>
        <p:spPr>
          <a:xfrm>
            <a:off x="1143000" y="4953305"/>
            <a:ext cx="8572500" cy="123809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0"/>
          <p:cNvSpPr/>
          <p:nvPr/>
        </p:nvSpPr>
        <p:spPr>
          <a:xfrm>
            <a:off x="1143000" y="6286500"/>
            <a:ext cx="8572500" cy="123809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0"/>
          <p:cNvSpPr/>
          <p:nvPr/>
        </p:nvSpPr>
        <p:spPr>
          <a:xfrm>
            <a:off x="1143000" y="7619695"/>
            <a:ext cx="8572500" cy="123809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0"/>
          <p:cNvSpPr/>
          <p:nvPr/>
        </p:nvSpPr>
        <p:spPr>
          <a:xfrm>
            <a:off x="10096805" y="4953305"/>
            <a:ext cx="7048195" cy="2572207"/>
          </a:xfrm>
          <a:prstGeom prst="rect">
            <a:avLst/>
          </a:prstGeom>
          <a:solidFill>
            <a:srgbClr val="EAF0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0"/>
          <p:cNvSpPr/>
          <p:nvPr/>
        </p:nvSpPr>
        <p:spPr>
          <a:xfrm>
            <a:off x="1143000" y="9144000"/>
            <a:ext cx="8572500" cy="609905"/>
          </a:xfrm>
          <a:prstGeom prst="rect">
            <a:avLst/>
          </a:prstGeom>
          <a:solidFill>
            <a:srgbClr val="16215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cfebd8b11c244f877cb9af815970164b.png" id="327" name="Google Shape;327;p10"/>
          <p:cNvPicPr preferRelativeResize="0"/>
          <p:nvPr/>
        </p:nvPicPr>
        <p:blipFill rotWithShape="1">
          <a:blip r:embed="rId4">
            <a:alphaModFix/>
          </a:blip>
          <a:srcRect b="0" l="-406" r="-406" t="0"/>
          <a:stretch/>
        </p:blipFill>
        <p:spPr>
          <a:xfrm>
            <a:off x="1143000" y="4953305"/>
            <a:ext cx="57607" cy="12380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fc12ba6508b39f2df81698200ac048b2.png" id="328" name="Google Shape;328;p10"/>
          <p:cNvPicPr preferRelativeResize="0"/>
          <p:nvPr/>
        </p:nvPicPr>
        <p:blipFill rotWithShape="1">
          <a:blip r:embed="rId5">
            <a:alphaModFix/>
          </a:blip>
          <a:srcRect b="0" l="-406" r="-406" t="0"/>
          <a:stretch/>
        </p:blipFill>
        <p:spPr>
          <a:xfrm>
            <a:off x="1143000" y="6286500"/>
            <a:ext cx="57607" cy="12380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cfebd8b11c244f877cb9af815970164b.png" id="329" name="Google Shape;329;p10"/>
          <p:cNvPicPr preferRelativeResize="0"/>
          <p:nvPr/>
        </p:nvPicPr>
        <p:blipFill rotWithShape="1">
          <a:blip r:embed="rId4">
            <a:alphaModFix/>
          </a:blip>
          <a:srcRect b="0" l="-406" r="-406" t="0"/>
          <a:stretch/>
        </p:blipFill>
        <p:spPr>
          <a:xfrm>
            <a:off x="1143000" y="7619695"/>
            <a:ext cx="57607" cy="12380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c0c4c30db12edd56752663768ca831d6.png" id="330" name="Google Shape;330;p10"/>
          <p:cNvPicPr preferRelativeResize="0"/>
          <p:nvPr/>
        </p:nvPicPr>
        <p:blipFill rotWithShape="1">
          <a:blip r:embed="rId6">
            <a:alphaModFix/>
          </a:blip>
          <a:srcRect b="0" l="-391" r="-391" t="0"/>
          <a:stretch/>
        </p:blipFill>
        <p:spPr>
          <a:xfrm>
            <a:off x="10096805" y="4953305"/>
            <a:ext cx="57607" cy="2572207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0"/>
          <p:cNvSpPr/>
          <p:nvPr/>
        </p:nvSpPr>
        <p:spPr>
          <a:xfrm>
            <a:off x="10096805" y="7715707"/>
            <a:ext cx="7067398" cy="1733702"/>
          </a:xfrm>
          <a:prstGeom prst="rect">
            <a:avLst/>
          </a:prstGeom>
          <a:solidFill>
            <a:srgbClr val="FBFBFD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0"/>
          <p:cNvSpPr/>
          <p:nvPr/>
        </p:nvSpPr>
        <p:spPr>
          <a:xfrm>
            <a:off x="1143000" y="1143000"/>
            <a:ext cx="571500" cy="571500"/>
          </a:xfrm>
          <a:prstGeom prst="ellipse">
            <a:avLst/>
          </a:prstGeom>
          <a:solidFill>
            <a:srgbClr val="D5225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0"/>
          <p:cNvSpPr txBox="1"/>
          <p:nvPr/>
        </p:nvSpPr>
        <p:spPr>
          <a:xfrm>
            <a:off x="1352398" y="1285646"/>
            <a:ext cx="162763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or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 txBox="1"/>
          <p:nvPr/>
        </p:nvSpPr>
        <p:spPr>
          <a:xfrm>
            <a:off x="1904695" y="1333195"/>
            <a:ext cx="6667805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225D"/>
              </a:buClr>
              <a:buSzPts val="975"/>
              <a:buFont typeface="Poppins"/>
              <a:buNone/>
            </a:pPr>
            <a:r>
              <a:rPr b="1" i="0" lang="en-US" sz="975" u="none" cap="none" strike="noStrike">
                <a:solidFill>
                  <a:srgbClr val="D5225D"/>
                </a:solidFill>
                <a:latin typeface="Poppins"/>
                <a:ea typeface="Poppins"/>
                <a:cs typeface="Poppins"/>
                <a:sym typeface="Poppins"/>
              </a:rPr>
              <a:t>Questões que merecem atenção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0"/>
          <p:cNvSpPr txBox="1"/>
          <p:nvPr/>
        </p:nvSpPr>
        <p:spPr>
          <a:xfrm>
            <a:off x="1143000" y="2381098"/>
            <a:ext cx="13335610" cy="12006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4500"/>
              <a:buFont typeface="Sora"/>
              <a:buNone/>
            </a:pPr>
            <a:r>
              <a:rPr b="1" i="0" lang="en-US" sz="45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Onde devemos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5225D"/>
              </a:buClr>
              <a:buSzPts val="4500"/>
              <a:buFont typeface="Sora"/>
              <a:buNone/>
            </a:pPr>
            <a:r>
              <a:rPr b="1" i="1" lang="en-US" sz="4500" u="none" cap="none" strike="noStrike">
                <a:solidFill>
                  <a:srgbClr val="D5225D"/>
                </a:solidFill>
                <a:latin typeface="Sora"/>
                <a:ea typeface="Sora"/>
                <a:cs typeface="Sora"/>
                <a:sym typeface="Sora"/>
              </a:rPr>
              <a:t>prestar atenção?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 txBox="1"/>
          <p:nvPr/>
        </p:nvSpPr>
        <p:spPr>
          <a:xfrm>
            <a:off x="1143000" y="4095598"/>
            <a:ext cx="1428750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0285FF"/>
                </a:solidFill>
                <a:latin typeface="Poppins"/>
                <a:ea typeface="Poppins"/>
                <a:cs typeface="Poppins"/>
                <a:sym typeface="Poppins"/>
              </a:rPr>
              <a:t>Síntese do HRBP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 txBox="1"/>
          <p:nvPr/>
        </p:nvSpPr>
        <p:spPr>
          <a:xfrm>
            <a:off x="1143000" y="4371746"/>
            <a:ext cx="14287500" cy="314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650"/>
              <a:buFont typeface="Sora"/>
              <a:buNone/>
            </a:pPr>
            <a:r>
              <a:rPr b="0" i="1" lang="en-US" sz="1650" u="none" cap="none" strike="noStrike">
                <a:solidFill>
                  <a:srgbClr val="131A40"/>
                </a:solidFill>
                <a:latin typeface="Sora"/>
                <a:ea typeface="Sora"/>
                <a:cs typeface="Sora"/>
                <a:sym typeface="Sora"/>
              </a:rPr>
              <a:t>{{S8_SINTESE}}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 txBox="1"/>
          <p:nvPr/>
        </p:nvSpPr>
        <p:spPr>
          <a:xfrm>
            <a:off x="1524305" y="5505602"/>
            <a:ext cx="3620110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1800"/>
              <a:buFont typeface="Sora"/>
              <a:buNone/>
            </a:pPr>
            <a:r>
              <a:rPr b="1" i="0" lang="en-US" sz="18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{{F0_TOP}}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 txBox="1"/>
          <p:nvPr/>
        </p:nvSpPr>
        <p:spPr>
          <a:xfrm>
            <a:off x="1524305" y="5143500"/>
            <a:ext cx="676656" cy="247802"/>
          </a:xfrm>
          <a:prstGeom prst="rect">
            <a:avLst/>
          </a:prstGeom>
          <a:solidFill>
            <a:srgbClr val="D5225D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101600" spcFirstLastPara="1" rIns="1016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Poppi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TRATAR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 txBox="1"/>
          <p:nvPr/>
        </p:nvSpPr>
        <p:spPr>
          <a:xfrm>
            <a:off x="5333695" y="5143500"/>
            <a:ext cx="4096512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Evidência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 txBox="1"/>
          <p:nvPr/>
        </p:nvSpPr>
        <p:spPr>
          <a:xfrm>
            <a:off x="5333695" y="5362956"/>
            <a:ext cx="4355287" cy="2002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{{F0_EV}}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 txBox="1"/>
          <p:nvPr/>
        </p:nvSpPr>
        <p:spPr>
          <a:xfrm>
            <a:off x="5333695" y="5639105"/>
            <a:ext cx="4096512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0285FF"/>
                </a:solidFill>
                <a:latin typeface="Poppins"/>
                <a:ea typeface="Poppins"/>
                <a:cs typeface="Poppins"/>
                <a:sym typeface="Poppins"/>
              </a:rPr>
              <a:t>Leitura do HRBP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"/>
          <p:cNvSpPr txBox="1"/>
          <p:nvPr/>
        </p:nvSpPr>
        <p:spPr>
          <a:xfrm>
            <a:off x="5333695" y="5857646"/>
            <a:ext cx="4096512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[1–2 frases]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 txBox="1"/>
          <p:nvPr/>
        </p:nvSpPr>
        <p:spPr>
          <a:xfrm>
            <a:off x="1524305" y="6838798"/>
            <a:ext cx="3620110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1800"/>
              <a:buFont typeface="Sora"/>
              <a:buNone/>
            </a:pPr>
            <a:r>
              <a:rPr b="1" i="0" lang="en-US" sz="18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{{F1_TOP}}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 txBox="1"/>
          <p:nvPr/>
        </p:nvSpPr>
        <p:spPr>
          <a:xfrm>
            <a:off x="1524305" y="6476695"/>
            <a:ext cx="1028700" cy="247802"/>
          </a:xfrm>
          <a:prstGeom prst="rect">
            <a:avLst/>
          </a:prstGeom>
          <a:solidFill>
            <a:srgbClr val="B68A14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101600" spcFirstLastPara="1" rIns="1016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Poppi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APROFUNDAR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 txBox="1"/>
          <p:nvPr/>
        </p:nvSpPr>
        <p:spPr>
          <a:xfrm>
            <a:off x="5333695" y="6476695"/>
            <a:ext cx="4096512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Evidência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 txBox="1"/>
          <p:nvPr/>
        </p:nvSpPr>
        <p:spPr>
          <a:xfrm>
            <a:off x="5333695" y="6696151"/>
            <a:ext cx="4355287" cy="2002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{{F1_EV}}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"/>
          <p:cNvSpPr txBox="1"/>
          <p:nvPr/>
        </p:nvSpPr>
        <p:spPr>
          <a:xfrm>
            <a:off x="5333695" y="6972300"/>
            <a:ext cx="4096512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0285FF"/>
                </a:solidFill>
                <a:latin typeface="Poppins"/>
                <a:ea typeface="Poppins"/>
                <a:cs typeface="Poppins"/>
                <a:sym typeface="Poppins"/>
              </a:rPr>
              <a:t>Leitura do HRBP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 txBox="1"/>
          <p:nvPr/>
        </p:nvSpPr>
        <p:spPr>
          <a:xfrm>
            <a:off x="5333695" y="7191756"/>
            <a:ext cx="4096512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[1–2 frases]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 txBox="1"/>
          <p:nvPr/>
        </p:nvSpPr>
        <p:spPr>
          <a:xfrm>
            <a:off x="1524305" y="8172907"/>
            <a:ext cx="3620110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1800"/>
              <a:buFont typeface="Sora"/>
              <a:buNone/>
            </a:pPr>
            <a:r>
              <a:rPr b="1" i="0" lang="en-US" sz="18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{{F2_TOP}}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 txBox="1"/>
          <p:nvPr/>
        </p:nvSpPr>
        <p:spPr>
          <a:xfrm>
            <a:off x="1524305" y="7810805"/>
            <a:ext cx="676656" cy="247802"/>
          </a:xfrm>
          <a:prstGeom prst="rect">
            <a:avLst/>
          </a:prstGeom>
          <a:solidFill>
            <a:srgbClr val="D5225D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101600" spcFirstLastPara="1" rIns="1016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Poppin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TRATAR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 txBox="1"/>
          <p:nvPr/>
        </p:nvSpPr>
        <p:spPr>
          <a:xfrm>
            <a:off x="5333695" y="7810805"/>
            <a:ext cx="4096512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Evidência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 txBox="1"/>
          <p:nvPr/>
        </p:nvSpPr>
        <p:spPr>
          <a:xfrm>
            <a:off x="5333695" y="8029346"/>
            <a:ext cx="4355287" cy="2002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{{F2_EV}}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 txBox="1"/>
          <p:nvPr/>
        </p:nvSpPr>
        <p:spPr>
          <a:xfrm>
            <a:off x="5333695" y="8305495"/>
            <a:ext cx="4096512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0285FF"/>
                </a:solidFill>
                <a:latin typeface="Poppins"/>
                <a:ea typeface="Poppins"/>
                <a:cs typeface="Poppins"/>
                <a:sym typeface="Poppins"/>
              </a:rPr>
              <a:t>Leitura do HRBP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 txBox="1"/>
          <p:nvPr/>
        </p:nvSpPr>
        <p:spPr>
          <a:xfrm>
            <a:off x="5333695" y="8524951"/>
            <a:ext cx="4096512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[1–2 frases]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 txBox="1"/>
          <p:nvPr/>
        </p:nvSpPr>
        <p:spPr>
          <a:xfrm>
            <a:off x="10477195" y="5201107"/>
            <a:ext cx="628650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5CF5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895CF5"/>
                </a:solidFill>
                <a:latin typeface="Poppins"/>
                <a:ea typeface="Poppins"/>
                <a:cs typeface="Poppins"/>
                <a:sym typeface="Poppins"/>
              </a:rPr>
              <a:t>O que as pessoas estão dizendo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 txBox="1"/>
          <p:nvPr/>
        </p:nvSpPr>
        <p:spPr>
          <a:xfrm>
            <a:off x="10477195" y="5465369"/>
            <a:ext cx="6286500" cy="564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962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350"/>
              <a:buFont typeface="Poppins"/>
              <a:buNone/>
            </a:pPr>
            <a:r>
              <a:rPr b="0" i="0" lang="en-US" sz="1350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[2–3 percepções recorrentes ligadas às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4962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350"/>
              <a:buFont typeface="Poppins"/>
              <a:buNone/>
            </a:pPr>
            <a:r>
              <a:rPr b="0" i="0" lang="en-US" sz="1350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fricções identificadas. Mantenha curtas.]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 txBox="1"/>
          <p:nvPr/>
        </p:nvSpPr>
        <p:spPr>
          <a:xfrm>
            <a:off x="10477195" y="6255410"/>
            <a:ext cx="2581351" cy="49560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9700" lIns="190500" spcFirstLastPara="1" rIns="190500" wrap="square" tIns="139700">
            <a:noAutofit/>
          </a:bodyPr>
          <a:lstStyle/>
          <a:p>
            <a:pPr indent="0" lvl="0" marL="0" marR="0" rtl="0" algn="l">
              <a:lnSpc>
                <a:spcPct val="155022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1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“[comentário anônimo breve]”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0"/>
          <p:cNvSpPr txBox="1"/>
          <p:nvPr/>
        </p:nvSpPr>
        <p:spPr>
          <a:xfrm>
            <a:off x="10477195" y="8001000"/>
            <a:ext cx="628650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0285FF"/>
                </a:solidFill>
                <a:latin typeface="Poppins"/>
                <a:ea typeface="Poppins"/>
                <a:cs typeface="Poppins"/>
                <a:sym typeface="Poppins"/>
              </a:rPr>
              <a:t>Dashboard de apoio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0"/>
          <p:cNvSpPr txBox="1"/>
          <p:nvPr/>
        </p:nvSpPr>
        <p:spPr>
          <a:xfrm>
            <a:off x="10477195" y="8275320"/>
            <a:ext cx="6286500" cy="449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125"/>
              <a:buFont typeface="Poppins"/>
              <a:buNone/>
            </a:pPr>
            <a:r>
              <a:rPr b="0" i="1" lang="en-US" sz="1125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[COLE A EVIDÊNCIA DO DASHBOARD AQUI — SOMENTE A VISÃO QUE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125"/>
              <a:buFont typeface="Poppins"/>
              <a:buNone/>
            </a:pPr>
            <a:r>
              <a:rPr b="0" i="1" lang="en-US" sz="1125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AJUDA A QUANTIFICAR O ACHADO]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 txBox="1"/>
          <p:nvPr/>
        </p:nvSpPr>
        <p:spPr>
          <a:xfrm>
            <a:off x="1524305" y="9277502"/>
            <a:ext cx="800100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CD4B"/>
              </a:buClr>
              <a:buSzPts val="1050"/>
              <a:buFont typeface="Sora"/>
              <a:buNone/>
            </a:pPr>
            <a:r>
              <a:rPr b="1" i="0" lang="en-US" sz="1050" u="none" cap="none" strike="noStrike">
                <a:solidFill>
                  <a:srgbClr val="F8CD4B"/>
                </a:solidFill>
                <a:latin typeface="Sora"/>
                <a:ea typeface="Sora"/>
                <a:cs typeface="Sora"/>
                <a:sym typeface="Sora"/>
              </a:rPr>
              <a:t>Para refletir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0"/>
          <p:cNvSpPr txBox="1"/>
          <p:nvPr/>
        </p:nvSpPr>
        <p:spPr>
          <a:xfrm>
            <a:off x="1524305" y="9525305"/>
            <a:ext cx="8355787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que vocês reconhecem nesses achados? O que pode ajudar a explicar essa experiência no {{AREA}}?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 txBox="1"/>
          <p:nvPr/>
        </p:nvSpPr>
        <p:spPr>
          <a:xfrm>
            <a:off x="16660368" y="9773107"/>
            <a:ext cx="681228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050"/>
              <a:buFont typeface="Sora"/>
              <a:buNone/>
            </a:pPr>
            <a:r>
              <a:rPr b="0" i="0" lang="en-US" sz="1050" u="none" cap="none" strike="noStrike">
                <a:solidFill>
                  <a:srgbClr val="4B5274"/>
                </a:solidFill>
                <a:latin typeface="Sora"/>
                <a:ea typeface="Sora"/>
                <a:cs typeface="Sora"/>
                <a:sym typeface="Sora"/>
              </a:rPr>
              <a:t>08 / 13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D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571723da0b9e7496659dc38ed713a537.png" id="369" name="Google Shape;369;p11"/>
          <p:cNvPicPr preferRelativeResize="0"/>
          <p:nvPr/>
        </p:nvPicPr>
        <p:blipFill rotWithShape="1">
          <a:blip r:embed="rId3">
            <a:alphaModFix/>
          </a:blip>
          <a:srcRect b="0" l="-2083" r="-2083" t="0"/>
          <a:stretch/>
        </p:blipFill>
        <p:spPr>
          <a:xfrm>
            <a:off x="1143000" y="2095805"/>
            <a:ext cx="16002000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11"/>
          <p:cNvSpPr/>
          <p:nvPr/>
        </p:nvSpPr>
        <p:spPr>
          <a:xfrm>
            <a:off x="1143000" y="5143500"/>
            <a:ext cx="7429500" cy="323880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1"/>
          <p:cNvSpPr/>
          <p:nvPr/>
        </p:nvSpPr>
        <p:spPr>
          <a:xfrm>
            <a:off x="8762695" y="5143500"/>
            <a:ext cx="8382305" cy="323880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1"/>
          <p:cNvSpPr/>
          <p:nvPr/>
        </p:nvSpPr>
        <p:spPr>
          <a:xfrm>
            <a:off x="1143000" y="8686800"/>
            <a:ext cx="971550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1"/>
          <p:cNvSpPr/>
          <p:nvPr/>
        </p:nvSpPr>
        <p:spPr>
          <a:xfrm>
            <a:off x="11239805" y="8419795"/>
            <a:ext cx="5905195" cy="1447495"/>
          </a:xfrm>
          <a:prstGeom prst="rect">
            <a:avLst/>
          </a:prstGeom>
          <a:solidFill>
            <a:srgbClr val="EAF0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4b55038ac9931b702eeae16fa65097e1.png" id="374" name="Google Shape;374;p11"/>
          <p:cNvPicPr preferRelativeResize="0"/>
          <p:nvPr/>
        </p:nvPicPr>
        <p:blipFill rotWithShape="1">
          <a:blip r:embed="rId4">
            <a:alphaModFix/>
          </a:blip>
          <a:srcRect b="-400" l="0" r="0" t="-400"/>
          <a:stretch/>
        </p:blipFill>
        <p:spPr>
          <a:xfrm>
            <a:off x="1143000" y="5143500"/>
            <a:ext cx="7429500" cy="57607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11"/>
          <p:cNvSpPr/>
          <p:nvPr/>
        </p:nvSpPr>
        <p:spPr>
          <a:xfrm>
            <a:off x="5524805" y="5467198"/>
            <a:ext cx="2686507" cy="1543507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8f1d9b6cf2357ded5b3a924ef60bc931.png" id="376" name="Google Shape;376;p11"/>
          <p:cNvPicPr preferRelativeResize="0"/>
          <p:nvPr/>
        </p:nvPicPr>
        <p:blipFill rotWithShape="1">
          <a:blip r:embed="rId5">
            <a:alphaModFix/>
          </a:blip>
          <a:srcRect b="-398" l="0" r="0" t="-398"/>
          <a:stretch/>
        </p:blipFill>
        <p:spPr>
          <a:xfrm>
            <a:off x="8762695" y="5143500"/>
            <a:ext cx="8382305" cy="57607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1"/>
          <p:cNvSpPr/>
          <p:nvPr/>
        </p:nvSpPr>
        <p:spPr>
          <a:xfrm>
            <a:off x="13144500" y="5467198"/>
            <a:ext cx="3638398" cy="1543507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b18a5eabbc8021883d6efb3f6c7a4d64.png" id="378" name="Google Shape;378;p11"/>
          <p:cNvPicPr preferRelativeResize="0"/>
          <p:nvPr/>
        </p:nvPicPr>
        <p:blipFill rotWithShape="1">
          <a:blip r:embed="rId6">
            <a:alphaModFix/>
          </a:blip>
          <a:srcRect b="0" l="-411" r="-411" t="0"/>
          <a:stretch/>
        </p:blipFill>
        <p:spPr>
          <a:xfrm>
            <a:off x="11239805" y="8419795"/>
            <a:ext cx="57607" cy="14474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d46ce620dca7890a08957b0984a11f2a.png" id="379" name="Google Shape;379;p11"/>
          <p:cNvPicPr preferRelativeResize="0"/>
          <p:nvPr/>
        </p:nvPicPr>
        <p:blipFill rotWithShape="1">
          <a:blip r:embed="rId7">
            <a:alphaModFix/>
          </a:blip>
          <a:srcRect b="0" l="-2083" r="-2083" t="0"/>
          <a:stretch/>
        </p:blipFill>
        <p:spPr>
          <a:xfrm>
            <a:off x="1143000" y="8686800"/>
            <a:ext cx="9715500" cy="91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d46ce620dca7890a08957b0984a11f2a.png" id="380" name="Google Shape;380;p11"/>
          <p:cNvPicPr preferRelativeResize="0"/>
          <p:nvPr/>
        </p:nvPicPr>
        <p:blipFill rotWithShape="1">
          <a:blip r:embed="rId7">
            <a:alphaModFix/>
          </a:blip>
          <a:srcRect b="0" l="-2083" r="-2083" t="0"/>
          <a:stretch/>
        </p:blipFill>
        <p:spPr>
          <a:xfrm>
            <a:off x="1143000" y="9849002"/>
            <a:ext cx="9715500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11"/>
          <p:cNvSpPr/>
          <p:nvPr/>
        </p:nvSpPr>
        <p:spPr>
          <a:xfrm>
            <a:off x="1143000" y="1143000"/>
            <a:ext cx="571500" cy="571500"/>
          </a:xfrm>
          <a:prstGeom prst="ellipse">
            <a:avLst/>
          </a:prstGeom>
          <a:solidFill>
            <a:srgbClr val="D5225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1"/>
          <p:cNvSpPr txBox="1"/>
          <p:nvPr/>
        </p:nvSpPr>
        <p:spPr>
          <a:xfrm>
            <a:off x="1350569" y="1285646"/>
            <a:ext cx="162763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or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1"/>
          <p:cNvSpPr txBox="1"/>
          <p:nvPr/>
        </p:nvSpPr>
        <p:spPr>
          <a:xfrm>
            <a:off x="1904695" y="1333195"/>
            <a:ext cx="8572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225D"/>
              </a:buClr>
              <a:buSzPts val="975"/>
              <a:buFont typeface="Poppins"/>
              <a:buNone/>
            </a:pPr>
            <a:r>
              <a:rPr b="1" i="0" lang="en-US" sz="975" u="none" cap="none" strike="noStrike">
                <a:solidFill>
                  <a:srgbClr val="D5225D"/>
                </a:solidFill>
                <a:latin typeface="Poppins"/>
                <a:ea typeface="Poppins"/>
                <a:cs typeface="Poppins"/>
                <a:sym typeface="Poppins"/>
              </a:rPr>
              <a:t>Diferenças entre populações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1"/>
          <p:cNvSpPr txBox="1"/>
          <p:nvPr/>
        </p:nvSpPr>
        <p:spPr>
          <a:xfrm>
            <a:off x="1143000" y="2381098"/>
            <a:ext cx="14287500" cy="1162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4350"/>
              <a:buFont typeface="Sora"/>
              <a:buNone/>
            </a:pPr>
            <a:r>
              <a:rPr b="1" i="0" lang="en-US" sz="435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O risco de retenção </a:t>
            </a:r>
            <a:r>
              <a:rPr b="1" i="1" lang="en-US" sz="4350" u="none" cap="none" strike="noStrike">
                <a:solidFill>
                  <a:srgbClr val="D5225D"/>
                </a:solidFill>
                <a:latin typeface="Sora"/>
                <a:ea typeface="Sora"/>
                <a:cs typeface="Sora"/>
                <a:sym typeface="Sora"/>
              </a:rPr>
              <a:t>não se distribui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4350"/>
              <a:buFont typeface="Sora"/>
              <a:buNone/>
            </a:pPr>
            <a:r>
              <a:rPr b="1" i="0" lang="en-US" sz="435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necessariamente de forma igual.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1"/>
          <p:cNvSpPr txBox="1"/>
          <p:nvPr/>
        </p:nvSpPr>
        <p:spPr>
          <a:xfrm>
            <a:off x="1143000" y="4095598"/>
            <a:ext cx="1428750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0285FF"/>
                </a:solidFill>
                <a:latin typeface="Poppins"/>
                <a:ea typeface="Poppins"/>
                <a:cs typeface="Poppins"/>
                <a:sym typeface="Poppins"/>
              </a:rPr>
              <a:t>Resumo do HRBP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 txBox="1"/>
          <p:nvPr/>
        </p:nvSpPr>
        <p:spPr>
          <a:xfrm>
            <a:off x="1143000" y="4371746"/>
            <a:ext cx="13335610" cy="314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650"/>
              <a:buFont typeface="Sora"/>
              <a:buNone/>
            </a:pPr>
            <a:r>
              <a:rPr b="0" i="1" lang="en-US" sz="1650" u="none" cap="none" strike="noStrike">
                <a:solidFill>
                  <a:srgbClr val="131A40"/>
                </a:solidFill>
                <a:latin typeface="Sora"/>
                <a:ea typeface="Sora"/>
                <a:cs typeface="Sora"/>
                <a:sym typeface="Sora"/>
              </a:rPr>
              <a:t>[Se há diferenças significativas entre populações dentro do {{AREA}}]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1"/>
          <p:cNvSpPr txBox="1"/>
          <p:nvPr/>
        </p:nvSpPr>
        <p:spPr>
          <a:xfrm>
            <a:off x="1524305" y="5467198"/>
            <a:ext cx="3810305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0285FF"/>
                </a:solidFill>
                <a:latin typeface="Poppins"/>
                <a:ea typeface="Poppins"/>
                <a:cs typeface="Poppins"/>
                <a:sym typeface="Poppins"/>
              </a:rPr>
              <a:t>Por escopo de função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1"/>
          <p:cNvSpPr txBox="1"/>
          <p:nvPr/>
        </p:nvSpPr>
        <p:spPr>
          <a:xfrm>
            <a:off x="1524305" y="5724144"/>
            <a:ext cx="3810305" cy="724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2250"/>
              <a:buFont typeface="Sora"/>
              <a:buNone/>
            </a:pPr>
            <a:r>
              <a:rPr b="1" i="0" lang="en-US" sz="225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Lideranças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2250"/>
              <a:buFont typeface="Sora"/>
              <a:buNone/>
            </a:pPr>
            <a:r>
              <a:rPr b="1" i="0" lang="en-US" sz="225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vs pessoas individuais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1"/>
          <p:cNvSpPr txBox="1"/>
          <p:nvPr/>
        </p:nvSpPr>
        <p:spPr>
          <a:xfrm>
            <a:off x="5544007" y="5715000"/>
            <a:ext cx="2628900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800"/>
              <a:buFont typeface="Poppins"/>
              <a:buNone/>
            </a:pPr>
            <a:r>
              <a:rPr b="1" i="0" lang="en-US" sz="8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Dashboard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1"/>
          <p:cNvSpPr txBox="1"/>
          <p:nvPr/>
        </p:nvSpPr>
        <p:spPr>
          <a:xfrm>
            <a:off x="1524305" y="7429500"/>
            <a:ext cx="36201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0285FF"/>
                </a:solidFill>
                <a:latin typeface="Poppins"/>
                <a:ea typeface="Poppins"/>
                <a:cs typeface="Poppins"/>
                <a:sym typeface="Poppins"/>
              </a:rPr>
              <a:t>Leitura do HRBP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1"/>
          <p:cNvSpPr txBox="1"/>
          <p:nvPr/>
        </p:nvSpPr>
        <p:spPr>
          <a:xfrm>
            <a:off x="1524305" y="7667244"/>
            <a:ext cx="36201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[XX]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1"/>
          <p:cNvSpPr txBox="1"/>
          <p:nvPr/>
        </p:nvSpPr>
        <p:spPr>
          <a:xfrm>
            <a:off x="9144000" y="5467198"/>
            <a:ext cx="36201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5CF5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895CF5"/>
                </a:solidFill>
                <a:latin typeface="Poppins"/>
                <a:ea typeface="Poppins"/>
                <a:cs typeface="Poppins"/>
                <a:sym typeface="Poppins"/>
              </a:rPr>
              <a:t>Por tempo de casa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1"/>
          <p:cNvSpPr txBox="1"/>
          <p:nvPr/>
        </p:nvSpPr>
        <p:spPr>
          <a:xfrm>
            <a:off x="9144000" y="5724144"/>
            <a:ext cx="3620110" cy="1086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2250"/>
              <a:buFont typeface="Sora"/>
              <a:buNone/>
            </a:pPr>
            <a:r>
              <a:rPr b="1" i="0" lang="en-US" sz="225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Risco de retenção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2250"/>
              <a:buFont typeface="Sora"/>
              <a:buNone/>
            </a:pPr>
            <a:r>
              <a:rPr b="1" i="0" lang="en-US" sz="225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por faixa de tempo de casa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1"/>
          <p:cNvSpPr txBox="1"/>
          <p:nvPr/>
        </p:nvSpPr>
        <p:spPr>
          <a:xfrm>
            <a:off x="13278002" y="5715000"/>
            <a:ext cx="3372307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800"/>
              <a:buFont typeface="Poppins"/>
              <a:buNone/>
            </a:pPr>
            <a:r>
              <a:rPr b="1" i="0" lang="en-US" sz="8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Dashboard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1"/>
          <p:cNvSpPr txBox="1"/>
          <p:nvPr/>
        </p:nvSpPr>
        <p:spPr>
          <a:xfrm>
            <a:off x="9144000" y="7429500"/>
            <a:ext cx="36201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5CF5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895CF5"/>
                </a:solidFill>
                <a:latin typeface="Poppins"/>
                <a:ea typeface="Poppins"/>
                <a:cs typeface="Poppins"/>
                <a:sym typeface="Poppins"/>
              </a:rPr>
              <a:t>Leitura do HRBP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1"/>
          <p:cNvSpPr txBox="1"/>
          <p:nvPr/>
        </p:nvSpPr>
        <p:spPr>
          <a:xfrm>
            <a:off x="9144000" y="7667244"/>
            <a:ext cx="36201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[XX]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1"/>
          <p:cNvSpPr txBox="1"/>
          <p:nvPr/>
        </p:nvSpPr>
        <p:spPr>
          <a:xfrm>
            <a:off x="1143000" y="8449056"/>
            <a:ext cx="857250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0285FF"/>
                </a:solidFill>
                <a:latin typeface="Poppins"/>
                <a:ea typeface="Poppins"/>
                <a:cs typeface="Poppins"/>
                <a:sym typeface="Poppins"/>
              </a:rPr>
              <a:t>Tabela de populações — até 3–4 destacadas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1"/>
          <p:cNvSpPr txBox="1"/>
          <p:nvPr/>
        </p:nvSpPr>
        <p:spPr>
          <a:xfrm>
            <a:off x="1333195" y="8741664"/>
            <a:ext cx="1524305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População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1"/>
          <p:cNvSpPr txBox="1"/>
          <p:nvPr/>
        </p:nvSpPr>
        <p:spPr>
          <a:xfrm>
            <a:off x="3047695" y="8741664"/>
            <a:ext cx="114300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Risco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1"/>
          <p:cNvSpPr txBox="1"/>
          <p:nvPr/>
        </p:nvSpPr>
        <p:spPr>
          <a:xfrm>
            <a:off x="4381805" y="8741664"/>
            <a:ext cx="1524305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Benchmark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1"/>
          <p:cNvSpPr txBox="1"/>
          <p:nvPr/>
        </p:nvSpPr>
        <p:spPr>
          <a:xfrm>
            <a:off x="6096305" y="8741664"/>
            <a:ext cx="7626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1"/>
          <p:cNvSpPr txBox="1"/>
          <p:nvPr/>
        </p:nvSpPr>
        <p:spPr>
          <a:xfrm>
            <a:off x="7048195" y="8741664"/>
            <a:ext cx="36201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Qualificação HRBP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1"/>
          <p:cNvSpPr txBox="1"/>
          <p:nvPr/>
        </p:nvSpPr>
        <p:spPr>
          <a:xfrm>
            <a:off x="1333195" y="8979408"/>
            <a:ext cx="1524305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{{P_R0_C0}}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05;p11"/>
          <p:cNvSpPr txBox="1"/>
          <p:nvPr/>
        </p:nvSpPr>
        <p:spPr>
          <a:xfrm>
            <a:off x="1333195" y="9637776"/>
            <a:ext cx="1524305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{{P_R3_C0}}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05;p11"/>
          <p:cNvSpPr txBox="1"/>
          <p:nvPr/>
        </p:nvSpPr>
        <p:spPr>
          <a:xfrm>
            <a:off x="1333195" y="9418320"/>
            <a:ext cx="1524305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{{P_R2_C0}}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05;p11"/>
          <p:cNvSpPr txBox="1"/>
          <p:nvPr/>
        </p:nvSpPr>
        <p:spPr>
          <a:xfrm>
            <a:off x="1333195" y="9198864"/>
            <a:ext cx="1524305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{{P_R1_C0}}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1"/>
          <p:cNvSpPr txBox="1"/>
          <p:nvPr/>
        </p:nvSpPr>
        <p:spPr>
          <a:xfrm>
            <a:off x="3047695" y="8979408"/>
            <a:ext cx="114300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225D"/>
              </a:buClr>
              <a:buSzPts val="1050"/>
              <a:buFont typeface="Poppins"/>
              <a:buNone/>
            </a:pPr>
            <a:r>
              <a:rPr b="1" i="0" lang="en-US" sz="1050" u="none" cap="none" strike="noStrike">
                <a:solidFill>
                  <a:srgbClr val="D5225D"/>
                </a:solidFill>
                <a:latin typeface="Poppins"/>
                <a:ea typeface="Poppins"/>
                <a:cs typeface="Poppins"/>
                <a:sym typeface="Poppins"/>
              </a:rPr>
              <a:t>{{P_R0_C1}}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06;p11"/>
          <p:cNvSpPr txBox="1"/>
          <p:nvPr/>
        </p:nvSpPr>
        <p:spPr>
          <a:xfrm>
            <a:off x="3047695" y="9637776"/>
            <a:ext cx="114300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225D"/>
              </a:buClr>
              <a:buSzPts val="1050"/>
              <a:buFont typeface="Poppins"/>
              <a:buNone/>
            </a:pPr>
            <a:r>
              <a:rPr b="1" i="0" lang="en-US" sz="1050" u="none" cap="none" strike="noStrike">
                <a:solidFill>
                  <a:srgbClr val="D5225D"/>
                </a:solidFill>
                <a:latin typeface="Poppins"/>
                <a:ea typeface="Poppins"/>
                <a:cs typeface="Poppins"/>
                <a:sym typeface="Poppins"/>
              </a:rPr>
              <a:t>{{P_R3_C1}}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06;p11"/>
          <p:cNvSpPr txBox="1"/>
          <p:nvPr/>
        </p:nvSpPr>
        <p:spPr>
          <a:xfrm>
            <a:off x="3047695" y="9418320"/>
            <a:ext cx="114300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225D"/>
              </a:buClr>
              <a:buSzPts val="1050"/>
              <a:buFont typeface="Poppins"/>
              <a:buNone/>
            </a:pPr>
            <a:r>
              <a:rPr b="1" i="0" lang="en-US" sz="1050" u="none" cap="none" strike="noStrike">
                <a:solidFill>
                  <a:srgbClr val="D5225D"/>
                </a:solidFill>
                <a:latin typeface="Poppins"/>
                <a:ea typeface="Poppins"/>
                <a:cs typeface="Poppins"/>
                <a:sym typeface="Poppins"/>
              </a:rPr>
              <a:t>{{P_R2_C1}}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06;p11"/>
          <p:cNvSpPr txBox="1"/>
          <p:nvPr/>
        </p:nvSpPr>
        <p:spPr>
          <a:xfrm>
            <a:off x="3047695" y="9198864"/>
            <a:ext cx="114300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225D"/>
              </a:buClr>
              <a:buSzPts val="1050"/>
              <a:buFont typeface="Poppins"/>
              <a:buNone/>
            </a:pPr>
            <a:r>
              <a:rPr b="1" i="0" lang="en-US" sz="1050" u="none" cap="none" strike="noStrike">
                <a:solidFill>
                  <a:srgbClr val="D5225D"/>
                </a:solidFill>
                <a:latin typeface="Poppins"/>
                <a:ea typeface="Poppins"/>
                <a:cs typeface="Poppins"/>
                <a:sym typeface="Poppins"/>
              </a:rPr>
              <a:t>{{P_R1_C1}}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1"/>
          <p:cNvSpPr txBox="1"/>
          <p:nvPr/>
        </p:nvSpPr>
        <p:spPr>
          <a:xfrm>
            <a:off x="4381805" y="8979408"/>
            <a:ext cx="1524305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{{P_R0_C2}}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07;p11"/>
          <p:cNvSpPr txBox="1"/>
          <p:nvPr/>
        </p:nvSpPr>
        <p:spPr>
          <a:xfrm>
            <a:off x="4381805" y="9637776"/>
            <a:ext cx="1524305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{{P_R3_C2}}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07;p11"/>
          <p:cNvSpPr txBox="1"/>
          <p:nvPr/>
        </p:nvSpPr>
        <p:spPr>
          <a:xfrm>
            <a:off x="4381805" y="9418320"/>
            <a:ext cx="1524305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{{P_R2_C2}}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07;p11"/>
          <p:cNvSpPr txBox="1"/>
          <p:nvPr/>
        </p:nvSpPr>
        <p:spPr>
          <a:xfrm>
            <a:off x="4381805" y="9198864"/>
            <a:ext cx="1524305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{{P_R1_C2}}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1"/>
          <p:cNvSpPr txBox="1"/>
          <p:nvPr/>
        </p:nvSpPr>
        <p:spPr>
          <a:xfrm>
            <a:off x="6096305" y="8979408"/>
            <a:ext cx="76261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{{P_R0_C3}}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08;p11"/>
          <p:cNvSpPr txBox="1"/>
          <p:nvPr/>
        </p:nvSpPr>
        <p:spPr>
          <a:xfrm>
            <a:off x="6096305" y="9637776"/>
            <a:ext cx="76261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{{P_R3_C3}}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08;p11"/>
          <p:cNvSpPr txBox="1"/>
          <p:nvPr/>
        </p:nvSpPr>
        <p:spPr>
          <a:xfrm>
            <a:off x="6096305" y="9418320"/>
            <a:ext cx="76261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{{P_R2_C3}}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08;p11"/>
          <p:cNvSpPr txBox="1"/>
          <p:nvPr/>
        </p:nvSpPr>
        <p:spPr>
          <a:xfrm>
            <a:off x="6096305" y="9198864"/>
            <a:ext cx="76261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{{P_R1_C3}}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1"/>
          <p:cNvSpPr txBox="1"/>
          <p:nvPr/>
        </p:nvSpPr>
        <p:spPr>
          <a:xfrm>
            <a:off x="7048195" y="8979408"/>
            <a:ext cx="362011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050"/>
              <a:buFont typeface="Poppins"/>
              <a:buNone/>
            </a:pPr>
            <a:r>
              <a:rPr b="0" i="1" lang="en-US" sz="1050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{{P_R0_C4}}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09;p11"/>
          <p:cNvSpPr txBox="1"/>
          <p:nvPr/>
        </p:nvSpPr>
        <p:spPr>
          <a:xfrm>
            <a:off x="7048195" y="9637776"/>
            <a:ext cx="362011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050"/>
              <a:buFont typeface="Poppins"/>
              <a:buNone/>
            </a:pPr>
            <a:r>
              <a:rPr b="0" i="1" lang="en-US" sz="1050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{{P_R3_C4}}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09;p11"/>
          <p:cNvSpPr txBox="1"/>
          <p:nvPr/>
        </p:nvSpPr>
        <p:spPr>
          <a:xfrm>
            <a:off x="7048195" y="9418320"/>
            <a:ext cx="362011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050"/>
              <a:buFont typeface="Poppins"/>
              <a:buNone/>
            </a:pPr>
            <a:r>
              <a:rPr b="0" i="1" lang="en-US" sz="1050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{{P_R2_C4}}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09;p11"/>
          <p:cNvSpPr txBox="1"/>
          <p:nvPr/>
        </p:nvSpPr>
        <p:spPr>
          <a:xfrm>
            <a:off x="7048195" y="9198864"/>
            <a:ext cx="362011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050"/>
              <a:buFont typeface="Poppins"/>
              <a:buNone/>
            </a:pPr>
            <a:r>
              <a:rPr b="0" i="1" lang="en-US" sz="1050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{{P_R1_C4}}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1"/>
          <p:cNvSpPr txBox="1"/>
          <p:nvPr/>
        </p:nvSpPr>
        <p:spPr>
          <a:xfrm>
            <a:off x="11620195" y="8572500"/>
            <a:ext cx="525780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68A14"/>
              </a:buClr>
              <a:buSzPts val="975"/>
              <a:buFont typeface="Sora"/>
              <a:buNone/>
            </a:pPr>
            <a:r>
              <a:rPr b="1" i="0" lang="en-US" sz="975" u="none" cap="none" strike="noStrike">
                <a:solidFill>
                  <a:srgbClr val="B68A14"/>
                </a:solidFill>
                <a:latin typeface="Sora"/>
                <a:ea typeface="Sora"/>
                <a:cs typeface="Sora"/>
                <a:sym typeface="Sora"/>
              </a:rPr>
              <a:t>Diferenças entre populações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1"/>
          <p:cNvSpPr txBox="1"/>
          <p:nvPr/>
        </p:nvSpPr>
        <p:spPr>
          <a:xfrm>
            <a:off x="11620195" y="8829446"/>
            <a:ext cx="5257800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Indicam onde pode valer atenção adicional — não explicam </a:t>
            </a:r>
            <a:r>
              <a:rPr b="0" i="1" lang="en-US" sz="105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por que</a:t>
            </a:r>
            <a:r>
              <a:rPr b="0" i="0" lang="en-US" sz="105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 a diferença existe. </a:t>
            </a:r>
            <a:r>
              <a:rPr b="1" i="0" lang="en-US" sz="1050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b="0" i="0" lang="en-US" sz="105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 pequeno exige cautela adicional.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1"/>
          <p:cNvSpPr txBox="1"/>
          <p:nvPr/>
        </p:nvSpPr>
        <p:spPr>
          <a:xfrm>
            <a:off x="11620195" y="9338767"/>
            <a:ext cx="5257800" cy="372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975"/>
              <a:buFont typeface="Poppins"/>
              <a:buNone/>
            </a:pPr>
            <a:r>
              <a:rPr b="0" i="1" lang="en-US" sz="97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Quais dessas vocês reconhecem? Que contexto adicional precisaríamos antes de decidir se vamos agir?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1"/>
          <p:cNvSpPr txBox="1"/>
          <p:nvPr/>
        </p:nvSpPr>
        <p:spPr>
          <a:xfrm>
            <a:off x="16657625" y="9773107"/>
            <a:ext cx="683057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050"/>
              <a:buFont typeface="Sora"/>
              <a:buNone/>
            </a:pPr>
            <a:r>
              <a:rPr b="0" i="0" lang="en-US" sz="1050" u="none" cap="none" strike="noStrike">
                <a:solidFill>
                  <a:srgbClr val="4B5274"/>
                </a:solidFill>
                <a:latin typeface="Sora"/>
                <a:ea typeface="Sora"/>
                <a:cs typeface="Sora"/>
                <a:sym typeface="Sora"/>
              </a:rPr>
              <a:t>09 / 13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14" name="Chart 413"/>
          <p:cNvGraphicFramePr>
            <a:graphicFrameLocks noGrp="1"/>
          </p:cNvGraphicFramePr>
          <p:nvPr/>
        </p:nvGraphicFramePr>
        <p:xfrm>
          <a:off x="5559552" y="5687568"/>
          <a:ext cx="2615184" cy="1298448"/>
        </p:xfrm>
        <a:graphic>
          <a:graphicData uri="http://schemas.openxmlformats.org/drawingml/2006/chart">
            <c:chart r:id="rId8"/>
          </a:graphicData>
        </a:graphic>
      </p:graphicFrame>
      <p:graphicFrame>
        <p:nvGraphicFramePr>
          <p:cNvPr id="415" name="Chart 414"/>
          <p:cNvGraphicFramePr>
            <a:graphicFrameLocks noGrp="1"/>
          </p:cNvGraphicFramePr>
          <p:nvPr/>
        </p:nvGraphicFramePr>
        <p:xfrm>
          <a:off x="13185648" y="5687568"/>
          <a:ext cx="3566160" cy="1298448"/>
        </p:xfrm>
        <a:graphic>
          <a:graphicData uri="http://schemas.openxmlformats.org/drawingml/2006/chart">
            <c:chart r:id="rId9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D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571723da0b9e7496659dc38ed713a537.png" id="419" name="Google Shape;419;p12"/>
          <p:cNvPicPr preferRelativeResize="0"/>
          <p:nvPr/>
        </p:nvPicPr>
        <p:blipFill rotWithShape="1">
          <a:blip r:embed="rId3">
            <a:alphaModFix/>
          </a:blip>
          <a:srcRect b="0" l="-2083" r="-2083" t="0"/>
          <a:stretch/>
        </p:blipFill>
        <p:spPr>
          <a:xfrm>
            <a:off x="1143000" y="2095805"/>
            <a:ext cx="16002000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12"/>
          <p:cNvSpPr/>
          <p:nvPr/>
        </p:nvSpPr>
        <p:spPr>
          <a:xfrm>
            <a:off x="1143000" y="4095598"/>
            <a:ext cx="6476695" cy="304769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2"/>
          <p:cNvSpPr/>
          <p:nvPr/>
        </p:nvSpPr>
        <p:spPr>
          <a:xfrm>
            <a:off x="10668305" y="4095598"/>
            <a:ext cx="6476695" cy="3047695"/>
          </a:xfrm>
          <a:prstGeom prst="rect">
            <a:avLst/>
          </a:prstGeom>
          <a:solidFill>
            <a:srgbClr val="EAF0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2"/>
          <p:cNvSpPr/>
          <p:nvPr/>
        </p:nvSpPr>
        <p:spPr>
          <a:xfrm>
            <a:off x="1143000" y="7905902"/>
            <a:ext cx="3638398" cy="857707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2"/>
          <p:cNvSpPr/>
          <p:nvPr/>
        </p:nvSpPr>
        <p:spPr>
          <a:xfrm>
            <a:off x="4953305" y="7905902"/>
            <a:ext cx="3638398" cy="857707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2"/>
          <p:cNvSpPr/>
          <p:nvPr/>
        </p:nvSpPr>
        <p:spPr>
          <a:xfrm>
            <a:off x="8762695" y="7905902"/>
            <a:ext cx="3638398" cy="857707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2"/>
          <p:cNvSpPr/>
          <p:nvPr/>
        </p:nvSpPr>
        <p:spPr>
          <a:xfrm>
            <a:off x="12573000" y="7905902"/>
            <a:ext cx="4591202" cy="857707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2"/>
          <p:cNvSpPr/>
          <p:nvPr/>
        </p:nvSpPr>
        <p:spPr>
          <a:xfrm>
            <a:off x="1143000" y="8953805"/>
            <a:ext cx="16002000" cy="761695"/>
          </a:xfrm>
          <a:prstGeom prst="rect">
            <a:avLst/>
          </a:prstGeom>
          <a:solidFill>
            <a:srgbClr val="16215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b0f6c09112975f81ae344edcdd393be3.png" id="427" name="Google Shape;427;p12"/>
          <p:cNvPicPr preferRelativeResize="0"/>
          <p:nvPr/>
        </p:nvPicPr>
        <p:blipFill rotWithShape="1">
          <a:blip r:embed="rId4">
            <a:alphaModFix/>
          </a:blip>
          <a:srcRect b="0" l="-405" r="-405" t="0"/>
          <a:stretch/>
        </p:blipFill>
        <p:spPr>
          <a:xfrm>
            <a:off x="1143000" y="4095598"/>
            <a:ext cx="57607" cy="3047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a54b47def6178dcace7a7eeb1bc211a6.png" id="428" name="Google Shape;428;p12"/>
          <p:cNvPicPr preferRelativeResize="0"/>
          <p:nvPr/>
        </p:nvPicPr>
        <p:blipFill rotWithShape="1">
          <a:blip r:embed="rId5">
            <a:alphaModFix/>
          </a:blip>
          <a:srcRect b="0" l="-405" r="-405" t="0"/>
          <a:stretch/>
        </p:blipFill>
        <p:spPr>
          <a:xfrm>
            <a:off x="10668305" y="4095598"/>
            <a:ext cx="57607" cy="3047695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12"/>
          <p:cNvSpPr/>
          <p:nvPr/>
        </p:nvSpPr>
        <p:spPr>
          <a:xfrm>
            <a:off x="1333195" y="8134502"/>
            <a:ext cx="267005" cy="267005"/>
          </a:xfrm>
          <a:prstGeom prst="ellipse">
            <a:avLst/>
          </a:prstGeom>
          <a:noFill/>
          <a:ln cap="flat" cmpd="sng" w="25400">
            <a:solidFill>
              <a:srgbClr val="2BB6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2"/>
          <p:cNvSpPr/>
          <p:nvPr/>
        </p:nvSpPr>
        <p:spPr>
          <a:xfrm>
            <a:off x="5143500" y="8134502"/>
            <a:ext cx="267005" cy="267005"/>
          </a:xfrm>
          <a:prstGeom prst="ellipse">
            <a:avLst/>
          </a:prstGeom>
          <a:noFill/>
          <a:ln cap="flat" cmpd="sng" w="25400">
            <a:solidFill>
              <a:srgbClr val="D522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2"/>
          <p:cNvSpPr/>
          <p:nvPr/>
        </p:nvSpPr>
        <p:spPr>
          <a:xfrm>
            <a:off x="8953805" y="8134502"/>
            <a:ext cx="267005" cy="267005"/>
          </a:xfrm>
          <a:prstGeom prst="ellipse">
            <a:avLst/>
          </a:prstGeom>
          <a:noFill/>
          <a:ln cap="flat" cmpd="sng" w="25400">
            <a:solidFill>
              <a:srgbClr val="4B52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2"/>
          <p:cNvSpPr/>
          <p:nvPr/>
        </p:nvSpPr>
        <p:spPr>
          <a:xfrm>
            <a:off x="12763195" y="8134502"/>
            <a:ext cx="267005" cy="267005"/>
          </a:xfrm>
          <a:prstGeom prst="ellipse">
            <a:avLst/>
          </a:prstGeom>
          <a:noFill/>
          <a:ln cap="flat" cmpd="sng" w="25400">
            <a:solidFill>
              <a:srgbClr val="B68A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fe779508fdac7c18971789675b78fb26.png" id="433" name="Google Shape;433;p12"/>
          <p:cNvPicPr preferRelativeResize="0"/>
          <p:nvPr/>
        </p:nvPicPr>
        <p:blipFill rotWithShape="1">
          <a:blip r:embed="rId6">
            <a:alphaModFix/>
          </a:blip>
          <a:srcRect b="-408" l="0" r="0" t="-408"/>
          <a:stretch/>
        </p:blipFill>
        <p:spPr>
          <a:xfrm>
            <a:off x="8191195" y="5609844"/>
            <a:ext cx="1904695" cy="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12"/>
          <p:cNvSpPr/>
          <p:nvPr/>
        </p:nvSpPr>
        <p:spPr>
          <a:xfrm>
            <a:off x="10116007" y="5057546"/>
            <a:ext cx="171907" cy="190195"/>
          </a:xfrm>
          <a:prstGeom prst="rect">
            <a:avLst/>
          </a:prstGeom>
          <a:noFill/>
          <a:ln cap="flat" cmpd="sng" w="1270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2"/>
          <p:cNvSpPr/>
          <p:nvPr/>
        </p:nvSpPr>
        <p:spPr>
          <a:xfrm>
            <a:off x="1143000" y="1143000"/>
            <a:ext cx="571500" cy="571500"/>
          </a:xfrm>
          <a:prstGeom prst="ellipse">
            <a:avLst/>
          </a:prstGeom>
          <a:solidFill>
            <a:srgbClr val="895CF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2"/>
          <p:cNvSpPr txBox="1"/>
          <p:nvPr/>
        </p:nvSpPr>
        <p:spPr>
          <a:xfrm>
            <a:off x="1292962" y="1285646"/>
            <a:ext cx="295351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or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2"/>
          <p:cNvSpPr txBox="1"/>
          <p:nvPr/>
        </p:nvSpPr>
        <p:spPr>
          <a:xfrm>
            <a:off x="1904695" y="1333195"/>
            <a:ext cx="8572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5CF5"/>
              </a:buClr>
              <a:buSzPts val="975"/>
              <a:buFont typeface="Poppins"/>
              <a:buNone/>
            </a:pPr>
            <a:r>
              <a:rPr b="1" i="0" lang="en-US" sz="975" u="none" cap="none" strike="noStrike">
                <a:solidFill>
                  <a:srgbClr val="895CF5"/>
                </a:solidFill>
                <a:latin typeface="Poppins"/>
                <a:ea typeface="Poppins"/>
                <a:cs typeface="Poppins"/>
                <a:sym typeface="Poppins"/>
              </a:rPr>
              <a:t>O evento recente mudou o quadro?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2"/>
          <p:cNvSpPr txBox="1"/>
          <p:nvPr/>
        </p:nvSpPr>
        <p:spPr>
          <a:xfrm>
            <a:off x="1143000" y="2381098"/>
            <a:ext cx="15240305" cy="1086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4050"/>
              <a:buFont typeface="Sora"/>
              <a:buNone/>
            </a:pPr>
            <a:r>
              <a:rPr b="1" i="0" lang="en-US" sz="405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O evento recente mudou </a:t>
            </a:r>
            <a:r>
              <a:rPr b="1" i="1" lang="en-US" sz="4050" u="none" cap="none" strike="noStrike">
                <a:solidFill>
                  <a:srgbClr val="895CF5"/>
                </a:solidFill>
                <a:latin typeface="Sora"/>
                <a:ea typeface="Sora"/>
                <a:cs typeface="Sora"/>
                <a:sym typeface="Sora"/>
              </a:rPr>
              <a:t>materialmente</a:t>
            </a:r>
            <a:r>
              <a:rPr b="1" i="0" lang="en-US" sz="405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 a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4050"/>
              <a:buFont typeface="Sora"/>
              <a:buNone/>
            </a:pPr>
            <a:r>
              <a:rPr b="1" i="0" lang="en-US" sz="405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percepção das pessoas?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2"/>
          <p:cNvSpPr txBox="1"/>
          <p:nvPr/>
        </p:nvSpPr>
        <p:spPr>
          <a:xfrm>
            <a:off x="1524305" y="4438498"/>
            <a:ext cx="59061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16215B"/>
                </a:solidFill>
                <a:latin typeface="Poppins"/>
                <a:ea typeface="Poppins"/>
                <a:cs typeface="Poppins"/>
                <a:sym typeface="Poppins"/>
              </a:rPr>
              <a:t>Evidência da pesquisa · antes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2"/>
          <p:cNvSpPr txBox="1"/>
          <p:nvPr/>
        </p:nvSpPr>
        <p:spPr>
          <a:xfrm>
            <a:off x="1524305" y="4714646"/>
            <a:ext cx="590611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2400"/>
              <a:buFont typeface="Sora"/>
              <a:buNone/>
            </a:pPr>
            <a:r>
              <a:rPr b="0" i="0" lang="en-US" sz="24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O que a pesquisa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2400"/>
              <a:buFont typeface="Sora"/>
              <a:buNone/>
            </a:pPr>
            <a:r>
              <a:rPr b="0" i="0" lang="en-US" sz="24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já vinha mostrando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2"/>
          <p:cNvSpPr txBox="1"/>
          <p:nvPr/>
        </p:nvSpPr>
        <p:spPr>
          <a:xfrm>
            <a:off x="1524305" y="5671109"/>
            <a:ext cx="5906110" cy="476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[Resumo do HRBP sobre os achados pré-evento relevantes — 2–3 linhas curtas que ancoram o que já sabíamos]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2"/>
          <p:cNvSpPr txBox="1"/>
          <p:nvPr/>
        </p:nvSpPr>
        <p:spPr>
          <a:xfrm>
            <a:off x="8001000" y="6286500"/>
            <a:ext cx="2286000" cy="324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Comparado com o que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ouvimos depois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2"/>
          <p:cNvSpPr txBox="1"/>
          <p:nvPr/>
        </p:nvSpPr>
        <p:spPr>
          <a:xfrm>
            <a:off x="11048695" y="4438498"/>
            <a:ext cx="59061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5CF5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895CF5"/>
                </a:solidFill>
                <a:latin typeface="Poppins"/>
                <a:ea typeface="Poppins"/>
                <a:cs typeface="Poppins"/>
                <a:sym typeface="Poppins"/>
              </a:rPr>
              <a:t>Pulso · depois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2"/>
          <p:cNvSpPr txBox="1"/>
          <p:nvPr/>
        </p:nvSpPr>
        <p:spPr>
          <a:xfrm>
            <a:off x="11048695" y="4714646"/>
            <a:ext cx="590611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2400"/>
              <a:buFont typeface="Sora"/>
              <a:buNone/>
            </a:pPr>
            <a:r>
              <a:rPr b="0" i="0" lang="en-US" sz="24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O que ouvimos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2400"/>
              <a:buFont typeface="Sora"/>
              <a:buNone/>
            </a:pPr>
            <a:r>
              <a:rPr b="0" i="0" lang="en-US" sz="24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depois do evento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2"/>
          <p:cNvSpPr txBox="1"/>
          <p:nvPr/>
        </p:nvSpPr>
        <p:spPr>
          <a:xfrm>
            <a:off x="11048695" y="5671109"/>
            <a:ext cx="5906110" cy="46725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9700" lIns="152400" spcFirstLastPara="1" rIns="152400" wrap="square" tIns="139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050"/>
              <a:buFont typeface="Poppins"/>
              <a:buNone/>
            </a:pPr>
            <a:r>
              <a:rPr b="0" i="1" lang="en-US" sz="1050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{{EVENTO_RES}}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2"/>
          <p:cNvSpPr txBox="1"/>
          <p:nvPr/>
        </p:nvSpPr>
        <p:spPr>
          <a:xfrm>
            <a:off x="11048695" y="6270955"/>
            <a:ext cx="5906110" cy="46725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9700" lIns="152400" spcFirstLastPara="1" rIns="152400" wrap="square" tIns="139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050"/>
              <a:buFont typeface="Poppins"/>
              <a:buNone/>
            </a:pPr>
            <a:r>
              <a:rPr b="0" i="1" lang="en-US" sz="1050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[INSERIR RESUMO DA PERCEPÇÃO PÓS-EVENTO]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2"/>
          <p:cNvSpPr txBox="1"/>
          <p:nvPr/>
        </p:nvSpPr>
        <p:spPr>
          <a:xfrm>
            <a:off x="1143000" y="7524598"/>
            <a:ext cx="1600200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0285FF"/>
                </a:solidFill>
                <a:latin typeface="Poppins"/>
                <a:ea typeface="Poppins"/>
                <a:cs typeface="Poppins"/>
                <a:sym typeface="Poppins"/>
              </a:rPr>
              <a:t>Leitura do HRBP — selecione uma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2"/>
          <p:cNvSpPr txBox="1"/>
          <p:nvPr/>
        </p:nvSpPr>
        <p:spPr>
          <a:xfrm>
            <a:off x="1714500" y="8096098"/>
            <a:ext cx="28575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B673"/>
              </a:buClr>
              <a:buSzPts val="1350"/>
              <a:buFont typeface="Sora"/>
              <a:buNone/>
            </a:pPr>
            <a:r>
              <a:rPr b="1" i="0" lang="en-US" sz="1350" u="none" cap="none" strike="noStrike">
                <a:solidFill>
                  <a:srgbClr val="2BB673"/>
                </a:solidFill>
                <a:latin typeface="Sora"/>
                <a:ea typeface="Sora"/>
                <a:cs typeface="Sora"/>
                <a:sym typeface="Sora"/>
              </a:rPr>
              <a:t>Reforça padrões existentes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2"/>
          <p:cNvSpPr txBox="1"/>
          <p:nvPr/>
        </p:nvSpPr>
        <p:spPr>
          <a:xfrm>
            <a:off x="5524805" y="8096098"/>
            <a:ext cx="28575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225D"/>
              </a:buClr>
              <a:buSzPts val="1350"/>
              <a:buFont typeface="Sora"/>
              <a:buNone/>
            </a:pPr>
            <a:r>
              <a:rPr b="1" i="0" lang="en-US" sz="1350" u="none" cap="none" strike="noStrike">
                <a:solidFill>
                  <a:srgbClr val="D5225D"/>
                </a:solidFill>
                <a:latin typeface="Sora"/>
                <a:ea typeface="Sora"/>
                <a:cs typeface="Sora"/>
                <a:sym typeface="Sora"/>
              </a:rPr>
              <a:t>Sinal novo / contextual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2"/>
          <p:cNvSpPr txBox="1"/>
          <p:nvPr/>
        </p:nvSpPr>
        <p:spPr>
          <a:xfrm>
            <a:off x="9334195" y="8096098"/>
            <a:ext cx="28575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350"/>
              <a:buFont typeface="Sora"/>
              <a:buNone/>
            </a:pPr>
            <a:r>
              <a:rPr b="1" i="0" lang="en-US" sz="1350" u="none" cap="none" strike="noStrike">
                <a:solidFill>
                  <a:srgbClr val="4B5274"/>
                </a:solidFill>
                <a:latin typeface="Sora"/>
                <a:ea typeface="Sora"/>
                <a:cs typeface="Sora"/>
                <a:sym typeface="Sora"/>
              </a:rPr>
              <a:t>Sem diferença material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2"/>
          <p:cNvSpPr txBox="1"/>
          <p:nvPr/>
        </p:nvSpPr>
        <p:spPr>
          <a:xfrm>
            <a:off x="13144500" y="8096098"/>
            <a:ext cx="3881628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68A14"/>
              </a:buClr>
              <a:buSzPts val="1350"/>
              <a:buFont typeface="Sora"/>
              <a:buNone/>
            </a:pPr>
            <a:r>
              <a:rPr b="1" i="0" lang="en-US" sz="1350" u="none" cap="none" strike="noStrike">
                <a:solidFill>
                  <a:srgbClr val="B68A14"/>
                </a:solidFill>
                <a:latin typeface="Sora"/>
                <a:ea typeface="Sora"/>
                <a:cs typeface="Sora"/>
                <a:sym typeface="Sora"/>
              </a:rPr>
              <a:t>Evidência insuficiente para concluir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2"/>
          <p:cNvSpPr txBox="1"/>
          <p:nvPr/>
        </p:nvSpPr>
        <p:spPr>
          <a:xfrm>
            <a:off x="1524305" y="9105595"/>
            <a:ext cx="2667305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CD4B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F8CD4B"/>
                </a:solidFill>
                <a:latin typeface="Poppins"/>
                <a:ea typeface="Poppins"/>
                <a:cs typeface="Poppins"/>
                <a:sym typeface="Poppins"/>
              </a:rPr>
              <a:t>Explicação do HRBP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2"/>
          <p:cNvSpPr txBox="1"/>
          <p:nvPr/>
        </p:nvSpPr>
        <p:spPr>
          <a:xfrm>
            <a:off x="1524305" y="9344254"/>
            <a:ext cx="2667305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Poppins"/>
              <a:buNone/>
            </a:pPr>
            <a:r>
              <a:rPr b="0" i="1" lang="en-US" sz="97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Máx. 2 frases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2"/>
          <p:cNvSpPr txBox="1"/>
          <p:nvPr/>
        </p:nvSpPr>
        <p:spPr>
          <a:xfrm>
            <a:off x="4381805" y="9105595"/>
            <a:ext cx="12573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[Explicação do HRBP para a classificação escolhida. O que, se algo, esse contexto deveria mudar nas nossas prioridades?]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2"/>
          <p:cNvSpPr txBox="1"/>
          <p:nvPr/>
        </p:nvSpPr>
        <p:spPr>
          <a:xfrm>
            <a:off x="16689629" y="9773107"/>
            <a:ext cx="67757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050"/>
              <a:buFont typeface="Sora"/>
              <a:buNone/>
            </a:pPr>
            <a:r>
              <a:rPr b="0" i="0" lang="en-US" sz="1050" u="none" cap="none" strike="noStrike">
                <a:solidFill>
                  <a:srgbClr val="4B5274"/>
                </a:solidFill>
                <a:latin typeface="Sora"/>
                <a:ea typeface="Sora"/>
                <a:cs typeface="Sora"/>
                <a:sym typeface="Sora"/>
              </a:rPr>
              <a:t>10 / 13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D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571723da0b9e7496659dc38ed713a537.png" id="461" name="Google Shape;461;p13"/>
          <p:cNvPicPr preferRelativeResize="0"/>
          <p:nvPr/>
        </p:nvPicPr>
        <p:blipFill rotWithShape="1">
          <a:blip r:embed="rId3">
            <a:alphaModFix/>
          </a:blip>
          <a:srcRect b="0" l="-2083" r="-2083" t="0"/>
          <a:stretch/>
        </p:blipFill>
        <p:spPr>
          <a:xfrm>
            <a:off x="1143000" y="2095805"/>
            <a:ext cx="16002000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13"/>
          <p:cNvSpPr/>
          <p:nvPr/>
        </p:nvSpPr>
        <p:spPr>
          <a:xfrm>
            <a:off x="1143000" y="4286707"/>
            <a:ext cx="4953305" cy="438180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3"/>
          <p:cNvSpPr/>
          <p:nvPr/>
        </p:nvSpPr>
        <p:spPr>
          <a:xfrm>
            <a:off x="6476695" y="4286707"/>
            <a:ext cx="4953305" cy="438180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3"/>
          <p:cNvSpPr/>
          <p:nvPr/>
        </p:nvSpPr>
        <p:spPr>
          <a:xfrm>
            <a:off x="11811305" y="4286707"/>
            <a:ext cx="5333695" cy="438180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3"/>
          <p:cNvSpPr/>
          <p:nvPr/>
        </p:nvSpPr>
        <p:spPr>
          <a:xfrm>
            <a:off x="1143000" y="9010498"/>
            <a:ext cx="16002000" cy="724205"/>
          </a:xfrm>
          <a:prstGeom prst="rect">
            <a:avLst/>
          </a:prstGeom>
          <a:solidFill>
            <a:srgbClr val="16215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43c2393b353c9efeaffb0360f0e5b8f7.png" id="466" name="Google Shape;466;p13"/>
          <p:cNvPicPr preferRelativeResize="0"/>
          <p:nvPr/>
        </p:nvPicPr>
        <p:blipFill rotWithShape="1">
          <a:blip r:embed="rId4">
            <a:alphaModFix/>
          </a:blip>
          <a:srcRect b="-397" l="0" r="0" t="-397"/>
          <a:stretch/>
        </p:blipFill>
        <p:spPr>
          <a:xfrm>
            <a:off x="1143000" y="4286707"/>
            <a:ext cx="4953305" cy="576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9bc75f0390e520566127804b6766c6e2.png" id="467" name="Google Shape;467;p13"/>
          <p:cNvPicPr preferRelativeResize="0"/>
          <p:nvPr/>
        </p:nvPicPr>
        <p:blipFill rotWithShape="1">
          <a:blip r:embed="rId5">
            <a:alphaModFix/>
          </a:blip>
          <a:srcRect b="-397" l="0" r="0" t="-397"/>
          <a:stretch/>
        </p:blipFill>
        <p:spPr>
          <a:xfrm>
            <a:off x="6476695" y="4286707"/>
            <a:ext cx="4953305" cy="576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a4b526dd164ec794df5a6f8b2ac4a433.png" id="468" name="Google Shape;468;p13"/>
          <p:cNvPicPr preferRelativeResize="0"/>
          <p:nvPr/>
        </p:nvPicPr>
        <p:blipFill rotWithShape="1">
          <a:blip r:embed="rId6">
            <a:alphaModFix/>
          </a:blip>
          <a:srcRect b="-403" l="0" r="0" t="-403"/>
          <a:stretch/>
        </p:blipFill>
        <p:spPr>
          <a:xfrm>
            <a:off x="11811305" y="4286707"/>
            <a:ext cx="5333695" cy="57607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13"/>
          <p:cNvSpPr/>
          <p:nvPr/>
        </p:nvSpPr>
        <p:spPr>
          <a:xfrm>
            <a:off x="1143000" y="1143000"/>
            <a:ext cx="571500" cy="571500"/>
          </a:xfrm>
          <a:prstGeom prst="ellipse">
            <a:avLst/>
          </a:prstGeom>
          <a:solidFill>
            <a:srgbClr val="16215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3"/>
          <p:cNvSpPr txBox="1"/>
          <p:nvPr/>
        </p:nvSpPr>
        <p:spPr>
          <a:xfrm>
            <a:off x="1330452" y="1285646"/>
            <a:ext cx="238658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or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3"/>
          <p:cNvSpPr txBox="1"/>
          <p:nvPr/>
        </p:nvSpPr>
        <p:spPr>
          <a:xfrm>
            <a:off x="1904695" y="1333195"/>
            <a:ext cx="9525305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975"/>
              <a:buFont typeface="Poppins"/>
              <a:buNone/>
            </a:pPr>
            <a:r>
              <a:rPr b="1" i="0" lang="en-US" sz="975" u="none" cap="none" strike="noStrike">
                <a:solidFill>
                  <a:srgbClr val="16215B"/>
                </a:solidFill>
                <a:latin typeface="Poppins"/>
                <a:ea typeface="Poppins"/>
                <a:cs typeface="Poppins"/>
                <a:sym typeface="Poppins"/>
              </a:rPr>
              <a:t>Da análise do RH à conversa com a liderança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3"/>
          <p:cNvSpPr txBox="1"/>
          <p:nvPr/>
        </p:nvSpPr>
        <p:spPr>
          <a:xfrm>
            <a:off x="1143000" y="2438705"/>
            <a:ext cx="14287500" cy="1124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4200"/>
              <a:buFont typeface="Sora"/>
              <a:buNone/>
            </a:pPr>
            <a:r>
              <a:rPr b="1" i="0" lang="en-US" sz="42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O que sabemos — e o que ainda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4200"/>
              <a:buFont typeface="Sora"/>
              <a:buNone/>
            </a:pPr>
            <a:r>
              <a:rPr b="1" i="0" lang="en-US" sz="42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precisamos </a:t>
            </a:r>
            <a:r>
              <a:rPr b="1" i="1" lang="en-US" sz="4200" u="none" cap="none" strike="noStrike">
                <a:solidFill>
                  <a:srgbClr val="0285FF"/>
                </a:solidFill>
                <a:latin typeface="Sora"/>
                <a:ea typeface="Sora"/>
                <a:cs typeface="Sora"/>
                <a:sym typeface="Sora"/>
              </a:rPr>
              <a:t>aprofundar?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3"/>
          <p:cNvSpPr txBox="1"/>
          <p:nvPr/>
        </p:nvSpPr>
        <p:spPr>
          <a:xfrm>
            <a:off x="1524305" y="4629607"/>
            <a:ext cx="4286707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0285FF"/>
                </a:solidFill>
                <a:latin typeface="Poppins"/>
                <a:ea typeface="Poppins"/>
                <a:cs typeface="Poppins"/>
                <a:sym typeface="Poppins"/>
              </a:rPr>
              <a:t>Evidência da pesquisa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3"/>
          <p:cNvSpPr txBox="1"/>
          <p:nvPr/>
        </p:nvSpPr>
        <p:spPr>
          <a:xfrm>
            <a:off x="1524305" y="4905756"/>
            <a:ext cx="4286707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2400"/>
              <a:buFont typeface="Sora"/>
              <a:buNone/>
            </a:pPr>
            <a:r>
              <a:rPr b="1" i="0" lang="en-US" sz="24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O que sabemos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3"/>
          <p:cNvSpPr txBox="1"/>
          <p:nvPr/>
        </p:nvSpPr>
        <p:spPr>
          <a:xfrm>
            <a:off x="1524305" y="5381244"/>
            <a:ext cx="4286707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Conclusões sustentadas pelos resultados. HRBP preenche antes da reunião.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3"/>
          <p:cNvSpPr txBox="1"/>
          <p:nvPr/>
        </p:nvSpPr>
        <p:spPr>
          <a:xfrm>
            <a:off x="1524305" y="6019495"/>
            <a:ext cx="4286707" cy="523951"/>
          </a:xfrm>
          <a:prstGeom prst="rect">
            <a:avLst/>
          </a:prstGeom>
          <a:solidFill>
            <a:srgbClr val="EAF0FA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400" lIns="177800" spcFirstLastPara="1" rIns="177800" wrap="square" tIns="15240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[Conclusão baseada em evidência]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3"/>
          <p:cNvSpPr txBox="1"/>
          <p:nvPr/>
        </p:nvSpPr>
        <p:spPr>
          <a:xfrm>
            <a:off x="1524305" y="6672377"/>
            <a:ext cx="4286707" cy="523951"/>
          </a:xfrm>
          <a:prstGeom prst="rect">
            <a:avLst/>
          </a:prstGeom>
          <a:solidFill>
            <a:srgbClr val="EAF0FA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400" lIns="177800" spcFirstLastPara="1" rIns="177800" wrap="square" tIns="15240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[Conclusão baseada em evidência]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3"/>
          <p:cNvSpPr txBox="1"/>
          <p:nvPr/>
        </p:nvSpPr>
        <p:spPr>
          <a:xfrm>
            <a:off x="1524305" y="7324344"/>
            <a:ext cx="4286707" cy="523951"/>
          </a:xfrm>
          <a:prstGeom prst="rect">
            <a:avLst/>
          </a:prstGeom>
          <a:solidFill>
            <a:srgbClr val="EAF0FA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400" lIns="177800" spcFirstLastPara="1" rIns="177800" wrap="square" tIns="15240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[Conclusão baseada em evidência]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3"/>
          <p:cNvSpPr txBox="1"/>
          <p:nvPr/>
        </p:nvSpPr>
        <p:spPr>
          <a:xfrm>
            <a:off x="6858000" y="4629607"/>
            <a:ext cx="4286707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5CF5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895CF5"/>
                </a:solidFill>
                <a:latin typeface="Poppins"/>
                <a:ea typeface="Poppins"/>
                <a:cs typeface="Poppins"/>
                <a:sym typeface="Poppins"/>
              </a:rPr>
              <a:t>Reflexão da liderança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3"/>
          <p:cNvSpPr txBox="1"/>
          <p:nvPr/>
        </p:nvSpPr>
        <p:spPr>
          <a:xfrm>
            <a:off x="6858000" y="4905756"/>
            <a:ext cx="4286707" cy="762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2400"/>
              <a:buFont typeface="Sora"/>
              <a:buNone/>
            </a:pPr>
            <a:r>
              <a:rPr b="1" i="0" lang="en-US" sz="24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O que pode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2400"/>
              <a:buFont typeface="Sora"/>
              <a:buNone/>
            </a:pPr>
            <a:r>
              <a:rPr b="1" i="0" lang="en-US" sz="24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estar acontecendo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3"/>
          <p:cNvSpPr txBox="1"/>
          <p:nvPr/>
        </p:nvSpPr>
        <p:spPr>
          <a:xfrm>
            <a:off x="6858000" y="5762549"/>
            <a:ext cx="4286707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050"/>
              <a:buFont typeface="Poppins"/>
              <a:buNone/>
            </a:pPr>
            <a:r>
              <a:rPr b="0" i="1" lang="en-US" sz="105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Que contexto operacional ou de liderança pode ajudar a explicar esses achados?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3"/>
          <p:cNvSpPr/>
          <p:nvPr/>
        </p:nvSpPr>
        <p:spPr>
          <a:xfrm>
            <a:off x="6858000" y="6896405"/>
            <a:ext cx="4286707" cy="9144"/>
          </a:xfrm>
          <a:prstGeom prst="rect">
            <a:avLst/>
          </a:prstGeom>
          <a:solidFill>
            <a:srgbClr val="D9DEEC"/>
          </a:solidFill>
          <a:ln cap="flat" cmpd="sng" w="12700">
            <a:solidFill>
              <a:srgbClr val="D9DEE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3"/>
          <p:cNvSpPr/>
          <p:nvPr/>
        </p:nvSpPr>
        <p:spPr>
          <a:xfrm>
            <a:off x="6858000" y="7401154"/>
            <a:ext cx="4286707" cy="9144"/>
          </a:xfrm>
          <a:prstGeom prst="rect">
            <a:avLst/>
          </a:prstGeom>
          <a:solidFill>
            <a:srgbClr val="D9DEEC"/>
          </a:solidFill>
          <a:ln cap="flat" cmpd="sng" w="12700">
            <a:solidFill>
              <a:srgbClr val="D9DEE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3"/>
          <p:cNvSpPr/>
          <p:nvPr/>
        </p:nvSpPr>
        <p:spPr>
          <a:xfrm>
            <a:off x="6858000" y="7905902"/>
            <a:ext cx="4286707" cy="9144"/>
          </a:xfrm>
          <a:prstGeom prst="rect">
            <a:avLst/>
          </a:prstGeom>
          <a:solidFill>
            <a:srgbClr val="D9DEEC"/>
          </a:solidFill>
          <a:ln cap="flat" cmpd="sng" w="12700">
            <a:solidFill>
              <a:srgbClr val="D9DEE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3"/>
          <p:cNvSpPr/>
          <p:nvPr/>
        </p:nvSpPr>
        <p:spPr>
          <a:xfrm>
            <a:off x="6858000" y="8410651"/>
            <a:ext cx="4286707" cy="9144"/>
          </a:xfrm>
          <a:prstGeom prst="rect">
            <a:avLst/>
          </a:prstGeom>
          <a:solidFill>
            <a:srgbClr val="D9DEEC"/>
          </a:solidFill>
          <a:ln cap="flat" cmpd="sng" w="12700">
            <a:solidFill>
              <a:srgbClr val="D9DEE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3"/>
          <p:cNvSpPr txBox="1"/>
          <p:nvPr/>
        </p:nvSpPr>
        <p:spPr>
          <a:xfrm>
            <a:off x="6858000" y="8553298"/>
            <a:ext cx="4286707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75"/>
              <a:buFont typeface="Poppins"/>
              <a:buNone/>
            </a:pPr>
            <a:r>
              <a:rPr b="0" i="1" lang="en-US" sz="975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[Preenchido durante a discussão]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3"/>
          <p:cNvSpPr txBox="1"/>
          <p:nvPr/>
        </p:nvSpPr>
        <p:spPr>
          <a:xfrm>
            <a:off x="12191695" y="4629607"/>
            <a:ext cx="457200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68A14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B68A14"/>
                </a:solidFill>
                <a:latin typeface="Poppins"/>
                <a:ea typeface="Poppins"/>
                <a:cs typeface="Poppins"/>
                <a:sym typeface="Poppins"/>
              </a:rPr>
              <a:t>Questões em aberto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3"/>
          <p:cNvSpPr txBox="1"/>
          <p:nvPr/>
        </p:nvSpPr>
        <p:spPr>
          <a:xfrm>
            <a:off x="12191695" y="4905756"/>
            <a:ext cx="4572000" cy="762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2400"/>
              <a:buFont typeface="Sora"/>
              <a:buNone/>
            </a:pPr>
            <a:r>
              <a:rPr b="1" i="0" lang="en-US" sz="24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O que ainda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2400"/>
              <a:buFont typeface="Sora"/>
              <a:buNone/>
            </a:pPr>
            <a:r>
              <a:rPr b="1" i="0" lang="en-US" sz="24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precisamos entender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3"/>
          <p:cNvSpPr txBox="1"/>
          <p:nvPr/>
        </p:nvSpPr>
        <p:spPr>
          <a:xfrm>
            <a:off x="12191695" y="5762549"/>
            <a:ext cx="4572000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050"/>
              <a:buFont typeface="Poppins"/>
              <a:buNone/>
            </a:pPr>
            <a:r>
              <a:rPr b="0" i="1" lang="en-US" sz="105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O que não conseguimos concluir de forma responsável só com a pesquisa?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3"/>
          <p:cNvSpPr/>
          <p:nvPr/>
        </p:nvSpPr>
        <p:spPr>
          <a:xfrm>
            <a:off x="12191695" y="6896405"/>
            <a:ext cx="4572000" cy="9144"/>
          </a:xfrm>
          <a:prstGeom prst="rect">
            <a:avLst/>
          </a:prstGeom>
          <a:solidFill>
            <a:srgbClr val="D9DEEC"/>
          </a:solidFill>
          <a:ln cap="flat" cmpd="sng" w="12700">
            <a:solidFill>
              <a:srgbClr val="D9DEE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3"/>
          <p:cNvSpPr/>
          <p:nvPr/>
        </p:nvSpPr>
        <p:spPr>
          <a:xfrm>
            <a:off x="12191695" y="7401154"/>
            <a:ext cx="4572000" cy="9144"/>
          </a:xfrm>
          <a:prstGeom prst="rect">
            <a:avLst/>
          </a:prstGeom>
          <a:solidFill>
            <a:srgbClr val="D9DEEC"/>
          </a:solidFill>
          <a:ln cap="flat" cmpd="sng" w="12700">
            <a:solidFill>
              <a:srgbClr val="D9DEE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3"/>
          <p:cNvSpPr/>
          <p:nvPr/>
        </p:nvSpPr>
        <p:spPr>
          <a:xfrm>
            <a:off x="12191695" y="7905902"/>
            <a:ext cx="4572000" cy="9144"/>
          </a:xfrm>
          <a:prstGeom prst="rect">
            <a:avLst/>
          </a:prstGeom>
          <a:solidFill>
            <a:srgbClr val="D9DEEC"/>
          </a:solidFill>
          <a:ln cap="flat" cmpd="sng" w="12700">
            <a:solidFill>
              <a:srgbClr val="D9DEE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3"/>
          <p:cNvSpPr/>
          <p:nvPr/>
        </p:nvSpPr>
        <p:spPr>
          <a:xfrm>
            <a:off x="12191695" y="8410651"/>
            <a:ext cx="4572000" cy="9144"/>
          </a:xfrm>
          <a:prstGeom prst="rect">
            <a:avLst/>
          </a:prstGeom>
          <a:solidFill>
            <a:srgbClr val="D9DEEC"/>
          </a:solidFill>
          <a:ln cap="flat" cmpd="sng" w="12700">
            <a:solidFill>
              <a:srgbClr val="D9DEE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3"/>
          <p:cNvSpPr txBox="1"/>
          <p:nvPr/>
        </p:nvSpPr>
        <p:spPr>
          <a:xfrm>
            <a:off x="12191695" y="8553298"/>
            <a:ext cx="45720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75"/>
              <a:buFont typeface="Poppins"/>
              <a:buNone/>
            </a:pPr>
            <a:r>
              <a:rPr b="0" i="1" lang="en-US" sz="975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[Preenchido durante a discussão]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3"/>
          <p:cNvSpPr txBox="1"/>
          <p:nvPr/>
        </p:nvSpPr>
        <p:spPr>
          <a:xfrm>
            <a:off x="1524305" y="9201607"/>
            <a:ext cx="3810305" cy="314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CD4B"/>
              </a:buClr>
              <a:buSzPts val="1950"/>
              <a:buFont typeface="Sora"/>
              <a:buNone/>
            </a:pPr>
            <a:r>
              <a:rPr b="1" i="0" lang="en-US" sz="1950" u="none" cap="none" strike="noStrike">
                <a:solidFill>
                  <a:srgbClr val="F8CD4B"/>
                </a:solidFill>
                <a:latin typeface="Sora"/>
                <a:ea typeface="Sora"/>
                <a:cs typeface="Sora"/>
                <a:sym typeface="Sora"/>
              </a:rPr>
              <a:t>DADO ≠ HIPÓTESE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3"/>
          <p:cNvSpPr txBox="1"/>
          <p:nvPr/>
        </p:nvSpPr>
        <p:spPr>
          <a:xfrm>
            <a:off x="5905195" y="9277502"/>
            <a:ext cx="11049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Uma hipótese de liderança vira algo a validar, não uma conclusão de pesquisa.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3"/>
          <p:cNvSpPr txBox="1"/>
          <p:nvPr/>
        </p:nvSpPr>
        <p:spPr>
          <a:xfrm>
            <a:off x="16732606" y="9810598"/>
            <a:ext cx="67117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050"/>
              <a:buFont typeface="Sora"/>
              <a:buNone/>
            </a:pPr>
            <a:r>
              <a:rPr b="0" i="0" lang="en-US" sz="1050" u="none" cap="none" strike="noStrike">
                <a:solidFill>
                  <a:srgbClr val="4B5274"/>
                </a:solidFill>
                <a:latin typeface="Sora"/>
                <a:ea typeface="Sora"/>
                <a:cs typeface="Sora"/>
                <a:sym typeface="Sora"/>
              </a:rPr>
              <a:t>11 / 13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D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571723da0b9e7496659dc38ed713a537.png" id="503" name="Google Shape;503;p14"/>
          <p:cNvPicPr preferRelativeResize="0"/>
          <p:nvPr/>
        </p:nvPicPr>
        <p:blipFill rotWithShape="1">
          <a:blip r:embed="rId3">
            <a:alphaModFix/>
          </a:blip>
          <a:srcRect b="0" l="-2083" r="-2083" t="0"/>
          <a:stretch/>
        </p:blipFill>
        <p:spPr>
          <a:xfrm>
            <a:off x="1143000" y="1962302"/>
            <a:ext cx="16002000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14"/>
          <p:cNvSpPr/>
          <p:nvPr/>
        </p:nvSpPr>
        <p:spPr>
          <a:xfrm>
            <a:off x="1143000" y="4000500"/>
            <a:ext cx="5048402" cy="3715207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4"/>
          <p:cNvSpPr/>
          <p:nvPr/>
        </p:nvSpPr>
        <p:spPr>
          <a:xfrm>
            <a:off x="6572707" y="4000500"/>
            <a:ext cx="5048402" cy="3715207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4"/>
          <p:cNvSpPr/>
          <p:nvPr/>
        </p:nvSpPr>
        <p:spPr>
          <a:xfrm>
            <a:off x="12001500" y="4000500"/>
            <a:ext cx="5143500" cy="3715207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4"/>
          <p:cNvSpPr/>
          <p:nvPr/>
        </p:nvSpPr>
        <p:spPr>
          <a:xfrm>
            <a:off x="1143000" y="8001000"/>
            <a:ext cx="16002000" cy="1714500"/>
          </a:xfrm>
          <a:prstGeom prst="rect">
            <a:avLst/>
          </a:prstGeom>
          <a:solidFill>
            <a:srgbClr val="EAF0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d039b869a620850ceef4fbac6a10582a.png" id="508" name="Google Shape;508;p14"/>
          <p:cNvPicPr preferRelativeResize="0"/>
          <p:nvPr/>
        </p:nvPicPr>
        <p:blipFill rotWithShape="1">
          <a:blip r:embed="rId4">
            <a:alphaModFix/>
          </a:blip>
          <a:srcRect b="0" l="-202" r="-202" t="0"/>
          <a:stretch/>
        </p:blipFill>
        <p:spPr>
          <a:xfrm>
            <a:off x="1143000" y="4000500"/>
            <a:ext cx="5048402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d1a9d93cd52901b51b4fa5225378be89.png" id="509" name="Google Shape;509;p14"/>
          <p:cNvPicPr preferRelativeResize="0"/>
          <p:nvPr/>
        </p:nvPicPr>
        <p:blipFill rotWithShape="1">
          <a:blip r:embed="rId5">
            <a:alphaModFix/>
          </a:blip>
          <a:srcRect b="0" l="-202" r="-202" t="0"/>
          <a:stretch/>
        </p:blipFill>
        <p:spPr>
          <a:xfrm>
            <a:off x="6572707" y="4000500"/>
            <a:ext cx="5048402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7b394d062dd08034b10923c46d236817.png" id="510" name="Google Shape;510;p14"/>
          <p:cNvPicPr preferRelativeResize="0"/>
          <p:nvPr/>
        </p:nvPicPr>
        <p:blipFill rotWithShape="1">
          <a:blip r:embed="rId6">
            <a:alphaModFix/>
          </a:blip>
          <a:srcRect b="0" l="-201" r="-201" t="0"/>
          <a:stretch/>
        </p:blipFill>
        <p:spPr>
          <a:xfrm>
            <a:off x="12001500" y="4000500"/>
            <a:ext cx="5143500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14"/>
          <p:cNvSpPr/>
          <p:nvPr/>
        </p:nvSpPr>
        <p:spPr>
          <a:xfrm>
            <a:off x="1143000" y="1047902"/>
            <a:ext cx="571500" cy="571500"/>
          </a:xfrm>
          <a:prstGeom prst="ellipse">
            <a:avLst/>
          </a:prstGeom>
          <a:solidFill>
            <a:srgbClr val="16215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4"/>
          <p:cNvSpPr txBox="1"/>
          <p:nvPr/>
        </p:nvSpPr>
        <p:spPr>
          <a:xfrm>
            <a:off x="1307592" y="1190549"/>
            <a:ext cx="293522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or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12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4"/>
          <p:cNvSpPr txBox="1"/>
          <p:nvPr/>
        </p:nvSpPr>
        <p:spPr>
          <a:xfrm>
            <a:off x="1904695" y="1238098"/>
            <a:ext cx="9525305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975"/>
              <a:buFont typeface="Poppins"/>
              <a:buNone/>
            </a:pPr>
            <a:r>
              <a:rPr b="1" i="0" lang="en-US" sz="975" u="none" cap="none" strike="noStrike">
                <a:solidFill>
                  <a:srgbClr val="16215B"/>
                </a:solidFill>
                <a:latin typeface="Poppins"/>
                <a:ea typeface="Poppins"/>
                <a:cs typeface="Poppins"/>
                <a:sym typeface="Poppins"/>
              </a:rPr>
              <a:t>Slide de trabalho de priorização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4"/>
          <p:cNvSpPr txBox="1"/>
          <p:nvPr/>
        </p:nvSpPr>
        <p:spPr>
          <a:xfrm>
            <a:off x="1143000" y="2286000"/>
            <a:ext cx="14287500" cy="1124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4200"/>
              <a:buFont typeface="Sora"/>
              <a:buNone/>
            </a:pPr>
            <a:r>
              <a:rPr b="1" i="0" lang="en-US" sz="42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Diante de tudo o que vimos, no que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4200"/>
              <a:buFont typeface="Sora"/>
              <a:buNone/>
            </a:pPr>
            <a:r>
              <a:rPr b="1" i="0" lang="en-US" sz="42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vale a pena </a:t>
            </a:r>
            <a:r>
              <a:rPr b="1" i="1" lang="en-US" sz="4200" u="none" cap="none" strike="noStrike">
                <a:solidFill>
                  <a:srgbClr val="0285FF"/>
                </a:solidFill>
                <a:latin typeface="Sora"/>
                <a:ea typeface="Sora"/>
                <a:cs typeface="Sora"/>
                <a:sym typeface="Sora"/>
              </a:rPr>
              <a:t>focar?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4"/>
          <p:cNvSpPr txBox="1"/>
          <p:nvPr/>
        </p:nvSpPr>
        <p:spPr>
          <a:xfrm>
            <a:off x="1524305" y="4304995"/>
            <a:ext cx="4381805" cy="362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B673"/>
              </a:buClr>
              <a:buSzPts val="2250"/>
              <a:buFont typeface="Sora"/>
              <a:buNone/>
            </a:pPr>
            <a:r>
              <a:rPr b="1" i="0" lang="en-US" sz="2250" u="none" cap="none" strike="noStrike">
                <a:solidFill>
                  <a:srgbClr val="2BB673"/>
                </a:solidFill>
                <a:latin typeface="Sora"/>
                <a:ea typeface="Sora"/>
                <a:cs typeface="Sora"/>
                <a:sym typeface="Sora"/>
              </a:rPr>
              <a:t>PROTEGER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4"/>
          <p:cNvSpPr txBox="1"/>
          <p:nvPr/>
        </p:nvSpPr>
        <p:spPr>
          <a:xfrm>
            <a:off x="1524305" y="4743907"/>
            <a:ext cx="43818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O que precisa permanecer forte? Máx. 2 tópicos.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4"/>
          <p:cNvSpPr txBox="1"/>
          <p:nvPr/>
        </p:nvSpPr>
        <p:spPr>
          <a:xfrm>
            <a:off x="1524305" y="5257800"/>
            <a:ext cx="4381805" cy="734263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4000" lIns="190500" spcFirstLastPara="1" rIns="190500" wrap="square" tIns="25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[Tópico]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4"/>
          <p:cNvSpPr txBox="1"/>
          <p:nvPr/>
        </p:nvSpPr>
        <p:spPr>
          <a:xfrm>
            <a:off x="1524305" y="6143854"/>
            <a:ext cx="4381805" cy="734263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4000" lIns="190500" spcFirstLastPara="1" rIns="190500" wrap="square" tIns="25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[Tópico]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4"/>
          <p:cNvSpPr txBox="1"/>
          <p:nvPr/>
        </p:nvSpPr>
        <p:spPr>
          <a:xfrm>
            <a:off x="1524305" y="7029907"/>
            <a:ext cx="4381805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75"/>
              <a:buFont typeface="Poppins"/>
              <a:buNone/>
            </a:pPr>
            <a:r>
              <a:rPr b="0" i="1" lang="en-US" sz="975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[Notas da discussão]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4"/>
          <p:cNvSpPr txBox="1"/>
          <p:nvPr/>
        </p:nvSpPr>
        <p:spPr>
          <a:xfrm>
            <a:off x="6953098" y="4304995"/>
            <a:ext cx="4381805" cy="362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225D"/>
              </a:buClr>
              <a:buSzPts val="2250"/>
              <a:buFont typeface="Sora"/>
              <a:buNone/>
            </a:pPr>
            <a:r>
              <a:rPr b="1" i="0" lang="en-US" sz="2250" u="none" cap="none" strike="noStrike">
                <a:solidFill>
                  <a:srgbClr val="D5225D"/>
                </a:solidFill>
                <a:latin typeface="Sora"/>
                <a:ea typeface="Sora"/>
                <a:cs typeface="Sora"/>
                <a:sym typeface="Sora"/>
              </a:rPr>
              <a:t>TRATAR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4"/>
          <p:cNvSpPr txBox="1"/>
          <p:nvPr/>
        </p:nvSpPr>
        <p:spPr>
          <a:xfrm>
            <a:off x="6953098" y="4743907"/>
            <a:ext cx="43818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Onde a evidência sustenta agir? Máx. 3.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4"/>
          <p:cNvSpPr txBox="1"/>
          <p:nvPr/>
        </p:nvSpPr>
        <p:spPr>
          <a:xfrm>
            <a:off x="6953098" y="5257800"/>
            <a:ext cx="4381805" cy="543154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400" lIns="190500" spcFirstLastPara="1" rIns="190500" wrap="square" tIns="152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[Tópico]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4"/>
          <p:cNvSpPr txBox="1"/>
          <p:nvPr/>
        </p:nvSpPr>
        <p:spPr>
          <a:xfrm>
            <a:off x="6953098" y="5934456"/>
            <a:ext cx="4381805" cy="543154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400" lIns="190500" spcFirstLastPara="1" rIns="190500" wrap="square" tIns="152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[Tópico]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4"/>
          <p:cNvSpPr txBox="1"/>
          <p:nvPr/>
        </p:nvSpPr>
        <p:spPr>
          <a:xfrm>
            <a:off x="6953098" y="6610198"/>
            <a:ext cx="4381805" cy="543154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400" lIns="190500" spcFirstLastPara="1" rIns="190500" wrap="square" tIns="152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[Tópico]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4"/>
          <p:cNvSpPr txBox="1"/>
          <p:nvPr/>
        </p:nvSpPr>
        <p:spPr>
          <a:xfrm>
            <a:off x="6953098" y="7286854"/>
            <a:ext cx="4381805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75"/>
              <a:buFont typeface="Poppins"/>
              <a:buNone/>
            </a:pPr>
            <a:r>
              <a:rPr b="0" i="1" lang="en-US" sz="975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[Notas da discussão]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4"/>
          <p:cNvSpPr txBox="1"/>
          <p:nvPr/>
        </p:nvSpPr>
        <p:spPr>
          <a:xfrm>
            <a:off x="12382805" y="4304995"/>
            <a:ext cx="4476902" cy="362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68A14"/>
              </a:buClr>
              <a:buSzPts val="2250"/>
              <a:buFont typeface="Sora"/>
              <a:buNone/>
            </a:pPr>
            <a:r>
              <a:rPr b="1" i="0" lang="en-US" sz="2250" u="none" cap="none" strike="noStrike">
                <a:solidFill>
                  <a:srgbClr val="B68A14"/>
                </a:solidFill>
                <a:latin typeface="Sora"/>
                <a:ea typeface="Sora"/>
                <a:cs typeface="Sora"/>
                <a:sym typeface="Sora"/>
              </a:rPr>
              <a:t>APROFUNDAR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4"/>
          <p:cNvSpPr txBox="1"/>
          <p:nvPr/>
        </p:nvSpPr>
        <p:spPr>
          <a:xfrm>
            <a:off x="12382805" y="4743907"/>
            <a:ext cx="447690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O que merece investigação antes de agir? Máx. 2.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4"/>
          <p:cNvSpPr txBox="1"/>
          <p:nvPr/>
        </p:nvSpPr>
        <p:spPr>
          <a:xfrm>
            <a:off x="12382805" y="5257800"/>
            <a:ext cx="4476902" cy="734263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4000" lIns="190500" spcFirstLastPara="1" rIns="190500" wrap="square" tIns="25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[Tópico]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4"/>
          <p:cNvSpPr txBox="1"/>
          <p:nvPr/>
        </p:nvSpPr>
        <p:spPr>
          <a:xfrm>
            <a:off x="12382805" y="6143854"/>
            <a:ext cx="4476902" cy="734263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4000" lIns="190500" spcFirstLastPara="1" rIns="190500" wrap="square" tIns="25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[Tópico]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4"/>
          <p:cNvSpPr txBox="1"/>
          <p:nvPr/>
        </p:nvSpPr>
        <p:spPr>
          <a:xfrm>
            <a:off x="12382805" y="7029907"/>
            <a:ext cx="447690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75"/>
              <a:buFont typeface="Poppins"/>
              <a:buNone/>
            </a:pPr>
            <a:r>
              <a:rPr b="0" i="1" lang="en-US" sz="975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[Notas da discussão]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4"/>
          <p:cNvSpPr txBox="1"/>
          <p:nvPr/>
        </p:nvSpPr>
        <p:spPr>
          <a:xfrm>
            <a:off x="1524305" y="8248802"/>
            <a:ext cx="15240305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0285FF"/>
                </a:solidFill>
                <a:latin typeface="Poppins"/>
                <a:ea typeface="Poppins"/>
                <a:cs typeface="Poppins"/>
                <a:sym typeface="Poppins"/>
              </a:rPr>
              <a:t>Quatro testes para aplicar na escolha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4"/>
          <p:cNvSpPr txBox="1"/>
          <p:nvPr/>
        </p:nvSpPr>
        <p:spPr>
          <a:xfrm>
            <a:off x="1524305" y="8630107"/>
            <a:ext cx="3620110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1500"/>
              <a:buFont typeface="Sora"/>
              <a:buNone/>
            </a:pPr>
            <a:r>
              <a:rPr b="1" i="0" lang="en-US" sz="15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Impacto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4"/>
          <p:cNvSpPr txBox="1"/>
          <p:nvPr/>
        </p:nvSpPr>
        <p:spPr>
          <a:xfrm>
            <a:off x="1524305" y="8943746"/>
            <a:ext cx="3620110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Quais tópicos importam mais para a experiência das pessoas?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4"/>
          <p:cNvSpPr txBox="1"/>
          <p:nvPr/>
        </p:nvSpPr>
        <p:spPr>
          <a:xfrm>
            <a:off x="5524805" y="8630107"/>
            <a:ext cx="3620110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1500"/>
              <a:buFont typeface="Sora"/>
              <a:buNone/>
            </a:pPr>
            <a:r>
              <a:rPr b="1" i="0" lang="en-US" sz="15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Influência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4"/>
          <p:cNvSpPr txBox="1"/>
          <p:nvPr/>
        </p:nvSpPr>
        <p:spPr>
          <a:xfrm>
            <a:off x="5524805" y="8943746"/>
            <a:ext cx="411480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O que essa liderança consegue de fato influenciar?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4"/>
          <p:cNvSpPr txBox="1"/>
          <p:nvPr/>
        </p:nvSpPr>
        <p:spPr>
          <a:xfrm>
            <a:off x="9525305" y="8630107"/>
            <a:ext cx="3620110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1500"/>
              <a:buFont typeface="Sora"/>
              <a:buNone/>
            </a:pPr>
            <a:r>
              <a:rPr b="1" i="0" lang="en-US" sz="15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Evidência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4"/>
          <p:cNvSpPr txBox="1"/>
          <p:nvPr/>
        </p:nvSpPr>
        <p:spPr>
          <a:xfrm>
            <a:off x="9525305" y="8943746"/>
            <a:ext cx="362011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Onde sabemos o bastante para agir?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4"/>
          <p:cNvSpPr txBox="1"/>
          <p:nvPr/>
        </p:nvSpPr>
        <p:spPr>
          <a:xfrm>
            <a:off x="13525805" y="8630107"/>
            <a:ext cx="3429000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225D"/>
              </a:buClr>
              <a:buSzPts val="1500"/>
              <a:buFont typeface="Sora"/>
              <a:buNone/>
            </a:pPr>
            <a:r>
              <a:rPr b="1" i="0" lang="en-US" sz="1500" u="none" cap="none" strike="noStrike">
                <a:solidFill>
                  <a:srgbClr val="D5225D"/>
                </a:solidFill>
                <a:latin typeface="Sora"/>
                <a:ea typeface="Sora"/>
                <a:cs typeface="Sora"/>
                <a:sym typeface="Sora"/>
              </a:rPr>
              <a:t>Foco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4"/>
          <p:cNvSpPr txBox="1"/>
          <p:nvPr/>
        </p:nvSpPr>
        <p:spPr>
          <a:xfrm>
            <a:off x="13525805" y="8943746"/>
            <a:ext cx="3429000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O que estamos escolhendo </a:t>
            </a:r>
            <a:r>
              <a:rPr b="0" i="1" lang="en-US" sz="105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não</a:t>
            </a:r>
            <a:r>
              <a:rPr b="0" i="0" lang="en-US" sz="105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 priorizar de propósito?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4"/>
          <p:cNvSpPr txBox="1"/>
          <p:nvPr/>
        </p:nvSpPr>
        <p:spPr>
          <a:xfrm>
            <a:off x="16706088" y="9905695"/>
            <a:ext cx="67574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050"/>
              <a:buFont typeface="Sora"/>
              <a:buNone/>
            </a:pPr>
            <a:r>
              <a:rPr b="0" i="0" lang="en-US" sz="1050" u="none" cap="none" strike="noStrike">
                <a:solidFill>
                  <a:srgbClr val="4B5274"/>
                </a:solidFill>
                <a:latin typeface="Sora"/>
                <a:ea typeface="Sora"/>
                <a:cs typeface="Sora"/>
                <a:sym typeface="Sora"/>
              </a:rPr>
              <a:t>12 / 13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D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571723da0b9e7496659dc38ed713a537.png" id="546" name="Google Shape;546;p15"/>
          <p:cNvPicPr preferRelativeResize="0"/>
          <p:nvPr/>
        </p:nvPicPr>
        <p:blipFill rotWithShape="1">
          <a:blip r:embed="rId3">
            <a:alphaModFix/>
          </a:blip>
          <a:srcRect b="0" l="-2083" r="-2083" t="0"/>
          <a:stretch/>
        </p:blipFill>
        <p:spPr>
          <a:xfrm>
            <a:off x="1143000" y="1867205"/>
            <a:ext cx="16002000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15"/>
          <p:cNvSpPr/>
          <p:nvPr/>
        </p:nvSpPr>
        <p:spPr>
          <a:xfrm>
            <a:off x="1143000" y="6667805"/>
            <a:ext cx="3047695" cy="16578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5"/>
          <p:cNvSpPr/>
          <p:nvPr/>
        </p:nvSpPr>
        <p:spPr>
          <a:xfrm>
            <a:off x="1143000" y="6667805"/>
            <a:ext cx="3047695" cy="38405"/>
          </a:xfrm>
          <a:prstGeom prst="rect">
            <a:avLst/>
          </a:prstGeom>
          <a:solidFill>
            <a:srgbClr val="16215B"/>
          </a:solidFill>
          <a:ln cap="flat" cmpd="sng" w="12700">
            <a:solidFill>
              <a:srgbClr val="16215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5"/>
          <p:cNvSpPr/>
          <p:nvPr/>
        </p:nvSpPr>
        <p:spPr>
          <a:xfrm>
            <a:off x="4381805" y="6667805"/>
            <a:ext cx="3047695" cy="16578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5"/>
          <p:cNvSpPr/>
          <p:nvPr/>
        </p:nvSpPr>
        <p:spPr>
          <a:xfrm>
            <a:off x="4381805" y="6667805"/>
            <a:ext cx="3047695" cy="38405"/>
          </a:xfrm>
          <a:prstGeom prst="rect">
            <a:avLst/>
          </a:prstGeom>
          <a:solidFill>
            <a:srgbClr val="0285FF"/>
          </a:solidFill>
          <a:ln cap="flat" cmpd="sng" w="12700">
            <a:solidFill>
              <a:srgbClr val="0285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5"/>
          <p:cNvSpPr/>
          <p:nvPr/>
        </p:nvSpPr>
        <p:spPr>
          <a:xfrm>
            <a:off x="7619695" y="6667805"/>
            <a:ext cx="3047695" cy="16578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5"/>
          <p:cNvSpPr/>
          <p:nvPr/>
        </p:nvSpPr>
        <p:spPr>
          <a:xfrm>
            <a:off x="7619695" y="6667805"/>
            <a:ext cx="3047695" cy="38405"/>
          </a:xfrm>
          <a:prstGeom prst="rect">
            <a:avLst/>
          </a:prstGeom>
          <a:solidFill>
            <a:srgbClr val="895CF5"/>
          </a:solidFill>
          <a:ln cap="flat" cmpd="sng" w="12700">
            <a:solidFill>
              <a:srgbClr val="895C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5"/>
          <p:cNvSpPr/>
          <p:nvPr/>
        </p:nvSpPr>
        <p:spPr>
          <a:xfrm>
            <a:off x="10858500" y="6667805"/>
            <a:ext cx="3047695" cy="16578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5"/>
          <p:cNvSpPr/>
          <p:nvPr/>
        </p:nvSpPr>
        <p:spPr>
          <a:xfrm>
            <a:off x="10858500" y="6667805"/>
            <a:ext cx="3047695" cy="38405"/>
          </a:xfrm>
          <a:prstGeom prst="rect">
            <a:avLst/>
          </a:prstGeom>
          <a:solidFill>
            <a:srgbClr val="2BB673"/>
          </a:solidFill>
          <a:ln cap="flat" cmpd="sng" w="12700">
            <a:solidFill>
              <a:srgbClr val="2BB67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5"/>
          <p:cNvSpPr/>
          <p:nvPr/>
        </p:nvSpPr>
        <p:spPr>
          <a:xfrm>
            <a:off x="14097305" y="6667805"/>
            <a:ext cx="3047695" cy="16578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5"/>
          <p:cNvSpPr/>
          <p:nvPr/>
        </p:nvSpPr>
        <p:spPr>
          <a:xfrm>
            <a:off x="14097305" y="6667805"/>
            <a:ext cx="3047695" cy="38405"/>
          </a:xfrm>
          <a:prstGeom prst="rect">
            <a:avLst/>
          </a:prstGeom>
          <a:solidFill>
            <a:srgbClr val="D5225D"/>
          </a:solidFill>
          <a:ln cap="flat" cmpd="sng" w="12700">
            <a:solidFill>
              <a:srgbClr val="D5225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5"/>
          <p:cNvSpPr/>
          <p:nvPr/>
        </p:nvSpPr>
        <p:spPr>
          <a:xfrm>
            <a:off x="1143000" y="8630107"/>
            <a:ext cx="16002000" cy="1047902"/>
          </a:xfrm>
          <a:prstGeom prst="rect">
            <a:avLst/>
          </a:prstGeom>
          <a:solidFill>
            <a:srgbClr val="16215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5"/>
          <p:cNvSpPr/>
          <p:nvPr/>
        </p:nvSpPr>
        <p:spPr>
          <a:xfrm>
            <a:off x="1143000" y="952805"/>
            <a:ext cx="571500" cy="571500"/>
          </a:xfrm>
          <a:prstGeom prst="ellipse">
            <a:avLst/>
          </a:prstGeom>
          <a:solidFill>
            <a:srgbClr val="16215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5"/>
          <p:cNvSpPr txBox="1"/>
          <p:nvPr/>
        </p:nvSpPr>
        <p:spPr>
          <a:xfrm>
            <a:off x="1307592" y="1095451"/>
            <a:ext cx="293522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or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13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5"/>
          <p:cNvSpPr txBox="1"/>
          <p:nvPr/>
        </p:nvSpPr>
        <p:spPr>
          <a:xfrm>
            <a:off x="1904695" y="1143000"/>
            <a:ext cx="9525305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975"/>
              <a:buFont typeface="Poppins"/>
              <a:buNone/>
            </a:pPr>
            <a:r>
              <a:rPr b="1" i="0" lang="en-US" sz="975" u="none" cap="none" strike="noStrike">
                <a:solidFill>
                  <a:srgbClr val="16215B"/>
                </a:solidFill>
                <a:latin typeface="Poppins"/>
                <a:ea typeface="Poppins"/>
                <a:cs typeface="Poppins"/>
                <a:sym typeface="Poppins"/>
              </a:rPr>
              <a:t>Da prioridade à responsabilidade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5"/>
          <p:cNvSpPr txBox="1"/>
          <p:nvPr/>
        </p:nvSpPr>
        <p:spPr>
          <a:xfrm>
            <a:off x="1143000" y="2152498"/>
            <a:ext cx="14287500" cy="5340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4200"/>
              <a:buFont typeface="Sora"/>
              <a:buNone/>
            </a:pPr>
            <a:r>
              <a:rPr b="1" i="0" lang="en-US" sz="42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O que acontece </a:t>
            </a:r>
            <a:r>
              <a:rPr b="1" i="1" lang="en-US" sz="4200" u="none" cap="none" strike="noStrike">
                <a:solidFill>
                  <a:srgbClr val="0285FF"/>
                </a:solidFill>
                <a:latin typeface="Sora"/>
                <a:ea typeface="Sora"/>
                <a:cs typeface="Sora"/>
                <a:sym typeface="Sora"/>
              </a:rPr>
              <a:t>agora?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62" name="Google Shape;562;p15"/>
          <p:cNvGraphicFramePr/>
          <p:nvPr/>
        </p:nvGraphicFramePr>
        <p:xfrm>
          <a:off x="1143000" y="31437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{0DAC2FE4-DBA5-4F3B-94BE-2F4E2715C5E2}</a:tableStyleId>
              </a:tblPr>
              <a:tblGrid>
                <a:gridCol w="3040375"/>
                <a:gridCol w="2560325"/>
                <a:gridCol w="3040375"/>
                <a:gridCol w="1760225"/>
                <a:gridCol w="1760225"/>
                <a:gridCol w="1600200"/>
                <a:gridCol w="2240275"/>
              </a:tblGrid>
              <a:tr h="726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Poppins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PRIORIDADE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52700" marB="15270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Poppins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DECISÃO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52700" marB="15270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Poppins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PRÓXIMO PASSO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52700" marB="15270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Poppins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RESPONSÁVEL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52700" marB="15270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Poppins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APOIO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52700" marB="15270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Poppins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ATÉ QUANDO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52700" marB="15270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Poppins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SINAL DE SUCESSO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52700" marB="15270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5B"/>
                    </a:solidFill>
                  </a:tcPr>
                </a:tc>
              </a:tr>
              <a:tr h="726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125"/>
                        <a:buFont typeface="Poppins"/>
                        <a:buNone/>
                      </a:pPr>
                      <a:r>
                        <a:rPr lang="en-US" sz="1125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[Tópico]</a:t>
                      </a:r>
                      <a:endParaRPr sz="112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09400" marB="20940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274"/>
                        </a:buClr>
                        <a:buSzPts val="975"/>
                        <a:buFont typeface="Poppins"/>
                        <a:buNone/>
                      </a:pPr>
                      <a:r>
                        <a:rPr i="1" lang="en-US" sz="975" u="none" cap="none" strike="noStrike">
                          <a:solidFill>
                            <a:srgbClr val="4B527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Agir / Investigar / Monitorar / Proteger</a:t>
                      </a:r>
                      <a:endParaRPr sz="97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09400" marB="20940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09400" marB="20940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09400" marB="20940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09400" marB="20940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09400" marB="20940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09400" marB="20940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26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125"/>
                        <a:buFont typeface="Poppins"/>
                        <a:buNone/>
                      </a:pPr>
                      <a:r>
                        <a:rPr lang="en-US" sz="1125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[Tópico]</a:t>
                      </a:r>
                      <a:endParaRPr sz="112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09400" marB="20940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274"/>
                        </a:buClr>
                        <a:buSzPts val="975"/>
                        <a:buFont typeface="Poppins"/>
                        <a:buNone/>
                      </a:pPr>
                      <a:r>
                        <a:rPr i="1" lang="en-US" sz="975" u="none" cap="none" strike="noStrike">
                          <a:solidFill>
                            <a:srgbClr val="4B527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Agir / Investigar / Monitorar / Proteger</a:t>
                      </a:r>
                      <a:endParaRPr sz="97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09400" marB="20940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09400" marB="20940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09400" marB="20940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09400" marB="20940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09400" marB="20940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09400" marB="20940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</a:tr>
              <a:tr h="726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125"/>
                        <a:buFont typeface="Poppins"/>
                        <a:buNone/>
                      </a:pPr>
                      <a:r>
                        <a:rPr lang="en-US" sz="1125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[Tópico]</a:t>
                      </a:r>
                      <a:endParaRPr sz="112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09400" marB="20940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274"/>
                        </a:buClr>
                        <a:buSzPts val="975"/>
                        <a:buFont typeface="Poppins"/>
                        <a:buNone/>
                      </a:pPr>
                      <a:r>
                        <a:rPr i="1" lang="en-US" sz="975" u="none" cap="none" strike="noStrike">
                          <a:solidFill>
                            <a:srgbClr val="4B527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Agir / Investigar / Monitorar / Proteger</a:t>
                      </a:r>
                      <a:endParaRPr sz="97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09400" marB="20940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09400" marB="20940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09400" marB="20940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09400" marB="20940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09400" marB="20940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09400" marB="20940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63" name="Google Shape;563;p15"/>
          <p:cNvSpPr txBox="1"/>
          <p:nvPr/>
        </p:nvSpPr>
        <p:spPr>
          <a:xfrm>
            <a:off x="1143000" y="6286500"/>
            <a:ext cx="1600200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0285FF"/>
                </a:solidFill>
                <a:latin typeface="Poppins"/>
                <a:ea typeface="Poppins"/>
                <a:cs typeface="Poppins"/>
                <a:sym typeface="Poppins"/>
              </a:rPr>
              <a:t>Quem é dono do quê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5"/>
          <p:cNvSpPr txBox="1"/>
          <p:nvPr/>
        </p:nvSpPr>
        <p:spPr>
          <a:xfrm>
            <a:off x="1410005" y="6896405"/>
            <a:ext cx="2572207" cy="409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1275"/>
              <a:buFont typeface="Sora"/>
              <a:buNone/>
            </a:pPr>
            <a:r>
              <a:rPr b="1" i="0" lang="en-US" sz="1275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LIDERANÇA DO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1275"/>
              <a:buFont typeface="Sora"/>
              <a:buNone/>
            </a:pPr>
            <a:r>
              <a:rPr b="1" i="0" lang="en-US" sz="1275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DEPARTAMENTO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5"/>
          <p:cNvSpPr txBox="1"/>
          <p:nvPr/>
        </p:nvSpPr>
        <p:spPr>
          <a:xfrm>
            <a:off x="1410005" y="7434072"/>
            <a:ext cx="2904134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Decisões estruturais e de operação.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5"/>
          <p:cNvSpPr txBox="1"/>
          <p:nvPr/>
        </p:nvSpPr>
        <p:spPr>
          <a:xfrm>
            <a:off x="4647895" y="6896405"/>
            <a:ext cx="2572207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1275"/>
              <a:buFont typeface="Sora"/>
              <a:buNone/>
            </a:pPr>
            <a:r>
              <a:rPr b="1" i="0" lang="en-US" sz="1275" u="none" cap="none" strike="noStrike">
                <a:solidFill>
                  <a:srgbClr val="0285FF"/>
                </a:solidFill>
                <a:latin typeface="Sora"/>
                <a:ea typeface="Sora"/>
                <a:cs typeface="Sora"/>
                <a:sym typeface="Sora"/>
              </a:rPr>
              <a:t>GESTORES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5"/>
          <p:cNvSpPr txBox="1"/>
          <p:nvPr/>
        </p:nvSpPr>
        <p:spPr>
          <a:xfrm>
            <a:off x="4647895" y="7231990"/>
            <a:ext cx="2572207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Práticas diárias de liderança.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5"/>
          <p:cNvSpPr txBox="1"/>
          <p:nvPr/>
        </p:nvSpPr>
        <p:spPr>
          <a:xfrm>
            <a:off x="7886700" y="6896405"/>
            <a:ext cx="2572207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5CF5"/>
              </a:buClr>
              <a:buSzPts val="1275"/>
              <a:buFont typeface="Sora"/>
              <a:buNone/>
            </a:pPr>
            <a:r>
              <a:rPr b="1" i="0" lang="en-US" sz="1275" u="none" cap="none" strike="noStrike">
                <a:solidFill>
                  <a:srgbClr val="895CF5"/>
                </a:solidFill>
                <a:latin typeface="Sora"/>
                <a:ea typeface="Sora"/>
                <a:cs typeface="Sora"/>
                <a:sym typeface="Sora"/>
              </a:rPr>
              <a:t>HRBP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5"/>
          <p:cNvSpPr txBox="1"/>
          <p:nvPr/>
        </p:nvSpPr>
        <p:spPr>
          <a:xfrm>
            <a:off x="7886700" y="7231990"/>
            <a:ext cx="2572207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Diagnóstico, desafio, acompanhamento e suporte.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5"/>
          <p:cNvSpPr txBox="1"/>
          <p:nvPr/>
        </p:nvSpPr>
        <p:spPr>
          <a:xfrm>
            <a:off x="11125505" y="6896405"/>
            <a:ext cx="2572207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B673"/>
              </a:buClr>
              <a:buSzPts val="1275"/>
              <a:buFont typeface="Sora"/>
              <a:buNone/>
            </a:pPr>
            <a:r>
              <a:rPr b="1" i="0" lang="en-US" sz="1275" u="none" cap="none" strike="noStrike">
                <a:solidFill>
                  <a:srgbClr val="2BB673"/>
                </a:solidFill>
                <a:latin typeface="Sora"/>
                <a:ea typeface="Sora"/>
                <a:cs typeface="Sora"/>
                <a:sym typeface="Sora"/>
              </a:rPr>
              <a:t>GESTÃO DE PESSOAS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5"/>
          <p:cNvSpPr txBox="1"/>
          <p:nvPr/>
        </p:nvSpPr>
        <p:spPr>
          <a:xfrm>
            <a:off x="11125505" y="7231990"/>
            <a:ext cx="2572207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Sistemas e intervenções de pessoas da companhia.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5"/>
          <p:cNvSpPr txBox="1"/>
          <p:nvPr/>
        </p:nvSpPr>
        <p:spPr>
          <a:xfrm>
            <a:off x="14363395" y="6896405"/>
            <a:ext cx="2572207" cy="409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5225D"/>
              </a:buClr>
              <a:buSzPts val="1275"/>
              <a:buFont typeface="Sora"/>
              <a:buNone/>
            </a:pPr>
            <a:r>
              <a:rPr b="1" i="0" lang="en-US" sz="1275" u="none" cap="none" strike="noStrike">
                <a:solidFill>
                  <a:srgbClr val="D5225D"/>
                </a:solidFill>
                <a:latin typeface="Sora"/>
                <a:ea typeface="Sora"/>
                <a:cs typeface="Sora"/>
                <a:sym typeface="Sora"/>
              </a:rPr>
              <a:t>LIDERANÇA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5225D"/>
              </a:buClr>
              <a:buSzPts val="1275"/>
              <a:buFont typeface="Sora"/>
              <a:buNone/>
            </a:pPr>
            <a:r>
              <a:rPr b="1" i="0" lang="en-US" sz="1275" u="none" cap="none" strike="noStrike">
                <a:solidFill>
                  <a:srgbClr val="D5225D"/>
                </a:solidFill>
                <a:latin typeface="Sora"/>
                <a:ea typeface="Sora"/>
                <a:cs typeface="Sora"/>
                <a:sym typeface="Sora"/>
              </a:rPr>
              <a:t>EXECUTIVA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5"/>
          <p:cNvSpPr txBox="1"/>
          <p:nvPr/>
        </p:nvSpPr>
        <p:spPr>
          <a:xfrm>
            <a:off x="14363395" y="7434072"/>
            <a:ext cx="2572207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Questões que pedem decisões da empresa.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5"/>
          <p:cNvSpPr txBox="1"/>
          <p:nvPr/>
        </p:nvSpPr>
        <p:spPr>
          <a:xfrm>
            <a:off x="1524305" y="8896198"/>
            <a:ext cx="15240305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Sora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Nem todo achado de pesquisa vira uma </a:t>
            </a:r>
            <a:r>
              <a:rPr b="0" i="1" lang="en-US" sz="3000" u="none" cap="none" strike="noStrike">
                <a:solidFill>
                  <a:srgbClr val="F8CD4B"/>
                </a:solidFill>
                <a:latin typeface="Sora"/>
                <a:ea typeface="Sora"/>
                <a:cs typeface="Sora"/>
                <a:sym typeface="Sora"/>
              </a:rPr>
              <a:t>ação de RH.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5"/>
          <p:cNvSpPr txBox="1"/>
          <p:nvPr/>
        </p:nvSpPr>
        <p:spPr>
          <a:xfrm>
            <a:off x="15240305" y="9810598"/>
            <a:ext cx="171450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050"/>
              <a:buFont typeface="Sora"/>
              <a:buNone/>
            </a:pPr>
            <a:r>
              <a:rPr b="0" i="0" lang="en-US" sz="1050" u="none" cap="none" strike="noStrike">
                <a:solidFill>
                  <a:srgbClr val="4B5274"/>
                </a:solidFill>
                <a:latin typeface="Sora"/>
                <a:ea typeface="Sora"/>
                <a:cs typeface="Sora"/>
                <a:sym typeface="Sora"/>
              </a:rPr>
              <a:t>13 / 13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D"/>
        </a:solidFill>
      </p:bgPr>
    </p:bg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571723da0b9e7496659dc38ed713a537.png" id="581" name="Google Shape;581;p16"/>
          <p:cNvPicPr preferRelativeResize="0"/>
          <p:nvPr/>
        </p:nvPicPr>
        <p:blipFill rotWithShape="1">
          <a:blip r:embed="rId3">
            <a:alphaModFix/>
          </a:blip>
          <a:srcRect b="0" l="-2083" r="-2083" t="0"/>
          <a:stretch/>
        </p:blipFill>
        <p:spPr>
          <a:xfrm>
            <a:off x="1143000" y="2247595"/>
            <a:ext cx="16002000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16"/>
          <p:cNvSpPr/>
          <p:nvPr/>
        </p:nvSpPr>
        <p:spPr>
          <a:xfrm>
            <a:off x="1143000" y="2533802"/>
            <a:ext cx="5333695" cy="409559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6"/>
          <p:cNvSpPr/>
          <p:nvPr/>
        </p:nvSpPr>
        <p:spPr>
          <a:xfrm>
            <a:off x="6762902" y="2533802"/>
            <a:ext cx="10382098" cy="409559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6"/>
          <p:cNvSpPr/>
          <p:nvPr/>
        </p:nvSpPr>
        <p:spPr>
          <a:xfrm>
            <a:off x="1143000" y="6819595"/>
            <a:ext cx="5333695" cy="1904695"/>
          </a:xfrm>
          <a:prstGeom prst="rect">
            <a:avLst/>
          </a:prstGeom>
          <a:solidFill>
            <a:srgbClr val="EAF0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6"/>
          <p:cNvSpPr/>
          <p:nvPr/>
        </p:nvSpPr>
        <p:spPr>
          <a:xfrm>
            <a:off x="6762902" y="6819595"/>
            <a:ext cx="5333695" cy="1904695"/>
          </a:xfrm>
          <a:prstGeom prst="rect">
            <a:avLst/>
          </a:prstGeom>
          <a:solidFill>
            <a:srgbClr val="EAF0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6"/>
          <p:cNvSpPr/>
          <p:nvPr/>
        </p:nvSpPr>
        <p:spPr>
          <a:xfrm>
            <a:off x="12382805" y="6819595"/>
            <a:ext cx="4781398" cy="192389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6"/>
          <p:cNvSpPr/>
          <p:nvPr/>
        </p:nvSpPr>
        <p:spPr>
          <a:xfrm>
            <a:off x="1143000" y="8915400"/>
            <a:ext cx="16002000" cy="1047902"/>
          </a:xfrm>
          <a:prstGeom prst="rect">
            <a:avLst/>
          </a:prstGeom>
          <a:solidFill>
            <a:srgbClr val="16215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75554a26810b287334efd5ad4280f6dc.png" id="588" name="Google Shape;588;p16"/>
          <p:cNvPicPr preferRelativeResize="0"/>
          <p:nvPr/>
        </p:nvPicPr>
        <p:blipFill rotWithShape="1">
          <a:blip r:embed="rId4">
            <a:alphaModFix/>
          </a:blip>
          <a:srcRect b="0" l="-201" r="-201" t="0"/>
          <a:stretch/>
        </p:blipFill>
        <p:spPr>
          <a:xfrm>
            <a:off x="0" y="0"/>
            <a:ext cx="182880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20a1fe1a29d367f0e337479a2578c76d.png" id="589" name="Google Shape;589;p16"/>
          <p:cNvPicPr preferRelativeResize="0"/>
          <p:nvPr/>
        </p:nvPicPr>
        <p:blipFill rotWithShape="1">
          <a:blip r:embed="rId5">
            <a:alphaModFix/>
          </a:blip>
          <a:srcRect b="-403" l="0" r="0" t="-403"/>
          <a:stretch/>
        </p:blipFill>
        <p:spPr>
          <a:xfrm>
            <a:off x="1143000" y="2533802"/>
            <a:ext cx="5333695" cy="57607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16"/>
          <p:cNvSpPr/>
          <p:nvPr/>
        </p:nvSpPr>
        <p:spPr>
          <a:xfrm>
            <a:off x="1447495" y="4953305"/>
            <a:ext cx="4743907" cy="1447495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6ce94105c5227a91a4e9a6911f133187.png" id="591" name="Google Shape;591;p16"/>
          <p:cNvPicPr preferRelativeResize="0"/>
          <p:nvPr/>
        </p:nvPicPr>
        <p:blipFill rotWithShape="1">
          <a:blip r:embed="rId6">
            <a:alphaModFix/>
          </a:blip>
          <a:srcRect b="-401" l="0" r="0" t="-401"/>
          <a:stretch/>
        </p:blipFill>
        <p:spPr>
          <a:xfrm>
            <a:off x="6762902" y="2533802"/>
            <a:ext cx="10382098" cy="576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591ce8fe1a5b6faa434a338482f32902.png" id="592" name="Google Shape;592;p16"/>
          <p:cNvPicPr preferRelativeResize="0"/>
          <p:nvPr/>
        </p:nvPicPr>
        <p:blipFill rotWithShape="1">
          <a:blip r:embed="rId7">
            <a:alphaModFix/>
          </a:blip>
          <a:srcRect b="0" l="-408" r="-408" t="0"/>
          <a:stretch/>
        </p:blipFill>
        <p:spPr>
          <a:xfrm>
            <a:off x="1143000" y="6819595"/>
            <a:ext cx="57607" cy="1904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7884f426d493eeefc72a918b85a7ba8e.png" id="593" name="Google Shape;593;p16"/>
          <p:cNvPicPr preferRelativeResize="0"/>
          <p:nvPr/>
        </p:nvPicPr>
        <p:blipFill rotWithShape="1">
          <a:blip r:embed="rId8">
            <a:alphaModFix/>
          </a:blip>
          <a:srcRect b="0" l="-408" r="-408" t="0"/>
          <a:stretch/>
        </p:blipFill>
        <p:spPr>
          <a:xfrm>
            <a:off x="6762902" y="6819595"/>
            <a:ext cx="57607" cy="1904695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16"/>
          <p:cNvSpPr txBox="1"/>
          <p:nvPr/>
        </p:nvSpPr>
        <p:spPr>
          <a:xfrm>
            <a:off x="1143000" y="495605"/>
            <a:ext cx="2781605" cy="277063"/>
          </a:xfrm>
          <a:prstGeom prst="rect">
            <a:avLst/>
          </a:prstGeom>
          <a:solidFill>
            <a:srgbClr val="16215B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500" lIns="139700" spcFirstLastPara="1" rIns="139700" wrap="square" tIns="63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Apêndice · duplicar por driver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6"/>
          <p:cNvSpPr txBox="1"/>
          <p:nvPr/>
        </p:nvSpPr>
        <p:spPr>
          <a:xfrm>
            <a:off x="13334695" y="552298"/>
            <a:ext cx="381030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{{AREA}} · {{ONDA}}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6"/>
          <p:cNvSpPr txBox="1"/>
          <p:nvPr/>
        </p:nvSpPr>
        <p:spPr>
          <a:xfrm>
            <a:off x="1143000" y="1009498"/>
            <a:ext cx="16002000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3900"/>
              <a:buFont typeface="Sora"/>
              <a:buNone/>
            </a:pPr>
            <a:r>
              <a:rPr b="1" i="0" lang="en-US" sz="39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{{D0_NOME}}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6"/>
          <p:cNvSpPr txBox="1"/>
          <p:nvPr/>
        </p:nvSpPr>
        <p:spPr>
          <a:xfrm>
            <a:off x="1143000" y="1638605"/>
            <a:ext cx="1600200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350"/>
              <a:buFont typeface="Poppins"/>
              <a:buNone/>
            </a:pPr>
            <a:r>
              <a:rPr b="0" i="1" lang="en-US" sz="135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{{D0_DESC}}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6"/>
          <p:cNvSpPr txBox="1"/>
          <p:nvPr/>
        </p:nvSpPr>
        <p:spPr>
          <a:xfrm>
            <a:off x="1447495" y="2781605"/>
            <a:ext cx="47631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0285FF"/>
                </a:solidFill>
                <a:latin typeface="Poppins"/>
                <a:ea typeface="Poppins"/>
                <a:cs typeface="Poppins"/>
                <a:sym typeface="Poppins"/>
              </a:rPr>
              <a:t>Evidência · quantitativa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6"/>
          <p:cNvSpPr txBox="1"/>
          <p:nvPr/>
        </p:nvSpPr>
        <p:spPr>
          <a:xfrm>
            <a:off x="1447495" y="3143707"/>
            <a:ext cx="23820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Favorável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6"/>
          <p:cNvSpPr txBox="1"/>
          <p:nvPr/>
        </p:nvSpPr>
        <p:spPr>
          <a:xfrm>
            <a:off x="1447495" y="3372307"/>
            <a:ext cx="23820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3600"/>
              <a:buFont typeface="Sora"/>
              <a:buNone/>
            </a:pPr>
            <a:r>
              <a:rPr b="0" i="0" lang="en-US" sz="36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{{D0_FAV}}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6"/>
          <p:cNvSpPr txBox="1"/>
          <p:nvPr/>
        </p:nvSpPr>
        <p:spPr>
          <a:xfrm>
            <a:off x="4095598" y="3143707"/>
            <a:ext cx="219090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Média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6"/>
          <p:cNvSpPr txBox="1"/>
          <p:nvPr/>
        </p:nvSpPr>
        <p:spPr>
          <a:xfrm>
            <a:off x="4095598" y="3372307"/>
            <a:ext cx="21909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3600"/>
              <a:buFont typeface="Sora"/>
              <a:buNone/>
            </a:pPr>
            <a:r>
              <a:rPr b="0" i="0" lang="en-US" sz="3600" u="none" cap="none" strike="noStrike">
                <a:solidFill>
                  <a:srgbClr val="0285FF"/>
                </a:solidFill>
                <a:latin typeface="Sora"/>
                <a:ea typeface="Sora"/>
                <a:cs typeface="Sora"/>
                <a:sym typeface="Sora"/>
              </a:rPr>
              <a:t>{{D0_MED}}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6"/>
          <p:cNvSpPr txBox="1"/>
          <p:nvPr/>
        </p:nvSpPr>
        <p:spPr>
          <a:xfrm>
            <a:off x="1447495" y="4114800"/>
            <a:ext cx="23820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vs Flutter Brasil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6"/>
          <p:cNvSpPr txBox="1"/>
          <p:nvPr/>
        </p:nvSpPr>
        <p:spPr>
          <a:xfrm>
            <a:off x="1447495" y="4343400"/>
            <a:ext cx="2382012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2550"/>
              <a:buFont typeface="Sora"/>
              <a:buNone/>
            </a:pPr>
            <a:r>
              <a:rPr b="0" i="0" lang="en-US" sz="2550" u="none" cap="none" strike="noStrike">
                <a:solidFill>
                  <a:srgbClr val="131A40"/>
                </a:solidFill>
                <a:latin typeface="Sora"/>
                <a:ea typeface="Sora"/>
                <a:cs typeface="Sora"/>
                <a:sym typeface="Sora"/>
              </a:rPr>
              <a:t>{{D0_VSFB}}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6"/>
          <p:cNvSpPr txBox="1"/>
          <p:nvPr/>
        </p:nvSpPr>
        <p:spPr>
          <a:xfrm>
            <a:off x="4095598" y="4114800"/>
            <a:ext cx="219090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vs onda anterior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6"/>
          <p:cNvSpPr txBox="1"/>
          <p:nvPr/>
        </p:nvSpPr>
        <p:spPr>
          <a:xfrm>
            <a:off x="4095598" y="4343400"/>
            <a:ext cx="2190902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2550"/>
              <a:buFont typeface="Sora"/>
              <a:buNone/>
            </a:pPr>
            <a:r>
              <a:rPr b="0" i="0" lang="en-US" sz="2550" u="none" cap="none" strike="noStrike">
                <a:solidFill>
                  <a:srgbClr val="131A40"/>
                </a:solidFill>
                <a:latin typeface="Sora"/>
                <a:ea typeface="Sora"/>
                <a:cs typeface="Sora"/>
                <a:sym typeface="Sora"/>
              </a:rPr>
              <a:t>{{D0_VSANT}}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6"/>
          <p:cNvSpPr txBox="1"/>
          <p:nvPr/>
        </p:nvSpPr>
        <p:spPr>
          <a:xfrm>
            <a:off x="7067398" y="2781605"/>
            <a:ext cx="9811512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0285FF"/>
                </a:solidFill>
                <a:latin typeface="Poppins"/>
                <a:ea typeface="Poppins"/>
                <a:cs typeface="Poppins"/>
                <a:sym typeface="Poppins"/>
              </a:rPr>
              <a:t>Detalhe das perguntas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09" name="Google Shape;609;p16"/>
          <p:cNvGraphicFramePr/>
          <p:nvPr/>
        </p:nvGraphicFramePr>
        <p:xfrm>
          <a:off x="7067398" y="3143707"/>
          <a:ext cx="3000000" cy="2880360"/>
        </p:xfrm>
        <a:graphic>
          <a:graphicData uri="http://schemas.openxmlformats.org/drawingml/2006/table">
            <a:tbl>
              <a:tblPr>
                <a:noFill/>
                <a:tableStyleId>{0DAC2FE4-DBA5-4F3B-94BE-2F4E2715C5E2}</a:tableStyleId>
              </a:tblPr>
              <a:tblGrid>
                <a:gridCol w="5374850"/>
                <a:gridCol w="1465775"/>
                <a:gridCol w="1465775"/>
                <a:gridCol w="1465775"/>
              </a:tblGrid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5B"/>
                        </a:buClr>
                        <a:buSzPts val="825"/>
                        <a:buFont typeface="Poppins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16215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PERGUNTA</a:t>
                      </a:r>
                      <a:endParaRPr sz="82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5B"/>
                        </a:buClr>
                        <a:buSzPts val="825"/>
                        <a:buFont typeface="Poppins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16215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FAVORÁVEL</a:t>
                      </a:r>
                      <a:endParaRPr sz="82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5B"/>
                        </a:buClr>
                        <a:buSzPts val="825"/>
                        <a:buFont typeface="Poppins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16215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MÉDIA</a:t>
                      </a:r>
                      <a:endParaRPr sz="82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5B"/>
                        </a:buClr>
                        <a:buSzPts val="825"/>
                        <a:buFont typeface="Poppins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16215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VS FB</a:t>
                      </a:r>
                      <a:endParaRPr sz="82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9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{{D0_R0_C0}}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{{D0_R0_C1}}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{{D0_R0_C2}}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{{D0_R0_C3}}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9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{{D0_R1_C0}}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{{D0_R1_C1}}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{{D0_R1_C2}}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{{D0_R1_C3}}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9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{{D0_R2_C0}}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{{D0_R2_C1}}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{{D0_R2_C2}}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{{D0_R2_C3}}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9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{{D0_R3_C0}}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{{D0_R3_C1}}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{{D0_R3_C2}}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{{D0_R3_C3}}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9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{{D0_R4_C0}}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{{D0_R4_C1}}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{{D0_R4_C2}}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{{D0_R4_C3}}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274"/>
                        </a:buClr>
                        <a:buSzPts val="975"/>
                        <a:buFont typeface="Poppins"/>
                        <a:buNone/>
                      </a:pPr>
                      <a:r>
                        <a:rPr i="1" lang="en-US" sz="900" u="none" cap="none" strike="noStrike">
                          <a:solidFill>
                            <a:srgbClr val="4B527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{{D0_R5_C0}}</a:t>
                      </a:r>
                      <a:endParaRPr sz="97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{{D0_R5_C1}}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{{D0_R5_C2}}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{{D0_R5_C3}}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10" name="Google Shape;610;p16"/>
          <p:cNvSpPr txBox="1"/>
          <p:nvPr/>
        </p:nvSpPr>
        <p:spPr>
          <a:xfrm>
            <a:off x="1447495" y="7029907"/>
            <a:ext cx="47631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B673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2BB673"/>
                </a:solidFill>
                <a:latin typeface="Poppins"/>
                <a:ea typeface="Poppins"/>
                <a:cs typeface="Poppins"/>
                <a:sym typeface="Poppins"/>
              </a:rPr>
              <a:t>O que as pessoas valorizam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6"/>
          <p:cNvSpPr txBox="1"/>
          <p:nvPr/>
        </p:nvSpPr>
        <p:spPr>
          <a:xfrm>
            <a:off x="1447495" y="7277710"/>
            <a:ext cx="4763110" cy="846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[Percepção positiva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[Percepção positiva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[Percepção positiva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6"/>
          <p:cNvSpPr txBox="1"/>
          <p:nvPr/>
        </p:nvSpPr>
        <p:spPr>
          <a:xfrm>
            <a:off x="7067398" y="7029907"/>
            <a:ext cx="47631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225D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D5225D"/>
                </a:solidFill>
                <a:latin typeface="Poppins"/>
                <a:ea typeface="Poppins"/>
                <a:cs typeface="Poppins"/>
                <a:sym typeface="Poppins"/>
              </a:rPr>
              <a:t>Onde as pessoas sentem fricção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6"/>
          <p:cNvSpPr txBox="1"/>
          <p:nvPr/>
        </p:nvSpPr>
        <p:spPr>
          <a:xfrm>
            <a:off x="7067398" y="7277710"/>
            <a:ext cx="4763110" cy="846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[Fricção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[Fricção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[Fricção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6"/>
          <p:cNvSpPr txBox="1"/>
          <p:nvPr/>
        </p:nvSpPr>
        <p:spPr>
          <a:xfrm>
            <a:off x="12687300" y="7029907"/>
            <a:ext cx="41916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5CF5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895CF5"/>
                </a:solidFill>
                <a:latin typeface="Poppins"/>
                <a:ea typeface="Poppins"/>
                <a:cs typeface="Poppins"/>
                <a:sym typeface="Poppins"/>
              </a:rPr>
              <a:t>Nas palavras delas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6"/>
          <p:cNvSpPr txBox="1"/>
          <p:nvPr/>
        </p:nvSpPr>
        <p:spPr>
          <a:xfrm>
            <a:off x="12687300" y="7343546"/>
            <a:ext cx="4191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1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“[Comentário anônimo breve]”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6"/>
          <p:cNvSpPr txBox="1"/>
          <p:nvPr/>
        </p:nvSpPr>
        <p:spPr>
          <a:xfrm>
            <a:off x="12687300" y="7705649"/>
            <a:ext cx="4191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1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“[Comentário anônimo breve]”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6"/>
          <p:cNvSpPr txBox="1"/>
          <p:nvPr/>
        </p:nvSpPr>
        <p:spPr>
          <a:xfrm>
            <a:off x="1447495" y="9105595"/>
            <a:ext cx="800100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CD4B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F8CD4B"/>
                </a:solidFill>
                <a:latin typeface="Poppins"/>
                <a:ea typeface="Poppins"/>
                <a:cs typeface="Poppins"/>
                <a:sym typeface="Poppins"/>
              </a:rPr>
              <a:t>Leitura do HRBP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6"/>
          <p:cNvSpPr txBox="1"/>
          <p:nvPr/>
        </p:nvSpPr>
        <p:spPr>
          <a:xfrm>
            <a:off x="1447495" y="9381744"/>
            <a:ext cx="8001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[O que a combinação de evidência quantitativa e qualitativa sugere?]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6"/>
          <p:cNvSpPr txBox="1"/>
          <p:nvPr/>
        </p:nvSpPr>
        <p:spPr>
          <a:xfrm>
            <a:off x="10096805" y="9105595"/>
            <a:ext cx="70491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Classificação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6"/>
          <p:cNvSpPr/>
          <p:nvPr/>
        </p:nvSpPr>
        <p:spPr>
          <a:xfrm>
            <a:off x="10096805" y="9420149"/>
            <a:ext cx="209398" cy="209398"/>
          </a:xfrm>
          <a:prstGeom prst="rect">
            <a:avLst/>
          </a:prstGeom>
          <a:noFill/>
          <a:ln cap="flat" cmpd="sng" w="25400">
            <a:solidFill>
              <a:srgbClr val="2BB6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6"/>
          <p:cNvSpPr txBox="1"/>
          <p:nvPr/>
        </p:nvSpPr>
        <p:spPr>
          <a:xfrm>
            <a:off x="10401300" y="9434779"/>
            <a:ext cx="866851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B673"/>
              </a:buClr>
              <a:buSzPts val="1125"/>
              <a:buFont typeface="Sora"/>
              <a:buNone/>
            </a:pPr>
            <a:r>
              <a:rPr b="1" i="0" lang="en-US" sz="1125" u="none" cap="none" strike="noStrike">
                <a:solidFill>
                  <a:srgbClr val="2BB673"/>
                </a:solidFill>
                <a:latin typeface="Sora"/>
                <a:ea typeface="Sora"/>
                <a:cs typeface="Sora"/>
                <a:sym typeface="Sora"/>
              </a:rPr>
              <a:t>PROTEGER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6"/>
          <p:cNvSpPr/>
          <p:nvPr/>
        </p:nvSpPr>
        <p:spPr>
          <a:xfrm>
            <a:off x="11454689" y="9420149"/>
            <a:ext cx="209398" cy="209398"/>
          </a:xfrm>
          <a:prstGeom prst="rect">
            <a:avLst/>
          </a:prstGeom>
          <a:noFill/>
          <a:ln cap="flat" cmpd="sng" w="25400">
            <a:solidFill>
              <a:srgbClr val="D522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6"/>
          <p:cNvSpPr txBox="1"/>
          <p:nvPr/>
        </p:nvSpPr>
        <p:spPr>
          <a:xfrm>
            <a:off x="11759184" y="9434779"/>
            <a:ext cx="638251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FA8"/>
              </a:buClr>
              <a:buSzPts val="1125"/>
              <a:buFont typeface="Sora"/>
              <a:buNone/>
            </a:pPr>
            <a:r>
              <a:rPr b="1" i="0" lang="en-US" sz="1125" u="none" cap="none" strike="noStrike">
                <a:solidFill>
                  <a:srgbClr val="FF8FA8"/>
                </a:solidFill>
                <a:latin typeface="Sora"/>
                <a:ea typeface="Sora"/>
                <a:cs typeface="Sora"/>
                <a:sym typeface="Sora"/>
              </a:rPr>
              <a:t>TRATAR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6"/>
          <p:cNvSpPr/>
          <p:nvPr/>
        </p:nvSpPr>
        <p:spPr>
          <a:xfrm>
            <a:off x="12584887" y="9420149"/>
            <a:ext cx="209398" cy="209398"/>
          </a:xfrm>
          <a:prstGeom prst="rect">
            <a:avLst/>
          </a:prstGeom>
          <a:noFill/>
          <a:ln cap="flat" cmpd="sng" w="25400">
            <a:solidFill>
              <a:srgbClr val="F8CD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6"/>
          <p:cNvSpPr txBox="1"/>
          <p:nvPr/>
        </p:nvSpPr>
        <p:spPr>
          <a:xfrm>
            <a:off x="12889382" y="9434779"/>
            <a:ext cx="1153058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CD4B"/>
              </a:buClr>
              <a:buSzPts val="1125"/>
              <a:buFont typeface="Sora"/>
              <a:buNone/>
            </a:pPr>
            <a:r>
              <a:rPr b="1" i="0" lang="en-US" sz="1125" u="none" cap="none" strike="noStrike">
                <a:solidFill>
                  <a:srgbClr val="F8CD4B"/>
                </a:solidFill>
                <a:latin typeface="Sora"/>
                <a:ea typeface="Sora"/>
                <a:cs typeface="Sora"/>
                <a:sym typeface="Sora"/>
              </a:rPr>
              <a:t>APROFUNDAR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6"/>
          <p:cNvSpPr/>
          <p:nvPr/>
        </p:nvSpPr>
        <p:spPr>
          <a:xfrm>
            <a:off x="14231722" y="9420149"/>
            <a:ext cx="209398" cy="209398"/>
          </a:xfrm>
          <a:prstGeom prst="rect">
            <a:avLst/>
          </a:prstGeom>
          <a:noFill/>
          <a:ln cap="flat" cmpd="sng" w="25400">
            <a:solidFill>
              <a:srgbClr val="FFFF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6"/>
          <p:cNvSpPr txBox="1"/>
          <p:nvPr/>
        </p:nvSpPr>
        <p:spPr>
          <a:xfrm>
            <a:off x="14537131" y="9434779"/>
            <a:ext cx="1410005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Sora"/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SEM PRIORIDADE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28" name="Chart 627"/>
          <p:cNvGraphicFramePr>
            <a:graphicFrameLocks noGrp="1"/>
          </p:cNvGraphicFramePr>
          <p:nvPr/>
        </p:nvGraphicFramePr>
        <p:xfrm>
          <a:off x="1554480" y="5029200"/>
          <a:ext cx="4526280" cy="1325880"/>
        </p:xfrm>
        <a:graphic>
          <a:graphicData uri="http://schemas.openxmlformats.org/drawingml/2006/chart">
            <c:chart r:id="rId9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D"/>
        </a:solidFill>
      </p:bgPr>
    </p:bg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571723da0b9e7496659dc38ed713a537.png" id="581" name="Google Shape;581;p16"/>
          <p:cNvPicPr preferRelativeResize="0"/>
          <p:nvPr/>
        </p:nvPicPr>
        <p:blipFill rotWithShape="1">
          <a:blip r:embed="rId3">
            <a:alphaModFix/>
          </a:blip>
          <a:srcRect b="0" l="-2083" r="-2083" t="0"/>
          <a:stretch/>
        </p:blipFill>
        <p:spPr>
          <a:xfrm>
            <a:off x="1143000" y="2247595"/>
            <a:ext cx="16002000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16"/>
          <p:cNvSpPr/>
          <p:nvPr/>
        </p:nvSpPr>
        <p:spPr>
          <a:xfrm>
            <a:off x="1143000" y="2533802"/>
            <a:ext cx="5333695" cy="409559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6"/>
          <p:cNvSpPr/>
          <p:nvPr/>
        </p:nvSpPr>
        <p:spPr>
          <a:xfrm>
            <a:off x="6762902" y="2533802"/>
            <a:ext cx="10382098" cy="409559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6"/>
          <p:cNvSpPr/>
          <p:nvPr/>
        </p:nvSpPr>
        <p:spPr>
          <a:xfrm>
            <a:off x="1143000" y="6819595"/>
            <a:ext cx="5333695" cy="1904695"/>
          </a:xfrm>
          <a:prstGeom prst="rect">
            <a:avLst/>
          </a:prstGeom>
          <a:solidFill>
            <a:srgbClr val="EAF0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6"/>
          <p:cNvSpPr/>
          <p:nvPr/>
        </p:nvSpPr>
        <p:spPr>
          <a:xfrm>
            <a:off x="6762902" y="6819595"/>
            <a:ext cx="5333695" cy="1904695"/>
          </a:xfrm>
          <a:prstGeom prst="rect">
            <a:avLst/>
          </a:prstGeom>
          <a:solidFill>
            <a:srgbClr val="EAF0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6"/>
          <p:cNvSpPr/>
          <p:nvPr/>
        </p:nvSpPr>
        <p:spPr>
          <a:xfrm>
            <a:off x="12382805" y="6819595"/>
            <a:ext cx="4781398" cy="192389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6"/>
          <p:cNvSpPr/>
          <p:nvPr/>
        </p:nvSpPr>
        <p:spPr>
          <a:xfrm>
            <a:off x="1143000" y="8915400"/>
            <a:ext cx="16002000" cy="1047902"/>
          </a:xfrm>
          <a:prstGeom prst="rect">
            <a:avLst/>
          </a:prstGeom>
          <a:solidFill>
            <a:srgbClr val="16215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75554a26810b287334efd5ad4280f6dc.png" id="588" name="Google Shape;588;p16"/>
          <p:cNvPicPr preferRelativeResize="0"/>
          <p:nvPr/>
        </p:nvPicPr>
        <p:blipFill rotWithShape="1">
          <a:blip r:embed="rId4">
            <a:alphaModFix/>
          </a:blip>
          <a:srcRect b="0" l="-201" r="-201" t="0"/>
          <a:stretch/>
        </p:blipFill>
        <p:spPr>
          <a:xfrm>
            <a:off x="0" y="0"/>
            <a:ext cx="182880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20a1fe1a29d367f0e337479a2578c76d.png" id="589" name="Google Shape;589;p16"/>
          <p:cNvPicPr preferRelativeResize="0"/>
          <p:nvPr/>
        </p:nvPicPr>
        <p:blipFill rotWithShape="1">
          <a:blip r:embed="rId5">
            <a:alphaModFix/>
          </a:blip>
          <a:srcRect b="-403" l="0" r="0" t="-403"/>
          <a:stretch/>
        </p:blipFill>
        <p:spPr>
          <a:xfrm>
            <a:off x="1143000" y="2533802"/>
            <a:ext cx="5333695" cy="57607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16"/>
          <p:cNvSpPr/>
          <p:nvPr/>
        </p:nvSpPr>
        <p:spPr>
          <a:xfrm>
            <a:off x="1447495" y="4953305"/>
            <a:ext cx="4743907" cy="1447495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6ce94105c5227a91a4e9a6911f133187.png" id="591" name="Google Shape;591;p16"/>
          <p:cNvPicPr preferRelativeResize="0"/>
          <p:nvPr/>
        </p:nvPicPr>
        <p:blipFill rotWithShape="1">
          <a:blip r:embed="rId6">
            <a:alphaModFix/>
          </a:blip>
          <a:srcRect b="-401" l="0" r="0" t="-401"/>
          <a:stretch/>
        </p:blipFill>
        <p:spPr>
          <a:xfrm>
            <a:off x="6762902" y="2533802"/>
            <a:ext cx="10382098" cy="576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591ce8fe1a5b6faa434a338482f32902.png" id="592" name="Google Shape;592;p16"/>
          <p:cNvPicPr preferRelativeResize="0"/>
          <p:nvPr/>
        </p:nvPicPr>
        <p:blipFill rotWithShape="1">
          <a:blip r:embed="rId7">
            <a:alphaModFix/>
          </a:blip>
          <a:srcRect b="0" l="-408" r="-408" t="0"/>
          <a:stretch/>
        </p:blipFill>
        <p:spPr>
          <a:xfrm>
            <a:off x="1143000" y="6819595"/>
            <a:ext cx="57607" cy="1904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7884f426d493eeefc72a918b85a7ba8e.png" id="593" name="Google Shape;593;p16"/>
          <p:cNvPicPr preferRelativeResize="0"/>
          <p:nvPr/>
        </p:nvPicPr>
        <p:blipFill rotWithShape="1">
          <a:blip r:embed="rId8">
            <a:alphaModFix/>
          </a:blip>
          <a:srcRect b="0" l="-408" r="-408" t="0"/>
          <a:stretch/>
        </p:blipFill>
        <p:spPr>
          <a:xfrm>
            <a:off x="6762902" y="6819595"/>
            <a:ext cx="57607" cy="1904695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16"/>
          <p:cNvSpPr txBox="1"/>
          <p:nvPr/>
        </p:nvSpPr>
        <p:spPr>
          <a:xfrm>
            <a:off x="1143000" y="495605"/>
            <a:ext cx="2781605" cy="277063"/>
          </a:xfrm>
          <a:prstGeom prst="rect">
            <a:avLst/>
          </a:prstGeom>
          <a:solidFill>
            <a:srgbClr val="16215B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500" lIns="139700" spcFirstLastPara="1" rIns="139700" wrap="square" tIns="63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Apêndice · duplicar por driver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6"/>
          <p:cNvSpPr txBox="1"/>
          <p:nvPr/>
        </p:nvSpPr>
        <p:spPr>
          <a:xfrm>
            <a:off x="13334695" y="552298"/>
            <a:ext cx="381030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{{AREA}} · {{ONDA}}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6"/>
          <p:cNvSpPr txBox="1"/>
          <p:nvPr/>
        </p:nvSpPr>
        <p:spPr>
          <a:xfrm>
            <a:off x="1143000" y="1009498"/>
            <a:ext cx="16002000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3900"/>
              <a:buFont typeface="Sora"/>
              <a:buNone/>
            </a:pPr>
            <a:r>
              <a:rPr b="1" i="0" lang="en-US" sz="39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{{D1_NOME}}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6"/>
          <p:cNvSpPr txBox="1"/>
          <p:nvPr/>
        </p:nvSpPr>
        <p:spPr>
          <a:xfrm>
            <a:off x="1143000" y="1638605"/>
            <a:ext cx="1600200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350"/>
              <a:buFont typeface="Poppins"/>
              <a:buNone/>
            </a:pPr>
            <a:r>
              <a:rPr b="0" i="1" lang="en-US" sz="135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{{D1_DESC}}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6"/>
          <p:cNvSpPr txBox="1"/>
          <p:nvPr/>
        </p:nvSpPr>
        <p:spPr>
          <a:xfrm>
            <a:off x="1447495" y="2781605"/>
            <a:ext cx="47631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0285FF"/>
                </a:solidFill>
                <a:latin typeface="Poppins"/>
                <a:ea typeface="Poppins"/>
                <a:cs typeface="Poppins"/>
                <a:sym typeface="Poppins"/>
              </a:rPr>
              <a:t>Evidência · quantitativa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6"/>
          <p:cNvSpPr txBox="1"/>
          <p:nvPr/>
        </p:nvSpPr>
        <p:spPr>
          <a:xfrm>
            <a:off x="1447495" y="3143707"/>
            <a:ext cx="23820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Favorável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6"/>
          <p:cNvSpPr txBox="1"/>
          <p:nvPr/>
        </p:nvSpPr>
        <p:spPr>
          <a:xfrm>
            <a:off x="1447495" y="3372307"/>
            <a:ext cx="23820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3600"/>
              <a:buFont typeface="Sora"/>
              <a:buNone/>
            </a:pPr>
            <a:r>
              <a:rPr b="0" i="0" lang="en-US" sz="36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{{D1_FAV}}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6"/>
          <p:cNvSpPr txBox="1"/>
          <p:nvPr/>
        </p:nvSpPr>
        <p:spPr>
          <a:xfrm>
            <a:off x="4095598" y="3143707"/>
            <a:ext cx="219090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Média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6"/>
          <p:cNvSpPr txBox="1"/>
          <p:nvPr/>
        </p:nvSpPr>
        <p:spPr>
          <a:xfrm>
            <a:off x="4095598" y="3372307"/>
            <a:ext cx="21909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3600"/>
              <a:buFont typeface="Sora"/>
              <a:buNone/>
            </a:pPr>
            <a:r>
              <a:rPr b="0" i="0" lang="en-US" sz="3600" u="none" cap="none" strike="noStrike">
                <a:solidFill>
                  <a:srgbClr val="0285FF"/>
                </a:solidFill>
                <a:latin typeface="Sora"/>
                <a:ea typeface="Sora"/>
                <a:cs typeface="Sora"/>
                <a:sym typeface="Sora"/>
              </a:rPr>
              <a:t>{{D1_MED}}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6"/>
          <p:cNvSpPr txBox="1"/>
          <p:nvPr/>
        </p:nvSpPr>
        <p:spPr>
          <a:xfrm>
            <a:off x="1447495" y="4114800"/>
            <a:ext cx="23820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vs Flutter Brasil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6"/>
          <p:cNvSpPr txBox="1"/>
          <p:nvPr/>
        </p:nvSpPr>
        <p:spPr>
          <a:xfrm>
            <a:off x="1447495" y="4343400"/>
            <a:ext cx="2382012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2550"/>
              <a:buFont typeface="Sora"/>
              <a:buNone/>
            </a:pPr>
            <a:r>
              <a:rPr b="0" i="0" lang="en-US" sz="2550" u="none" cap="none" strike="noStrike">
                <a:solidFill>
                  <a:srgbClr val="131A40"/>
                </a:solidFill>
                <a:latin typeface="Sora"/>
                <a:ea typeface="Sora"/>
                <a:cs typeface="Sora"/>
                <a:sym typeface="Sora"/>
              </a:rPr>
              <a:t>{{D1_VSFB}}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6"/>
          <p:cNvSpPr txBox="1"/>
          <p:nvPr/>
        </p:nvSpPr>
        <p:spPr>
          <a:xfrm>
            <a:off x="4095598" y="4114800"/>
            <a:ext cx="219090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vs onda anterior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6"/>
          <p:cNvSpPr txBox="1"/>
          <p:nvPr/>
        </p:nvSpPr>
        <p:spPr>
          <a:xfrm>
            <a:off x="4095598" y="4343400"/>
            <a:ext cx="2190902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2550"/>
              <a:buFont typeface="Sora"/>
              <a:buNone/>
            </a:pPr>
            <a:r>
              <a:rPr b="0" i="0" lang="en-US" sz="2550" u="none" cap="none" strike="noStrike">
                <a:solidFill>
                  <a:srgbClr val="131A40"/>
                </a:solidFill>
                <a:latin typeface="Sora"/>
                <a:ea typeface="Sora"/>
                <a:cs typeface="Sora"/>
                <a:sym typeface="Sora"/>
              </a:rPr>
              <a:t>{{D1_VSANT}}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6"/>
          <p:cNvSpPr txBox="1"/>
          <p:nvPr/>
        </p:nvSpPr>
        <p:spPr>
          <a:xfrm>
            <a:off x="7067398" y="2781605"/>
            <a:ext cx="9811512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0285FF"/>
                </a:solidFill>
                <a:latin typeface="Poppins"/>
                <a:ea typeface="Poppins"/>
                <a:cs typeface="Poppins"/>
                <a:sym typeface="Poppins"/>
              </a:rPr>
              <a:t>Detalhe das perguntas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09" name="Google Shape;609;p16"/>
          <p:cNvGraphicFramePr/>
          <p:nvPr/>
        </p:nvGraphicFramePr>
        <p:xfrm>
          <a:off x="7067398" y="3143707"/>
          <a:ext cx="3000000" cy="2880360"/>
        </p:xfrm>
        <a:graphic>
          <a:graphicData uri="http://schemas.openxmlformats.org/drawingml/2006/table">
            <a:tbl>
              <a:tblPr>
                <a:noFill/>
                <a:tableStyleId>{0DAC2FE4-DBA5-4F3B-94BE-2F4E2715C5E2}</a:tableStyleId>
              </a:tblPr>
              <a:tblGrid>
                <a:gridCol w="5374850"/>
                <a:gridCol w="1465775"/>
                <a:gridCol w="1465775"/>
                <a:gridCol w="1465775"/>
              </a:tblGrid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5B"/>
                        </a:buClr>
                        <a:buSzPts val="825"/>
                        <a:buFont typeface="Poppins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16215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PERGUNTA</a:t>
                      </a:r>
                      <a:endParaRPr sz="82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5B"/>
                        </a:buClr>
                        <a:buSzPts val="825"/>
                        <a:buFont typeface="Poppins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16215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FAVORÁVEL</a:t>
                      </a:r>
                      <a:endParaRPr sz="82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5B"/>
                        </a:buClr>
                        <a:buSzPts val="825"/>
                        <a:buFont typeface="Poppins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16215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MÉDIA</a:t>
                      </a:r>
                      <a:endParaRPr sz="82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5B"/>
                        </a:buClr>
                        <a:buSzPts val="825"/>
                        <a:buFont typeface="Poppins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16215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VS FB</a:t>
                      </a:r>
                      <a:endParaRPr sz="82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9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{{D1_R0_C0}}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{{D1_R0_C1}}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{{D1_R0_C2}}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{{D1_R0_C3}}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9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{{D1_R1_C0}}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{{D1_R1_C1}}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{{D1_R1_C2}}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{{D1_R1_C3}}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9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{{D1_R2_C0}}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{{D1_R2_C1}}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{{D1_R2_C2}}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{{D1_R2_C3}}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9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{{D1_R3_C0}}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{{D1_R3_C1}}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{{D1_R3_C2}}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{{D1_R3_C3}}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9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{{D1_R4_C0}}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{{D1_R4_C1}}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{{D1_R4_C2}}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{{D1_R4_C3}}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274"/>
                        </a:buClr>
                        <a:buSzPts val="975"/>
                        <a:buFont typeface="Poppins"/>
                        <a:buNone/>
                      </a:pPr>
                      <a:r>
                        <a:rPr i="1" lang="en-US" sz="900" u="none" cap="none" strike="noStrike">
                          <a:solidFill>
                            <a:srgbClr val="4B527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{{D1_R5_C0}}</a:t>
                      </a:r>
                      <a:endParaRPr sz="97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{{D1_R5_C1}}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{{D1_R5_C2}}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{{D1_R5_C3}}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10" name="Google Shape;610;p16"/>
          <p:cNvSpPr txBox="1"/>
          <p:nvPr/>
        </p:nvSpPr>
        <p:spPr>
          <a:xfrm>
            <a:off x="1447495" y="7029907"/>
            <a:ext cx="47631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B673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2BB673"/>
                </a:solidFill>
                <a:latin typeface="Poppins"/>
                <a:ea typeface="Poppins"/>
                <a:cs typeface="Poppins"/>
                <a:sym typeface="Poppins"/>
              </a:rPr>
              <a:t>O que as pessoas valorizam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6"/>
          <p:cNvSpPr txBox="1"/>
          <p:nvPr/>
        </p:nvSpPr>
        <p:spPr>
          <a:xfrm>
            <a:off x="1447495" y="7277710"/>
            <a:ext cx="4763110" cy="846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[Percepção positiva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[Percepção positiva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[Percepção positiva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6"/>
          <p:cNvSpPr txBox="1"/>
          <p:nvPr/>
        </p:nvSpPr>
        <p:spPr>
          <a:xfrm>
            <a:off x="7067398" y="7029907"/>
            <a:ext cx="47631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225D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D5225D"/>
                </a:solidFill>
                <a:latin typeface="Poppins"/>
                <a:ea typeface="Poppins"/>
                <a:cs typeface="Poppins"/>
                <a:sym typeface="Poppins"/>
              </a:rPr>
              <a:t>Onde as pessoas sentem fricção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6"/>
          <p:cNvSpPr txBox="1"/>
          <p:nvPr/>
        </p:nvSpPr>
        <p:spPr>
          <a:xfrm>
            <a:off x="7067398" y="7277710"/>
            <a:ext cx="4763110" cy="846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[Fricção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[Fricção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[Fricção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6"/>
          <p:cNvSpPr txBox="1"/>
          <p:nvPr/>
        </p:nvSpPr>
        <p:spPr>
          <a:xfrm>
            <a:off x="12687300" y="7029907"/>
            <a:ext cx="41916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5CF5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895CF5"/>
                </a:solidFill>
                <a:latin typeface="Poppins"/>
                <a:ea typeface="Poppins"/>
                <a:cs typeface="Poppins"/>
                <a:sym typeface="Poppins"/>
              </a:rPr>
              <a:t>Nas palavras delas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6"/>
          <p:cNvSpPr txBox="1"/>
          <p:nvPr/>
        </p:nvSpPr>
        <p:spPr>
          <a:xfrm>
            <a:off x="12687300" y="7343546"/>
            <a:ext cx="4191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1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“[Comentário anônimo breve]”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6"/>
          <p:cNvSpPr txBox="1"/>
          <p:nvPr/>
        </p:nvSpPr>
        <p:spPr>
          <a:xfrm>
            <a:off x="12687300" y="7705649"/>
            <a:ext cx="4191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1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“[Comentário anônimo breve]”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6"/>
          <p:cNvSpPr txBox="1"/>
          <p:nvPr/>
        </p:nvSpPr>
        <p:spPr>
          <a:xfrm>
            <a:off x="1447495" y="9105595"/>
            <a:ext cx="800100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CD4B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F8CD4B"/>
                </a:solidFill>
                <a:latin typeface="Poppins"/>
                <a:ea typeface="Poppins"/>
                <a:cs typeface="Poppins"/>
                <a:sym typeface="Poppins"/>
              </a:rPr>
              <a:t>Leitura do HRBP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6"/>
          <p:cNvSpPr txBox="1"/>
          <p:nvPr/>
        </p:nvSpPr>
        <p:spPr>
          <a:xfrm>
            <a:off x="1447495" y="9381744"/>
            <a:ext cx="8001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[O que a combinação de evidência quantitativa e qualitativa sugere?]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6"/>
          <p:cNvSpPr txBox="1"/>
          <p:nvPr/>
        </p:nvSpPr>
        <p:spPr>
          <a:xfrm>
            <a:off x="10096805" y="9105595"/>
            <a:ext cx="70491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Classificação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6"/>
          <p:cNvSpPr/>
          <p:nvPr/>
        </p:nvSpPr>
        <p:spPr>
          <a:xfrm>
            <a:off x="10096805" y="9420149"/>
            <a:ext cx="209398" cy="209398"/>
          </a:xfrm>
          <a:prstGeom prst="rect">
            <a:avLst/>
          </a:prstGeom>
          <a:noFill/>
          <a:ln cap="flat" cmpd="sng" w="25400">
            <a:solidFill>
              <a:srgbClr val="2BB6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6"/>
          <p:cNvSpPr txBox="1"/>
          <p:nvPr/>
        </p:nvSpPr>
        <p:spPr>
          <a:xfrm>
            <a:off x="10401300" y="9434779"/>
            <a:ext cx="866851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B673"/>
              </a:buClr>
              <a:buSzPts val="1125"/>
              <a:buFont typeface="Sora"/>
              <a:buNone/>
            </a:pPr>
            <a:r>
              <a:rPr b="1" i="0" lang="en-US" sz="1125" u="none" cap="none" strike="noStrike">
                <a:solidFill>
                  <a:srgbClr val="2BB673"/>
                </a:solidFill>
                <a:latin typeface="Sora"/>
                <a:ea typeface="Sora"/>
                <a:cs typeface="Sora"/>
                <a:sym typeface="Sora"/>
              </a:rPr>
              <a:t>PROTEGER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6"/>
          <p:cNvSpPr/>
          <p:nvPr/>
        </p:nvSpPr>
        <p:spPr>
          <a:xfrm>
            <a:off x="11454689" y="9420149"/>
            <a:ext cx="209398" cy="209398"/>
          </a:xfrm>
          <a:prstGeom prst="rect">
            <a:avLst/>
          </a:prstGeom>
          <a:noFill/>
          <a:ln cap="flat" cmpd="sng" w="25400">
            <a:solidFill>
              <a:srgbClr val="D522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6"/>
          <p:cNvSpPr txBox="1"/>
          <p:nvPr/>
        </p:nvSpPr>
        <p:spPr>
          <a:xfrm>
            <a:off x="11759184" y="9434779"/>
            <a:ext cx="638251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FA8"/>
              </a:buClr>
              <a:buSzPts val="1125"/>
              <a:buFont typeface="Sora"/>
              <a:buNone/>
            </a:pPr>
            <a:r>
              <a:rPr b="1" i="0" lang="en-US" sz="1125" u="none" cap="none" strike="noStrike">
                <a:solidFill>
                  <a:srgbClr val="FF8FA8"/>
                </a:solidFill>
                <a:latin typeface="Sora"/>
                <a:ea typeface="Sora"/>
                <a:cs typeface="Sora"/>
                <a:sym typeface="Sora"/>
              </a:rPr>
              <a:t>TRATAR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6"/>
          <p:cNvSpPr/>
          <p:nvPr/>
        </p:nvSpPr>
        <p:spPr>
          <a:xfrm>
            <a:off x="12584887" y="9420149"/>
            <a:ext cx="209398" cy="209398"/>
          </a:xfrm>
          <a:prstGeom prst="rect">
            <a:avLst/>
          </a:prstGeom>
          <a:noFill/>
          <a:ln cap="flat" cmpd="sng" w="25400">
            <a:solidFill>
              <a:srgbClr val="F8CD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6"/>
          <p:cNvSpPr txBox="1"/>
          <p:nvPr/>
        </p:nvSpPr>
        <p:spPr>
          <a:xfrm>
            <a:off x="12889382" y="9434779"/>
            <a:ext cx="1153058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CD4B"/>
              </a:buClr>
              <a:buSzPts val="1125"/>
              <a:buFont typeface="Sora"/>
              <a:buNone/>
            </a:pPr>
            <a:r>
              <a:rPr b="1" i="0" lang="en-US" sz="1125" u="none" cap="none" strike="noStrike">
                <a:solidFill>
                  <a:srgbClr val="F8CD4B"/>
                </a:solidFill>
                <a:latin typeface="Sora"/>
                <a:ea typeface="Sora"/>
                <a:cs typeface="Sora"/>
                <a:sym typeface="Sora"/>
              </a:rPr>
              <a:t>APROFUNDAR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6"/>
          <p:cNvSpPr/>
          <p:nvPr/>
        </p:nvSpPr>
        <p:spPr>
          <a:xfrm>
            <a:off x="14231722" y="9420149"/>
            <a:ext cx="209398" cy="209398"/>
          </a:xfrm>
          <a:prstGeom prst="rect">
            <a:avLst/>
          </a:prstGeom>
          <a:noFill/>
          <a:ln cap="flat" cmpd="sng" w="25400">
            <a:solidFill>
              <a:srgbClr val="FFFF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6"/>
          <p:cNvSpPr txBox="1"/>
          <p:nvPr/>
        </p:nvSpPr>
        <p:spPr>
          <a:xfrm>
            <a:off x="14537131" y="9434779"/>
            <a:ext cx="1410005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Sora"/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SEM PRIORIDADE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28" name="Chart 627"/>
          <p:cNvGraphicFramePr>
            <a:graphicFrameLocks noGrp="1"/>
          </p:cNvGraphicFramePr>
          <p:nvPr/>
        </p:nvGraphicFramePr>
        <p:xfrm>
          <a:off x="1554480" y="5029200"/>
          <a:ext cx="4526280" cy="1325880"/>
        </p:xfrm>
        <a:graphic>
          <a:graphicData uri="http://schemas.openxmlformats.org/drawingml/2006/chart">
            <c:chart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D"/>
        </a:solidFill>
      </p:bgPr>
    </p:bg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571723da0b9e7496659dc38ed713a537.png" id="581" name="Google Shape;581;p16"/>
          <p:cNvPicPr preferRelativeResize="0"/>
          <p:nvPr/>
        </p:nvPicPr>
        <p:blipFill rotWithShape="1">
          <a:blip r:embed="rId3">
            <a:alphaModFix/>
          </a:blip>
          <a:srcRect b="0" l="-2083" r="-2083" t="0"/>
          <a:stretch/>
        </p:blipFill>
        <p:spPr>
          <a:xfrm>
            <a:off x="1143000" y="2247595"/>
            <a:ext cx="16002000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16"/>
          <p:cNvSpPr/>
          <p:nvPr/>
        </p:nvSpPr>
        <p:spPr>
          <a:xfrm>
            <a:off x="1143000" y="2533802"/>
            <a:ext cx="5333695" cy="409559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6"/>
          <p:cNvSpPr/>
          <p:nvPr/>
        </p:nvSpPr>
        <p:spPr>
          <a:xfrm>
            <a:off x="6762902" y="2533802"/>
            <a:ext cx="10382098" cy="409559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6"/>
          <p:cNvSpPr/>
          <p:nvPr/>
        </p:nvSpPr>
        <p:spPr>
          <a:xfrm>
            <a:off x="1143000" y="6819595"/>
            <a:ext cx="5333695" cy="1904695"/>
          </a:xfrm>
          <a:prstGeom prst="rect">
            <a:avLst/>
          </a:prstGeom>
          <a:solidFill>
            <a:srgbClr val="EAF0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6"/>
          <p:cNvSpPr/>
          <p:nvPr/>
        </p:nvSpPr>
        <p:spPr>
          <a:xfrm>
            <a:off x="6762902" y="6819595"/>
            <a:ext cx="5333695" cy="1904695"/>
          </a:xfrm>
          <a:prstGeom prst="rect">
            <a:avLst/>
          </a:prstGeom>
          <a:solidFill>
            <a:srgbClr val="EAF0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6"/>
          <p:cNvSpPr/>
          <p:nvPr/>
        </p:nvSpPr>
        <p:spPr>
          <a:xfrm>
            <a:off x="12382805" y="6819595"/>
            <a:ext cx="4781398" cy="192389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6"/>
          <p:cNvSpPr/>
          <p:nvPr/>
        </p:nvSpPr>
        <p:spPr>
          <a:xfrm>
            <a:off x="1143000" y="8915400"/>
            <a:ext cx="16002000" cy="1047902"/>
          </a:xfrm>
          <a:prstGeom prst="rect">
            <a:avLst/>
          </a:prstGeom>
          <a:solidFill>
            <a:srgbClr val="16215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75554a26810b287334efd5ad4280f6dc.png" id="588" name="Google Shape;588;p16"/>
          <p:cNvPicPr preferRelativeResize="0"/>
          <p:nvPr/>
        </p:nvPicPr>
        <p:blipFill rotWithShape="1">
          <a:blip r:embed="rId4">
            <a:alphaModFix/>
          </a:blip>
          <a:srcRect b="0" l="-201" r="-201" t="0"/>
          <a:stretch/>
        </p:blipFill>
        <p:spPr>
          <a:xfrm>
            <a:off x="0" y="0"/>
            <a:ext cx="182880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20a1fe1a29d367f0e337479a2578c76d.png" id="589" name="Google Shape;589;p16"/>
          <p:cNvPicPr preferRelativeResize="0"/>
          <p:nvPr/>
        </p:nvPicPr>
        <p:blipFill rotWithShape="1">
          <a:blip r:embed="rId5">
            <a:alphaModFix/>
          </a:blip>
          <a:srcRect b="-403" l="0" r="0" t="-403"/>
          <a:stretch/>
        </p:blipFill>
        <p:spPr>
          <a:xfrm>
            <a:off x="1143000" y="2533802"/>
            <a:ext cx="5333695" cy="57607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16"/>
          <p:cNvSpPr/>
          <p:nvPr/>
        </p:nvSpPr>
        <p:spPr>
          <a:xfrm>
            <a:off x="1447495" y="4953305"/>
            <a:ext cx="4743907" cy="1447495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6ce94105c5227a91a4e9a6911f133187.png" id="591" name="Google Shape;591;p16"/>
          <p:cNvPicPr preferRelativeResize="0"/>
          <p:nvPr/>
        </p:nvPicPr>
        <p:blipFill rotWithShape="1">
          <a:blip r:embed="rId6">
            <a:alphaModFix/>
          </a:blip>
          <a:srcRect b="-401" l="0" r="0" t="-401"/>
          <a:stretch/>
        </p:blipFill>
        <p:spPr>
          <a:xfrm>
            <a:off x="6762902" y="2533802"/>
            <a:ext cx="10382098" cy="576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591ce8fe1a5b6faa434a338482f32902.png" id="592" name="Google Shape;592;p16"/>
          <p:cNvPicPr preferRelativeResize="0"/>
          <p:nvPr/>
        </p:nvPicPr>
        <p:blipFill rotWithShape="1">
          <a:blip r:embed="rId7">
            <a:alphaModFix/>
          </a:blip>
          <a:srcRect b="0" l="-408" r="-408" t="0"/>
          <a:stretch/>
        </p:blipFill>
        <p:spPr>
          <a:xfrm>
            <a:off x="1143000" y="6819595"/>
            <a:ext cx="57607" cy="1904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7884f426d493eeefc72a918b85a7ba8e.png" id="593" name="Google Shape;593;p16"/>
          <p:cNvPicPr preferRelativeResize="0"/>
          <p:nvPr/>
        </p:nvPicPr>
        <p:blipFill rotWithShape="1">
          <a:blip r:embed="rId8">
            <a:alphaModFix/>
          </a:blip>
          <a:srcRect b="0" l="-408" r="-408" t="0"/>
          <a:stretch/>
        </p:blipFill>
        <p:spPr>
          <a:xfrm>
            <a:off x="6762902" y="6819595"/>
            <a:ext cx="57607" cy="1904695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16"/>
          <p:cNvSpPr txBox="1"/>
          <p:nvPr/>
        </p:nvSpPr>
        <p:spPr>
          <a:xfrm>
            <a:off x="1143000" y="495605"/>
            <a:ext cx="2781605" cy="277063"/>
          </a:xfrm>
          <a:prstGeom prst="rect">
            <a:avLst/>
          </a:prstGeom>
          <a:solidFill>
            <a:srgbClr val="16215B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500" lIns="139700" spcFirstLastPara="1" rIns="139700" wrap="square" tIns="63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Apêndice · duplicar por driver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6"/>
          <p:cNvSpPr txBox="1"/>
          <p:nvPr/>
        </p:nvSpPr>
        <p:spPr>
          <a:xfrm>
            <a:off x="13334695" y="552298"/>
            <a:ext cx="381030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{{AREA}} · {{ONDA}}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6"/>
          <p:cNvSpPr txBox="1"/>
          <p:nvPr/>
        </p:nvSpPr>
        <p:spPr>
          <a:xfrm>
            <a:off x="1143000" y="1009498"/>
            <a:ext cx="16002000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3900"/>
              <a:buFont typeface="Sora"/>
              <a:buNone/>
            </a:pPr>
            <a:r>
              <a:rPr b="1" i="0" lang="en-US" sz="39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{{D2_NOME}}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6"/>
          <p:cNvSpPr txBox="1"/>
          <p:nvPr/>
        </p:nvSpPr>
        <p:spPr>
          <a:xfrm>
            <a:off x="1143000" y="1638605"/>
            <a:ext cx="1600200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350"/>
              <a:buFont typeface="Poppins"/>
              <a:buNone/>
            </a:pPr>
            <a:r>
              <a:rPr b="0" i="1" lang="en-US" sz="135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{{D2_DESC}}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6"/>
          <p:cNvSpPr txBox="1"/>
          <p:nvPr/>
        </p:nvSpPr>
        <p:spPr>
          <a:xfrm>
            <a:off x="1447495" y="2781605"/>
            <a:ext cx="47631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0285FF"/>
                </a:solidFill>
                <a:latin typeface="Poppins"/>
                <a:ea typeface="Poppins"/>
                <a:cs typeface="Poppins"/>
                <a:sym typeface="Poppins"/>
              </a:rPr>
              <a:t>Evidência · quantitativa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6"/>
          <p:cNvSpPr txBox="1"/>
          <p:nvPr/>
        </p:nvSpPr>
        <p:spPr>
          <a:xfrm>
            <a:off x="1447495" y="3143707"/>
            <a:ext cx="23820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Favorável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6"/>
          <p:cNvSpPr txBox="1"/>
          <p:nvPr/>
        </p:nvSpPr>
        <p:spPr>
          <a:xfrm>
            <a:off x="1447495" y="3372307"/>
            <a:ext cx="23820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3600"/>
              <a:buFont typeface="Sora"/>
              <a:buNone/>
            </a:pPr>
            <a:r>
              <a:rPr b="0" i="0" lang="en-US" sz="36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{{D2_FAV}}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6"/>
          <p:cNvSpPr txBox="1"/>
          <p:nvPr/>
        </p:nvSpPr>
        <p:spPr>
          <a:xfrm>
            <a:off x="4095598" y="3143707"/>
            <a:ext cx="219090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Média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6"/>
          <p:cNvSpPr txBox="1"/>
          <p:nvPr/>
        </p:nvSpPr>
        <p:spPr>
          <a:xfrm>
            <a:off x="4095598" y="3372307"/>
            <a:ext cx="21909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3600"/>
              <a:buFont typeface="Sora"/>
              <a:buNone/>
            </a:pPr>
            <a:r>
              <a:rPr b="0" i="0" lang="en-US" sz="3600" u="none" cap="none" strike="noStrike">
                <a:solidFill>
                  <a:srgbClr val="0285FF"/>
                </a:solidFill>
                <a:latin typeface="Sora"/>
                <a:ea typeface="Sora"/>
                <a:cs typeface="Sora"/>
                <a:sym typeface="Sora"/>
              </a:rPr>
              <a:t>{{D2_MED}}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6"/>
          <p:cNvSpPr txBox="1"/>
          <p:nvPr/>
        </p:nvSpPr>
        <p:spPr>
          <a:xfrm>
            <a:off x="1447495" y="4114800"/>
            <a:ext cx="23820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vs Flutter Brasil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6"/>
          <p:cNvSpPr txBox="1"/>
          <p:nvPr/>
        </p:nvSpPr>
        <p:spPr>
          <a:xfrm>
            <a:off x="1447495" y="4343400"/>
            <a:ext cx="2382012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2550"/>
              <a:buFont typeface="Sora"/>
              <a:buNone/>
            </a:pPr>
            <a:r>
              <a:rPr b="0" i="0" lang="en-US" sz="2550" u="none" cap="none" strike="noStrike">
                <a:solidFill>
                  <a:srgbClr val="131A40"/>
                </a:solidFill>
                <a:latin typeface="Sora"/>
                <a:ea typeface="Sora"/>
                <a:cs typeface="Sora"/>
                <a:sym typeface="Sora"/>
              </a:rPr>
              <a:t>{{D2_VSFB}}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6"/>
          <p:cNvSpPr txBox="1"/>
          <p:nvPr/>
        </p:nvSpPr>
        <p:spPr>
          <a:xfrm>
            <a:off x="4095598" y="4114800"/>
            <a:ext cx="219090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vs onda anterior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6"/>
          <p:cNvSpPr txBox="1"/>
          <p:nvPr/>
        </p:nvSpPr>
        <p:spPr>
          <a:xfrm>
            <a:off x="4095598" y="4343400"/>
            <a:ext cx="2190902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2550"/>
              <a:buFont typeface="Sora"/>
              <a:buNone/>
            </a:pPr>
            <a:r>
              <a:rPr b="0" i="0" lang="en-US" sz="2550" u="none" cap="none" strike="noStrike">
                <a:solidFill>
                  <a:srgbClr val="131A40"/>
                </a:solidFill>
                <a:latin typeface="Sora"/>
                <a:ea typeface="Sora"/>
                <a:cs typeface="Sora"/>
                <a:sym typeface="Sora"/>
              </a:rPr>
              <a:t>{{D2_VSANT}}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6"/>
          <p:cNvSpPr txBox="1"/>
          <p:nvPr/>
        </p:nvSpPr>
        <p:spPr>
          <a:xfrm>
            <a:off x="7067398" y="2781605"/>
            <a:ext cx="9811512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0285FF"/>
                </a:solidFill>
                <a:latin typeface="Poppins"/>
                <a:ea typeface="Poppins"/>
                <a:cs typeface="Poppins"/>
                <a:sym typeface="Poppins"/>
              </a:rPr>
              <a:t>Detalhe das perguntas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09" name="Google Shape;609;p16"/>
          <p:cNvGraphicFramePr/>
          <p:nvPr/>
        </p:nvGraphicFramePr>
        <p:xfrm>
          <a:off x="7067398" y="3143707"/>
          <a:ext cx="3000000" cy="2880360"/>
        </p:xfrm>
        <a:graphic>
          <a:graphicData uri="http://schemas.openxmlformats.org/drawingml/2006/table">
            <a:tbl>
              <a:tblPr>
                <a:noFill/>
                <a:tableStyleId>{0DAC2FE4-DBA5-4F3B-94BE-2F4E2715C5E2}</a:tableStyleId>
              </a:tblPr>
              <a:tblGrid>
                <a:gridCol w="5374850"/>
                <a:gridCol w="1465775"/>
                <a:gridCol w="1465775"/>
                <a:gridCol w="1465775"/>
              </a:tblGrid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5B"/>
                        </a:buClr>
                        <a:buSzPts val="825"/>
                        <a:buFont typeface="Poppins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16215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PERGUNTA</a:t>
                      </a:r>
                      <a:endParaRPr sz="82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5B"/>
                        </a:buClr>
                        <a:buSzPts val="825"/>
                        <a:buFont typeface="Poppins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16215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FAVORÁVEL</a:t>
                      </a:r>
                      <a:endParaRPr sz="82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5B"/>
                        </a:buClr>
                        <a:buSzPts val="825"/>
                        <a:buFont typeface="Poppins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16215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MÉDIA</a:t>
                      </a:r>
                      <a:endParaRPr sz="82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5B"/>
                        </a:buClr>
                        <a:buSzPts val="825"/>
                        <a:buFont typeface="Poppins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16215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VS FB</a:t>
                      </a:r>
                      <a:endParaRPr sz="82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9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{{D2_R0_C0}}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{{D2_R0_C1}}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{{D2_R0_C2}}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{{D2_R0_C3}}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9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{{D2_R1_C0}}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{{D2_R1_C1}}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{{D2_R1_C2}}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{{D2_R1_C3}}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9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{{D2_R2_C0}}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{{D2_R2_C1}}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{{D2_R2_C2}}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{{D2_R2_C3}}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9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{{D2_R3_C0}}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{{D2_R3_C1}}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{{D2_R3_C2}}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{{D2_R3_C3}}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9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{{D2_R4_C0}}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{{D2_R4_C1}}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{{D2_R4_C2}}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{{D2_R4_C3}}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274"/>
                        </a:buClr>
                        <a:buSzPts val="975"/>
                        <a:buFont typeface="Poppins"/>
                        <a:buNone/>
                      </a:pPr>
                      <a:r>
                        <a:rPr i="1" lang="en-US" sz="900" u="none" cap="none" strike="noStrike">
                          <a:solidFill>
                            <a:srgbClr val="4B527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{{D2_R5_C0}}</a:t>
                      </a:r>
                      <a:endParaRPr sz="97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{{D2_R5_C1}}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{{D2_R5_C2}}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{{D2_R5_C3}}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10" name="Google Shape;610;p16"/>
          <p:cNvSpPr txBox="1"/>
          <p:nvPr/>
        </p:nvSpPr>
        <p:spPr>
          <a:xfrm>
            <a:off x="1447495" y="7029907"/>
            <a:ext cx="47631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B673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2BB673"/>
                </a:solidFill>
                <a:latin typeface="Poppins"/>
                <a:ea typeface="Poppins"/>
                <a:cs typeface="Poppins"/>
                <a:sym typeface="Poppins"/>
              </a:rPr>
              <a:t>O que as pessoas valorizam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6"/>
          <p:cNvSpPr txBox="1"/>
          <p:nvPr/>
        </p:nvSpPr>
        <p:spPr>
          <a:xfrm>
            <a:off x="1447495" y="7277710"/>
            <a:ext cx="4763110" cy="846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[Percepção positiva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[Percepção positiva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[Percepção positiva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6"/>
          <p:cNvSpPr txBox="1"/>
          <p:nvPr/>
        </p:nvSpPr>
        <p:spPr>
          <a:xfrm>
            <a:off x="7067398" y="7029907"/>
            <a:ext cx="47631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225D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D5225D"/>
                </a:solidFill>
                <a:latin typeface="Poppins"/>
                <a:ea typeface="Poppins"/>
                <a:cs typeface="Poppins"/>
                <a:sym typeface="Poppins"/>
              </a:rPr>
              <a:t>Onde as pessoas sentem fricção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6"/>
          <p:cNvSpPr txBox="1"/>
          <p:nvPr/>
        </p:nvSpPr>
        <p:spPr>
          <a:xfrm>
            <a:off x="7067398" y="7277710"/>
            <a:ext cx="4763110" cy="846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[Fricção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[Fricção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[Fricção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6"/>
          <p:cNvSpPr txBox="1"/>
          <p:nvPr/>
        </p:nvSpPr>
        <p:spPr>
          <a:xfrm>
            <a:off x="12687300" y="7029907"/>
            <a:ext cx="41916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5CF5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895CF5"/>
                </a:solidFill>
                <a:latin typeface="Poppins"/>
                <a:ea typeface="Poppins"/>
                <a:cs typeface="Poppins"/>
                <a:sym typeface="Poppins"/>
              </a:rPr>
              <a:t>Nas palavras delas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6"/>
          <p:cNvSpPr txBox="1"/>
          <p:nvPr/>
        </p:nvSpPr>
        <p:spPr>
          <a:xfrm>
            <a:off x="12687300" y="7343546"/>
            <a:ext cx="4191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1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“[Comentário anônimo breve]”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6"/>
          <p:cNvSpPr txBox="1"/>
          <p:nvPr/>
        </p:nvSpPr>
        <p:spPr>
          <a:xfrm>
            <a:off x="12687300" y="7705649"/>
            <a:ext cx="4191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1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“[Comentário anônimo breve]”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6"/>
          <p:cNvSpPr txBox="1"/>
          <p:nvPr/>
        </p:nvSpPr>
        <p:spPr>
          <a:xfrm>
            <a:off x="1447495" y="9105595"/>
            <a:ext cx="800100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CD4B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F8CD4B"/>
                </a:solidFill>
                <a:latin typeface="Poppins"/>
                <a:ea typeface="Poppins"/>
                <a:cs typeface="Poppins"/>
                <a:sym typeface="Poppins"/>
              </a:rPr>
              <a:t>Leitura do HRBP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6"/>
          <p:cNvSpPr txBox="1"/>
          <p:nvPr/>
        </p:nvSpPr>
        <p:spPr>
          <a:xfrm>
            <a:off x="1447495" y="9381744"/>
            <a:ext cx="8001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[O que a combinação de evidência quantitativa e qualitativa sugere?]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6"/>
          <p:cNvSpPr txBox="1"/>
          <p:nvPr/>
        </p:nvSpPr>
        <p:spPr>
          <a:xfrm>
            <a:off x="10096805" y="9105595"/>
            <a:ext cx="70491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Classificação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6"/>
          <p:cNvSpPr/>
          <p:nvPr/>
        </p:nvSpPr>
        <p:spPr>
          <a:xfrm>
            <a:off x="10096805" y="9420149"/>
            <a:ext cx="209398" cy="209398"/>
          </a:xfrm>
          <a:prstGeom prst="rect">
            <a:avLst/>
          </a:prstGeom>
          <a:noFill/>
          <a:ln cap="flat" cmpd="sng" w="25400">
            <a:solidFill>
              <a:srgbClr val="2BB6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6"/>
          <p:cNvSpPr txBox="1"/>
          <p:nvPr/>
        </p:nvSpPr>
        <p:spPr>
          <a:xfrm>
            <a:off x="10401300" y="9434779"/>
            <a:ext cx="866851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B673"/>
              </a:buClr>
              <a:buSzPts val="1125"/>
              <a:buFont typeface="Sora"/>
              <a:buNone/>
            </a:pPr>
            <a:r>
              <a:rPr b="1" i="0" lang="en-US" sz="1125" u="none" cap="none" strike="noStrike">
                <a:solidFill>
                  <a:srgbClr val="2BB673"/>
                </a:solidFill>
                <a:latin typeface="Sora"/>
                <a:ea typeface="Sora"/>
                <a:cs typeface="Sora"/>
                <a:sym typeface="Sora"/>
              </a:rPr>
              <a:t>PROTEGER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6"/>
          <p:cNvSpPr/>
          <p:nvPr/>
        </p:nvSpPr>
        <p:spPr>
          <a:xfrm>
            <a:off x="11454689" y="9420149"/>
            <a:ext cx="209398" cy="209398"/>
          </a:xfrm>
          <a:prstGeom prst="rect">
            <a:avLst/>
          </a:prstGeom>
          <a:noFill/>
          <a:ln cap="flat" cmpd="sng" w="25400">
            <a:solidFill>
              <a:srgbClr val="D522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6"/>
          <p:cNvSpPr txBox="1"/>
          <p:nvPr/>
        </p:nvSpPr>
        <p:spPr>
          <a:xfrm>
            <a:off x="11759184" y="9434779"/>
            <a:ext cx="638251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FA8"/>
              </a:buClr>
              <a:buSzPts val="1125"/>
              <a:buFont typeface="Sora"/>
              <a:buNone/>
            </a:pPr>
            <a:r>
              <a:rPr b="1" i="0" lang="en-US" sz="1125" u="none" cap="none" strike="noStrike">
                <a:solidFill>
                  <a:srgbClr val="FF8FA8"/>
                </a:solidFill>
                <a:latin typeface="Sora"/>
                <a:ea typeface="Sora"/>
                <a:cs typeface="Sora"/>
                <a:sym typeface="Sora"/>
              </a:rPr>
              <a:t>TRATAR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6"/>
          <p:cNvSpPr/>
          <p:nvPr/>
        </p:nvSpPr>
        <p:spPr>
          <a:xfrm>
            <a:off x="12584887" y="9420149"/>
            <a:ext cx="209398" cy="209398"/>
          </a:xfrm>
          <a:prstGeom prst="rect">
            <a:avLst/>
          </a:prstGeom>
          <a:noFill/>
          <a:ln cap="flat" cmpd="sng" w="25400">
            <a:solidFill>
              <a:srgbClr val="F8CD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6"/>
          <p:cNvSpPr txBox="1"/>
          <p:nvPr/>
        </p:nvSpPr>
        <p:spPr>
          <a:xfrm>
            <a:off x="12889382" y="9434779"/>
            <a:ext cx="1153058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CD4B"/>
              </a:buClr>
              <a:buSzPts val="1125"/>
              <a:buFont typeface="Sora"/>
              <a:buNone/>
            </a:pPr>
            <a:r>
              <a:rPr b="1" i="0" lang="en-US" sz="1125" u="none" cap="none" strike="noStrike">
                <a:solidFill>
                  <a:srgbClr val="F8CD4B"/>
                </a:solidFill>
                <a:latin typeface="Sora"/>
                <a:ea typeface="Sora"/>
                <a:cs typeface="Sora"/>
                <a:sym typeface="Sora"/>
              </a:rPr>
              <a:t>APROFUNDAR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6"/>
          <p:cNvSpPr/>
          <p:nvPr/>
        </p:nvSpPr>
        <p:spPr>
          <a:xfrm>
            <a:off x="14231722" y="9420149"/>
            <a:ext cx="209398" cy="209398"/>
          </a:xfrm>
          <a:prstGeom prst="rect">
            <a:avLst/>
          </a:prstGeom>
          <a:noFill/>
          <a:ln cap="flat" cmpd="sng" w="25400">
            <a:solidFill>
              <a:srgbClr val="FFFF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6"/>
          <p:cNvSpPr txBox="1"/>
          <p:nvPr/>
        </p:nvSpPr>
        <p:spPr>
          <a:xfrm>
            <a:off x="14537131" y="9434779"/>
            <a:ext cx="1410005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Sora"/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SEM PRIORIDADE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28" name="Chart 627"/>
          <p:cNvGraphicFramePr>
            <a:graphicFrameLocks noGrp="1"/>
          </p:cNvGraphicFramePr>
          <p:nvPr/>
        </p:nvGraphicFramePr>
        <p:xfrm>
          <a:off x="1554480" y="5029200"/>
          <a:ext cx="4526280" cy="1325880"/>
        </p:xfrm>
        <a:graphic>
          <a:graphicData uri="http://schemas.openxmlformats.org/drawingml/2006/chart">
            <c:chart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D"/>
        </a:solidFill>
      </p:bgPr>
    </p:bg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571723da0b9e7496659dc38ed713a537.png" id="581" name="Google Shape;581;p16"/>
          <p:cNvPicPr preferRelativeResize="0"/>
          <p:nvPr/>
        </p:nvPicPr>
        <p:blipFill rotWithShape="1">
          <a:blip r:embed="rId3">
            <a:alphaModFix/>
          </a:blip>
          <a:srcRect b="0" l="-2083" r="-2083" t="0"/>
          <a:stretch/>
        </p:blipFill>
        <p:spPr>
          <a:xfrm>
            <a:off x="1143000" y="2247595"/>
            <a:ext cx="16002000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16"/>
          <p:cNvSpPr/>
          <p:nvPr/>
        </p:nvSpPr>
        <p:spPr>
          <a:xfrm>
            <a:off x="1143000" y="2533802"/>
            <a:ext cx="5333695" cy="409559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6"/>
          <p:cNvSpPr/>
          <p:nvPr/>
        </p:nvSpPr>
        <p:spPr>
          <a:xfrm>
            <a:off x="6762902" y="2533802"/>
            <a:ext cx="10382098" cy="409559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6"/>
          <p:cNvSpPr/>
          <p:nvPr/>
        </p:nvSpPr>
        <p:spPr>
          <a:xfrm>
            <a:off x="1143000" y="6819595"/>
            <a:ext cx="5333695" cy="1904695"/>
          </a:xfrm>
          <a:prstGeom prst="rect">
            <a:avLst/>
          </a:prstGeom>
          <a:solidFill>
            <a:srgbClr val="EAF0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6"/>
          <p:cNvSpPr/>
          <p:nvPr/>
        </p:nvSpPr>
        <p:spPr>
          <a:xfrm>
            <a:off x="6762902" y="6819595"/>
            <a:ext cx="5333695" cy="1904695"/>
          </a:xfrm>
          <a:prstGeom prst="rect">
            <a:avLst/>
          </a:prstGeom>
          <a:solidFill>
            <a:srgbClr val="EAF0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6"/>
          <p:cNvSpPr/>
          <p:nvPr/>
        </p:nvSpPr>
        <p:spPr>
          <a:xfrm>
            <a:off x="12382805" y="6819595"/>
            <a:ext cx="4781398" cy="192389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6"/>
          <p:cNvSpPr/>
          <p:nvPr/>
        </p:nvSpPr>
        <p:spPr>
          <a:xfrm>
            <a:off x="1143000" y="8915400"/>
            <a:ext cx="16002000" cy="1047902"/>
          </a:xfrm>
          <a:prstGeom prst="rect">
            <a:avLst/>
          </a:prstGeom>
          <a:solidFill>
            <a:srgbClr val="16215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75554a26810b287334efd5ad4280f6dc.png" id="588" name="Google Shape;588;p16"/>
          <p:cNvPicPr preferRelativeResize="0"/>
          <p:nvPr/>
        </p:nvPicPr>
        <p:blipFill rotWithShape="1">
          <a:blip r:embed="rId4">
            <a:alphaModFix/>
          </a:blip>
          <a:srcRect b="0" l="-201" r="-201" t="0"/>
          <a:stretch/>
        </p:blipFill>
        <p:spPr>
          <a:xfrm>
            <a:off x="0" y="0"/>
            <a:ext cx="182880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20a1fe1a29d367f0e337479a2578c76d.png" id="589" name="Google Shape;589;p16"/>
          <p:cNvPicPr preferRelativeResize="0"/>
          <p:nvPr/>
        </p:nvPicPr>
        <p:blipFill rotWithShape="1">
          <a:blip r:embed="rId5">
            <a:alphaModFix/>
          </a:blip>
          <a:srcRect b="-403" l="0" r="0" t="-403"/>
          <a:stretch/>
        </p:blipFill>
        <p:spPr>
          <a:xfrm>
            <a:off x="1143000" y="2533802"/>
            <a:ext cx="5333695" cy="57607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16"/>
          <p:cNvSpPr/>
          <p:nvPr/>
        </p:nvSpPr>
        <p:spPr>
          <a:xfrm>
            <a:off x="1447495" y="4953305"/>
            <a:ext cx="4743907" cy="1447495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6ce94105c5227a91a4e9a6911f133187.png" id="591" name="Google Shape;591;p16"/>
          <p:cNvPicPr preferRelativeResize="0"/>
          <p:nvPr/>
        </p:nvPicPr>
        <p:blipFill rotWithShape="1">
          <a:blip r:embed="rId6">
            <a:alphaModFix/>
          </a:blip>
          <a:srcRect b="-401" l="0" r="0" t="-401"/>
          <a:stretch/>
        </p:blipFill>
        <p:spPr>
          <a:xfrm>
            <a:off x="6762902" y="2533802"/>
            <a:ext cx="10382098" cy="576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591ce8fe1a5b6faa434a338482f32902.png" id="592" name="Google Shape;592;p16"/>
          <p:cNvPicPr preferRelativeResize="0"/>
          <p:nvPr/>
        </p:nvPicPr>
        <p:blipFill rotWithShape="1">
          <a:blip r:embed="rId7">
            <a:alphaModFix/>
          </a:blip>
          <a:srcRect b="0" l="-408" r="-408" t="0"/>
          <a:stretch/>
        </p:blipFill>
        <p:spPr>
          <a:xfrm>
            <a:off x="1143000" y="6819595"/>
            <a:ext cx="57607" cy="1904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7884f426d493eeefc72a918b85a7ba8e.png" id="593" name="Google Shape;593;p16"/>
          <p:cNvPicPr preferRelativeResize="0"/>
          <p:nvPr/>
        </p:nvPicPr>
        <p:blipFill rotWithShape="1">
          <a:blip r:embed="rId8">
            <a:alphaModFix/>
          </a:blip>
          <a:srcRect b="0" l="-408" r="-408" t="0"/>
          <a:stretch/>
        </p:blipFill>
        <p:spPr>
          <a:xfrm>
            <a:off x="6762902" y="6819595"/>
            <a:ext cx="57607" cy="1904695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16"/>
          <p:cNvSpPr txBox="1"/>
          <p:nvPr/>
        </p:nvSpPr>
        <p:spPr>
          <a:xfrm>
            <a:off x="1143000" y="495605"/>
            <a:ext cx="2781605" cy="277063"/>
          </a:xfrm>
          <a:prstGeom prst="rect">
            <a:avLst/>
          </a:prstGeom>
          <a:solidFill>
            <a:srgbClr val="16215B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500" lIns="139700" spcFirstLastPara="1" rIns="139700" wrap="square" tIns="63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Apêndice · duplicar por driver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6"/>
          <p:cNvSpPr txBox="1"/>
          <p:nvPr/>
        </p:nvSpPr>
        <p:spPr>
          <a:xfrm>
            <a:off x="13334695" y="552298"/>
            <a:ext cx="381030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{{AREA}} · {{ONDA}}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6"/>
          <p:cNvSpPr txBox="1"/>
          <p:nvPr/>
        </p:nvSpPr>
        <p:spPr>
          <a:xfrm>
            <a:off x="1143000" y="1009498"/>
            <a:ext cx="16002000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3900"/>
              <a:buFont typeface="Sora"/>
              <a:buNone/>
            </a:pPr>
            <a:r>
              <a:rPr b="1" i="0" lang="en-US" sz="39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{{D3_NOME}}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6"/>
          <p:cNvSpPr txBox="1"/>
          <p:nvPr/>
        </p:nvSpPr>
        <p:spPr>
          <a:xfrm>
            <a:off x="1143000" y="1638605"/>
            <a:ext cx="1600200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350"/>
              <a:buFont typeface="Poppins"/>
              <a:buNone/>
            </a:pPr>
            <a:r>
              <a:rPr b="0" i="1" lang="en-US" sz="135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{{D3_DESC}}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6"/>
          <p:cNvSpPr txBox="1"/>
          <p:nvPr/>
        </p:nvSpPr>
        <p:spPr>
          <a:xfrm>
            <a:off x="1447495" y="2781605"/>
            <a:ext cx="47631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0285FF"/>
                </a:solidFill>
                <a:latin typeface="Poppins"/>
                <a:ea typeface="Poppins"/>
                <a:cs typeface="Poppins"/>
                <a:sym typeface="Poppins"/>
              </a:rPr>
              <a:t>Evidência · quantitativa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6"/>
          <p:cNvSpPr txBox="1"/>
          <p:nvPr/>
        </p:nvSpPr>
        <p:spPr>
          <a:xfrm>
            <a:off x="1447495" y="3143707"/>
            <a:ext cx="23820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Favorável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6"/>
          <p:cNvSpPr txBox="1"/>
          <p:nvPr/>
        </p:nvSpPr>
        <p:spPr>
          <a:xfrm>
            <a:off x="1447495" y="3372307"/>
            <a:ext cx="23820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3600"/>
              <a:buFont typeface="Sora"/>
              <a:buNone/>
            </a:pPr>
            <a:r>
              <a:rPr b="0" i="0" lang="en-US" sz="36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{{D3_FAV}}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6"/>
          <p:cNvSpPr txBox="1"/>
          <p:nvPr/>
        </p:nvSpPr>
        <p:spPr>
          <a:xfrm>
            <a:off x="4095598" y="3143707"/>
            <a:ext cx="219090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Média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6"/>
          <p:cNvSpPr txBox="1"/>
          <p:nvPr/>
        </p:nvSpPr>
        <p:spPr>
          <a:xfrm>
            <a:off x="4095598" y="3372307"/>
            <a:ext cx="21909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3600"/>
              <a:buFont typeface="Sora"/>
              <a:buNone/>
            </a:pPr>
            <a:r>
              <a:rPr b="0" i="0" lang="en-US" sz="3600" u="none" cap="none" strike="noStrike">
                <a:solidFill>
                  <a:srgbClr val="0285FF"/>
                </a:solidFill>
                <a:latin typeface="Sora"/>
                <a:ea typeface="Sora"/>
                <a:cs typeface="Sora"/>
                <a:sym typeface="Sora"/>
              </a:rPr>
              <a:t>{{D3_MED}}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6"/>
          <p:cNvSpPr txBox="1"/>
          <p:nvPr/>
        </p:nvSpPr>
        <p:spPr>
          <a:xfrm>
            <a:off x="1447495" y="4114800"/>
            <a:ext cx="23820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vs Flutter Brasil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6"/>
          <p:cNvSpPr txBox="1"/>
          <p:nvPr/>
        </p:nvSpPr>
        <p:spPr>
          <a:xfrm>
            <a:off x="1447495" y="4343400"/>
            <a:ext cx="2382012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2550"/>
              <a:buFont typeface="Sora"/>
              <a:buNone/>
            </a:pPr>
            <a:r>
              <a:rPr b="0" i="0" lang="en-US" sz="2550" u="none" cap="none" strike="noStrike">
                <a:solidFill>
                  <a:srgbClr val="131A40"/>
                </a:solidFill>
                <a:latin typeface="Sora"/>
                <a:ea typeface="Sora"/>
                <a:cs typeface="Sora"/>
                <a:sym typeface="Sora"/>
              </a:rPr>
              <a:t>{{D3_VSFB}}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6"/>
          <p:cNvSpPr txBox="1"/>
          <p:nvPr/>
        </p:nvSpPr>
        <p:spPr>
          <a:xfrm>
            <a:off x="4095598" y="4114800"/>
            <a:ext cx="219090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vs onda anterior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6"/>
          <p:cNvSpPr txBox="1"/>
          <p:nvPr/>
        </p:nvSpPr>
        <p:spPr>
          <a:xfrm>
            <a:off x="4095598" y="4343400"/>
            <a:ext cx="2190902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2550"/>
              <a:buFont typeface="Sora"/>
              <a:buNone/>
            </a:pPr>
            <a:r>
              <a:rPr b="0" i="0" lang="en-US" sz="2550" u="none" cap="none" strike="noStrike">
                <a:solidFill>
                  <a:srgbClr val="131A40"/>
                </a:solidFill>
                <a:latin typeface="Sora"/>
                <a:ea typeface="Sora"/>
                <a:cs typeface="Sora"/>
                <a:sym typeface="Sora"/>
              </a:rPr>
              <a:t>{{D3_VSANT}}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6"/>
          <p:cNvSpPr txBox="1"/>
          <p:nvPr/>
        </p:nvSpPr>
        <p:spPr>
          <a:xfrm>
            <a:off x="7067398" y="2781605"/>
            <a:ext cx="9811512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0285FF"/>
                </a:solidFill>
                <a:latin typeface="Poppins"/>
                <a:ea typeface="Poppins"/>
                <a:cs typeface="Poppins"/>
                <a:sym typeface="Poppins"/>
              </a:rPr>
              <a:t>Detalhe das perguntas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09" name="Google Shape;609;p16"/>
          <p:cNvGraphicFramePr/>
          <p:nvPr/>
        </p:nvGraphicFramePr>
        <p:xfrm>
          <a:off x="7067398" y="3143707"/>
          <a:ext cx="3000000" cy="2880360"/>
        </p:xfrm>
        <a:graphic>
          <a:graphicData uri="http://schemas.openxmlformats.org/drawingml/2006/table">
            <a:tbl>
              <a:tblPr>
                <a:noFill/>
                <a:tableStyleId>{0DAC2FE4-DBA5-4F3B-94BE-2F4E2715C5E2}</a:tableStyleId>
              </a:tblPr>
              <a:tblGrid>
                <a:gridCol w="5374850"/>
                <a:gridCol w="1465775"/>
                <a:gridCol w="1465775"/>
                <a:gridCol w="1465775"/>
              </a:tblGrid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5B"/>
                        </a:buClr>
                        <a:buSzPts val="825"/>
                        <a:buFont typeface="Poppins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16215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PERGUNTA</a:t>
                      </a:r>
                      <a:endParaRPr sz="82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5B"/>
                        </a:buClr>
                        <a:buSzPts val="825"/>
                        <a:buFont typeface="Poppins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16215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FAVORÁVEL</a:t>
                      </a:r>
                      <a:endParaRPr sz="82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5B"/>
                        </a:buClr>
                        <a:buSzPts val="825"/>
                        <a:buFont typeface="Poppins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16215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MÉDIA</a:t>
                      </a:r>
                      <a:endParaRPr sz="82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5B"/>
                        </a:buClr>
                        <a:buSzPts val="825"/>
                        <a:buFont typeface="Poppins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16215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VS FB</a:t>
                      </a:r>
                      <a:endParaRPr sz="82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9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{{D3_R0_C0}}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{{D3_R0_C1}}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{{D3_R0_C2}}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{{D3_R0_C3}}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9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{{D3_R1_C0}}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{{D3_R1_C1}}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{{D3_R1_C2}}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{{D3_R1_C3}}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9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{{D3_R2_C0}}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{{D3_R2_C1}}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{{D3_R2_C2}}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{{D3_R2_C3}}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9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{{D3_R3_C0}}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{{D3_R3_C1}}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{{D3_R3_C2}}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{{D3_R3_C3}}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9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{{D3_R4_C0}}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{{D3_R4_C1}}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{{D3_R4_C2}}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{{D3_R4_C3}}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274"/>
                        </a:buClr>
                        <a:buSzPts val="975"/>
                        <a:buFont typeface="Poppins"/>
                        <a:buNone/>
                      </a:pPr>
                      <a:r>
                        <a:rPr i="1" lang="en-US" sz="900" u="none" cap="none" strike="noStrike">
                          <a:solidFill>
                            <a:srgbClr val="4B527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{{D3_R5_C0}}</a:t>
                      </a:r>
                      <a:endParaRPr sz="97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{{D3_R5_C1}}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{{D3_R5_C2}}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{{D3_R5_C3}}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10" name="Google Shape;610;p16"/>
          <p:cNvSpPr txBox="1"/>
          <p:nvPr/>
        </p:nvSpPr>
        <p:spPr>
          <a:xfrm>
            <a:off x="1447495" y="7029907"/>
            <a:ext cx="47631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B673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2BB673"/>
                </a:solidFill>
                <a:latin typeface="Poppins"/>
                <a:ea typeface="Poppins"/>
                <a:cs typeface="Poppins"/>
                <a:sym typeface="Poppins"/>
              </a:rPr>
              <a:t>O que as pessoas valorizam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6"/>
          <p:cNvSpPr txBox="1"/>
          <p:nvPr/>
        </p:nvSpPr>
        <p:spPr>
          <a:xfrm>
            <a:off x="1447495" y="7277710"/>
            <a:ext cx="4763110" cy="846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[Percepção positiva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[Percepção positiva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[Percepção positiva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6"/>
          <p:cNvSpPr txBox="1"/>
          <p:nvPr/>
        </p:nvSpPr>
        <p:spPr>
          <a:xfrm>
            <a:off x="7067398" y="7029907"/>
            <a:ext cx="47631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225D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D5225D"/>
                </a:solidFill>
                <a:latin typeface="Poppins"/>
                <a:ea typeface="Poppins"/>
                <a:cs typeface="Poppins"/>
                <a:sym typeface="Poppins"/>
              </a:rPr>
              <a:t>Onde as pessoas sentem fricção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6"/>
          <p:cNvSpPr txBox="1"/>
          <p:nvPr/>
        </p:nvSpPr>
        <p:spPr>
          <a:xfrm>
            <a:off x="7067398" y="7277710"/>
            <a:ext cx="4763110" cy="846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[Fricção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[Fricção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[Fricção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6"/>
          <p:cNvSpPr txBox="1"/>
          <p:nvPr/>
        </p:nvSpPr>
        <p:spPr>
          <a:xfrm>
            <a:off x="12687300" y="7029907"/>
            <a:ext cx="41916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5CF5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895CF5"/>
                </a:solidFill>
                <a:latin typeface="Poppins"/>
                <a:ea typeface="Poppins"/>
                <a:cs typeface="Poppins"/>
                <a:sym typeface="Poppins"/>
              </a:rPr>
              <a:t>Nas palavras delas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6"/>
          <p:cNvSpPr txBox="1"/>
          <p:nvPr/>
        </p:nvSpPr>
        <p:spPr>
          <a:xfrm>
            <a:off x="12687300" y="7343546"/>
            <a:ext cx="4191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1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“[Comentário anônimo breve]”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6"/>
          <p:cNvSpPr txBox="1"/>
          <p:nvPr/>
        </p:nvSpPr>
        <p:spPr>
          <a:xfrm>
            <a:off x="12687300" y="7705649"/>
            <a:ext cx="4191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1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“[Comentário anônimo breve]”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6"/>
          <p:cNvSpPr txBox="1"/>
          <p:nvPr/>
        </p:nvSpPr>
        <p:spPr>
          <a:xfrm>
            <a:off x="1447495" y="9105595"/>
            <a:ext cx="800100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CD4B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F8CD4B"/>
                </a:solidFill>
                <a:latin typeface="Poppins"/>
                <a:ea typeface="Poppins"/>
                <a:cs typeface="Poppins"/>
                <a:sym typeface="Poppins"/>
              </a:rPr>
              <a:t>Leitura do HRBP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6"/>
          <p:cNvSpPr txBox="1"/>
          <p:nvPr/>
        </p:nvSpPr>
        <p:spPr>
          <a:xfrm>
            <a:off x="1447495" y="9381744"/>
            <a:ext cx="8001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[O que a combinação de evidência quantitativa e qualitativa sugere?]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6"/>
          <p:cNvSpPr txBox="1"/>
          <p:nvPr/>
        </p:nvSpPr>
        <p:spPr>
          <a:xfrm>
            <a:off x="10096805" y="9105595"/>
            <a:ext cx="70491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Classificação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6"/>
          <p:cNvSpPr/>
          <p:nvPr/>
        </p:nvSpPr>
        <p:spPr>
          <a:xfrm>
            <a:off x="10096805" y="9420149"/>
            <a:ext cx="209398" cy="209398"/>
          </a:xfrm>
          <a:prstGeom prst="rect">
            <a:avLst/>
          </a:prstGeom>
          <a:noFill/>
          <a:ln cap="flat" cmpd="sng" w="25400">
            <a:solidFill>
              <a:srgbClr val="2BB6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6"/>
          <p:cNvSpPr txBox="1"/>
          <p:nvPr/>
        </p:nvSpPr>
        <p:spPr>
          <a:xfrm>
            <a:off x="10401300" y="9434779"/>
            <a:ext cx="866851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B673"/>
              </a:buClr>
              <a:buSzPts val="1125"/>
              <a:buFont typeface="Sora"/>
              <a:buNone/>
            </a:pPr>
            <a:r>
              <a:rPr b="1" i="0" lang="en-US" sz="1125" u="none" cap="none" strike="noStrike">
                <a:solidFill>
                  <a:srgbClr val="2BB673"/>
                </a:solidFill>
                <a:latin typeface="Sora"/>
                <a:ea typeface="Sora"/>
                <a:cs typeface="Sora"/>
                <a:sym typeface="Sora"/>
              </a:rPr>
              <a:t>PROTEGER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6"/>
          <p:cNvSpPr/>
          <p:nvPr/>
        </p:nvSpPr>
        <p:spPr>
          <a:xfrm>
            <a:off x="11454689" y="9420149"/>
            <a:ext cx="209398" cy="209398"/>
          </a:xfrm>
          <a:prstGeom prst="rect">
            <a:avLst/>
          </a:prstGeom>
          <a:noFill/>
          <a:ln cap="flat" cmpd="sng" w="25400">
            <a:solidFill>
              <a:srgbClr val="D522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6"/>
          <p:cNvSpPr txBox="1"/>
          <p:nvPr/>
        </p:nvSpPr>
        <p:spPr>
          <a:xfrm>
            <a:off x="11759184" y="9434779"/>
            <a:ext cx="638251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FA8"/>
              </a:buClr>
              <a:buSzPts val="1125"/>
              <a:buFont typeface="Sora"/>
              <a:buNone/>
            </a:pPr>
            <a:r>
              <a:rPr b="1" i="0" lang="en-US" sz="1125" u="none" cap="none" strike="noStrike">
                <a:solidFill>
                  <a:srgbClr val="FF8FA8"/>
                </a:solidFill>
                <a:latin typeface="Sora"/>
                <a:ea typeface="Sora"/>
                <a:cs typeface="Sora"/>
                <a:sym typeface="Sora"/>
              </a:rPr>
              <a:t>TRATAR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6"/>
          <p:cNvSpPr/>
          <p:nvPr/>
        </p:nvSpPr>
        <p:spPr>
          <a:xfrm>
            <a:off x="12584887" y="9420149"/>
            <a:ext cx="209398" cy="209398"/>
          </a:xfrm>
          <a:prstGeom prst="rect">
            <a:avLst/>
          </a:prstGeom>
          <a:noFill/>
          <a:ln cap="flat" cmpd="sng" w="25400">
            <a:solidFill>
              <a:srgbClr val="F8CD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6"/>
          <p:cNvSpPr txBox="1"/>
          <p:nvPr/>
        </p:nvSpPr>
        <p:spPr>
          <a:xfrm>
            <a:off x="12889382" y="9434779"/>
            <a:ext cx="1153058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CD4B"/>
              </a:buClr>
              <a:buSzPts val="1125"/>
              <a:buFont typeface="Sora"/>
              <a:buNone/>
            </a:pPr>
            <a:r>
              <a:rPr b="1" i="0" lang="en-US" sz="1125" u="none" cap="none" strike="noStrike">
                <a:solidFill>
                  <a:srgbClr val="F8CD4B"/>
                </a:solidFill>
                <a:latin typeface="Sora"/>
                <a:ea typeface="Sora"/>
                <a:cs typeface="Sora"/>
                <a:sym typeface="Sora"/>
              </a:rPr>
              <a:t>APROFUNDAR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6"/>
          <p:cNvSpPr/>
          <p:nvPr/>
        </p:nvSpPr>
        <p:spPr>
          <a:xfrm>
            <a:off x="14231722" y="9420149"/>
            <a:ext cx="209398" cy="209398"/>
          </a:xfrm>
          <a:prstGeom prst="rect">
            <a:avLst/>
          </a:prstGeom>
          <a:noFill/>
          <a:ln cap="flat" cmpd="sng" w="25400">
            <a:solidFill>
              <a:srgbClr val="FFFF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6"/>
          <p:cNvSpPr txBox="1"/>
          <p:nvPr/>
        </p:nvSpPr>
        <p:spPr>
          <a:xfrm>
            <a:off x="14537131" y="9434779"/>
            <a:ext cx="1410005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Sora"/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SEM PRIORIDADE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28" name="Chart 627"/>
          <p:cNvGraphicFramePr>
            <a:graphicFrameLocks noGrp="1"/>
          </p:cNvGraphicFramePr>
          <p:nvPr/>
        </p:nvGraphicFramePr>
        <p:xfrm>
          <a:off x="1554480" y="5029200"/>
          <a:ext cx="4526280" cy="1325880"/>
        </p:xfrm>
        <a:graphic>
          <a:graphicData uri="http://schemas.openxmlformats.org/drawingml/2006/chart">
            <c:chart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D"/>
        </a:solidFill>
      </p:bgPr>
    </p:bg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571723da0b9e7496659dc38ed713a537.png" id="581" name="Google Shape;581;p16"/>
          <p:cNvPicPr preferRelativeResize="0"/>
          <p:nvPr/>
        </p:nvPicPr>
        <p:blipFill rotWithShape="1">
          <a:blip r:embed="rId3">
            <a:alphaModFix/>
          </a:blip>
          <a:srcRect b="0" l="-2083" r="-2083" t="0"/>
          <a:stretch/>
        </p:blipFill>
        <p:spPr>
          <a:xfrm>
            <a:off x="1143000" y="2247595"/>
            <a:ext cx="16002000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16"/>
          <p:cNvSpPr/>
          <p:nvPr/>
        </p:nvSpPr>
        <p:spPr>
          <a:xfrm>
            <a:off x="1143000" y="2533802"/>
            <a:ext cx="5333695" cy="409559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6"/>
          <p:cNvSpPr/>
          <p:nvPr/>
        </p:nvSpPr>
        <p:spPr>
          <a:xfrm>
            <a:off x="6762902" y="2533802"/>
            <a:ext cx="10382098" cy="409559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6"/>
          <p:cNvSpPr/>
          <p:nvPr/>
        </p:nvSpPr>
        <p:spPr>
          <a:xfrm>
            <a:off x="1143000" y="6819595"/>
            <a:ext cx="5333695" cy="1904695"/>
          </a:xfrm>
          <a:prstGeom prst="rect">
            <a:avLst/>
          </a:prstGeom>
          <a:solidFill>
            <a:srgbClr val="EAF0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6"/>
          <p:cNvSpPr/>
          <p:nvPr/>
        </p:nvSpPr>
        <p:spPr>
          <a:xfrm>
            <a:off x="6762902" y="6819595"/>
            <a:ext cx="5333695" cy="1904695"/>
          </a:xfrm>
          <a:prstGeom prst="rect">
            <a:avLst/>
          </a:prstGeom>
          <a:solidFill>
            <a:srgbClr val="EAF0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6"/>
          <p:cNvSpPr/>
          <p:nvPr/>
        </p:nvSpPr>
        <p:spPr>
          <a:xfrm>
            <a:off x="12382805" y="6819595"/>
            <a:ext cx="4781398" cy="192389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6"/>
          <p:cNvSpPr/>
          <p:nvPr/>
        </p:nvSpPr>
        <p:spPr>
          <a:xfrm>
            <a:off x="1143000" y="8915400"/>
            <a:ext cx="16002000" cy="1047902"/>
          </a:xfrm>
          <a:prstGeom prst="rect">
            <a:avLst/>
          </a:prstGeom>
          <a:solidFill>
            <a:srgbClr val="16215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75554a26810b287334efd5ad4280f6dc.png" id="588" name="Google Shape;588;p16"/>
          <p:cNvPicPr preferRelativeResize="0"/>
          <p:nvPr/>
        </p:nvPicPr>
        <p:blipFill rotWithShape="1">
          <a:blip r:embed="rId4">
            <a:alphaModFix/>
          </a:blip>
          <a:srcRect b="0" l="-201" r="-201" t="0"/>
          <a:stretch/>
        </p:blipFill>
        <p:spPr>
          <a:xfrm>
            <a:off x="0" y="0"/>
            <a:ext cx="182880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20a1fe1a29d367f0e337479a2578c76d.png" id="589" name="Google Shape;589;p16"/>
          <p:cNvPicPr preferRelativeResize="0"/>
          <p:nvPr/>
        </p:nvPicPr>
        <p:blipFill rotWithShape="1">
          <a:blip r:embed="rId5">
            <a:alphaModFix/>
          </a:blip>
          <a:srcRect b="-403" l="0" r="0" t="-403"/>
          <a:stretch/>
        </p:blipFill>
        <p:spPr>
          <a:xfrm>
            <a:off x="1143000" y="2533802"/>
            <a:ext cx="5333695" cy="57607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16"/>
          <p:cNvSpPr/>
          <p:nvPr/>
        </p:nvSpPr>
        <p:spPr>
          <a:xfrm>
            <a:off x="1447495" y="4953305"/>
            <a:ext cx="4743907" cy="1447495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6ce94105c5227a91a4e9a6911f133187.png" id="591" name="Google Shape;591;p16"/>
          <p:cNvPicPr preferRelativeResize="0"/>
          <p:nvPr/>
        </p:nvPicPr>
        <p:blipFill rotWithShape="1">
          <a:blip r:embed="rId6">
            <a:alphaModFix/>
          </a:blip>
          <a:srcRect b="-401" l="0" r="0" t="-401"/>
          <a:stretch/>
        </p:blipFill>
        <p:spPr>
          <a:xfrm>
            <a:off x="6762902" y="2533802"/>
            <a:ext cx="10382098" cy="576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591ce8fe1a5b6faa434a338482f32902.png" id="592" name="Google Shape;592;p16"/>
          <p:cNvPicPr preferRelativeResize="0"/>
          <p:nvPr/>
        </p:nvPicPr>
        <p:blipFill rotWithShape="1">
          <a:blip r:embed="rId7">
            <a:alphaModFix/>
          </a:blip>
          <a:srcRect b="0" l="-408" r="-408" t="0"/>
          <a:stretch/>
        </p:blipFill>
        <p:spPr>
          <a:xfrm>
            <a:off x="1143000" y="6819595"/>
            <a:ext cx="57607" cy="1904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7884f426d493eeefc72a918b85a7ba8e.png" id="593" name="Google Shape;593;p16"/>
          <p:cNvPicPr preferRelativeResize="0"/>
          <p:nvPr/>
        </p:nvPicPr>
        <p:blipFill rotWithShape="1">
          <a:blip r:embed="rId8">
            <a:alphaModFix/>
          </a:blip>
          <a:srcRect b="0" l="-408" r="-408" t="0"/>
          <a:stretch/>
        </p:blipFill>
        <p:spPr>
          <a:xfrm>
            <a:off x="6762902" y="6819595"/>
            <a:ext cx="57607" cy="1904695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16"/>
          <p:cNvSpPr txBox="1"/>
          <p:nvPr/>
        </p:nvSpPr>
        <p:spPr>
          <a:xfrm>
            <a:off x="1143000" y="495605"/>
            <a:ext cx="2781605" cy="277063"/>
          </a:xfrm>
          <a:prstGeom prst="rect">
            <a:avLst/>
          </a:prstGeom>
          <a:solidFill>
            <a:srgbClr val="16215B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500" lIns="139700" spcFirstLastPara="1" rIns="139700" wrap="square" tIns="63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Apêndice · duplicar por driver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6"/>
          <p:cNvSpPr txBox="1"/>
          <p:nvPr/>
        </p:nvSpPr>
        <p:spPr>
          <a:xfrm>
            <a:off x="13334695" y="552298"/>
            <a:ext cx="381030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{{AREA}} · {{ONDA}}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6"/>
          <p:cNvSpPr txBox="1"/>
          <p:nvPr/>
        </p:nvSpPr>
        <p:spPr>
          <a:xfrm>
            <a:off x="1143000" y="1009498"/>
            <a:ext cx="16002000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3900"/>
              <a:buFont typeface="Sora"/>
              <a:buNone/>
            </a:pPr>
            <a:r>
              <a:rPr b="1" i="0" lang="en-US" sz="39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{{D4_NOME}}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6"/>
          <p:cNvSpPr txBox="1"/>
          <p:nvPr/>
        </p:nvSpPr>
        <p:spPr>
          <a:xfrm>
            <a:off x="1143000" y="1638605"/>
            <a:ext cx="1600200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350"/>
              <a:buFont typeface="Poppins"/>
              <a:buNone/>
            </a:pPr>
            <a:r>
              <a:rPr b="0" i="1" lang="en-US" sz="135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{{D4_DESC}}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6"/>
          <p:cNvSpPr txBox="1"/>
          <p:nvPr/>
        </p:nvSpPr>
        <p:spPr>
          <a:xfrm>
            <a:off x="1447495" y="2781605"/>
            <a:ext cx="47631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0285FF"/>
                </a:solidFill>
                <a:latin typeface="Poppins"/>
                <a:ea typeface="Poppins"/>
                <a:cs typeface="Poppins"/>
                <a:sym typeface="Poppins"/>
              </a:rPr>
              <a:t>Evidência · quantitativa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6"/>
          <p:cNvSpPr txBox="1"/>
          <p:nvPr/>
        </p:nvSpPr>
        <p:spPr>
          <a:xfrm>
            <a:off x="1447495" y="3143707"/>
            <a:ext cx="23820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Favorável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6"/>
          <p:cNvSpPr txBox="1"/>
          <p:nvPr/>
        </p:nvSpPr>
        <p:spPr>
          <a:xfrm>
            <a:off x="1447495" y="3372307"/>
            <a:ext cx="23820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3600"/>
              <a:buFont typeface="Sora"/>
              <a:buNone/>
            </a:pPr>
            <a:r>
              <a:rPr b="0" i="0" lang="en-US" sz="36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{{D4_FAV}}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6"/>
          <p:cNvSpPr txBox="1"/>
          <p:nvPr/>
        </p:nvSpPr>
        <p:spPr>
          <a:xfrm>
            <a:off x="4095598" y="3143707"/>
            <a:ext cx="219090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Média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6"/>
          <p:cNvSpPr txBox="1"/>
          <p:nvPr/>
        </p:nvSpPr>
        <p:spPr>
          <a:xfrm>
            <a:off x="4095598" y="3372307"/>
            <a:ext cx="21909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3600"/>
              <a:buFont typeface="Sora"/>
              <a:buNone/>
            </a:pPr>
            <a:r>
              <a:rPr b="0" i="0" lang="en-US" sz="3600" u="none" cap="none" strike="noStrike">
                <a:solidFill>
                  <a:srgbClr val="0285FF"/>
                </a:solidFill>
                <a:latin typeface="Sora"/>
                <a:ea typeface="Sora"/>
                <a:cs typeface="Sora"/>
                <a:sym typeface="Sora"/>
              </a:rPr>
              <a:t>{{D4_MED}}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6"/>
          <p:cNvSpPr txBox="1"/>
          <p:nvPr/>
        </p:nvSpPr>
        <p:spPr>
          <a:xfrm>
            <a:off x="1447495" y="4114800"/>
            <a:ext cx="23820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vs Flutter Brasil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6"/>
          <p:cNvSpPr txBox="1"/>
          <p:nvPr/>
        </p:nvSpPr>
        <p:spPr>
          <a:xfrm>
            <a:off x="1447495" y="4343400"/>
            <a:ext cx="2382012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2550"/>
              <a:buFont typeface="Sora"/>
              <a:buNone/>
            </a:pPr>
            <a:r>
              <a:rPr b="0" i="0" lang="en-US" sz="2550" u="none" cap="none" strike="noStrike">
                <a:solidFill>
                  <a:srgbClr val="131A40"/>
                </a:solidFill>
                <a:latin typeface="Sora"/>
                <a:ea typeface="Sora"/>
                <a:cs typeface="Sora"/>
                <a:sym typeface="Sora"/>
              </a:rPr>
              <a:t>{{D4_VSFB}}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6"/>
          <p:cNvSpPr txBox="1"/>
          <p:nvPr/>
        </p:nvSpPr>
        <p:spPr>
          <a:xfrm>
            <a:off x="4095598" y="4114800"/>
            <a:ext cx="219090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vs onda anterior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6"/>
          <p:cNvSpPr txBox="1"/>
          <p:nvPr/>
        </p:nvSpPr>
        <p:spPr>
          <a:xfrm>
            <a:off x="4095598" y="4343400"/>
            <a:ext cx="2190902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2550"/>
              <a:buFont typeface="Sora"/>
              <a:buNone/>
            </a:pPr>
            <a:r>
              <a:rPr b="0" i="0" lang="en-US" sz="2550" u="none" cap="none" strike="noStrike">
                <a:solidFill>
                  <a:srgbClr val="131A40"/>
                </a:solidFill>
                <a:latin typeface="Sora"/>
                <a:ea typeface="Sora"/>
                <a:cs typeface="Sora"/>
                <a:sym typeface="Sora"/>
              </a:rPr>
              <a:t>{{D4_VSANT}}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6"/>
          <p:cNvSpPr txBox="1"/>
          <p:nvPr/>
        </p:nvSpPr>
        <p:spPr>
          <a:xfrm>
            <a:off x="7067398" y="2781605"/>
            <a:ext cx="9811512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0285FF"/>
                </a:solidFill>
                <a:latin typeface="Poppins"/>
                <a:ea typeface="Poppins"/>
                <a:cs typeface="Poppins"/>
                <a:sym typeface="Poppins"/>
              </a:rPr>
              <a:t>Detalhe das perguntas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09" name="Google Shape;609;p16"/>
          <p:cNvGraphicFramePr/>
          <p:nvPr/>
        </p:nvGraphicFramePr>
        <p:xfrm>
          <a:off x="7067398" y="3143707"/>
          <a:ext cx="3000000" cy="2880360"/>
        </p:xfrm>
        <a:graphic>
          <a:graphicData uri="http://schemas.openxmlformats.org/drawingml/2006/table">
            <a:tbl>
              <a:tblPr>
                <a:noFill/>
                <a:tableStyleId>{0DAC2FE4-DBA5-4F3B-94BE-2F4E2715C5E2}</a:tableStyleId>
              </a:tblPr>
              <a:tblGrid>
                <a:gridCol w="5374850"/>
                <a:gridCol w="1465775"/>
                <a:gridCol w="1465775"/>
                <a:gridCol w="1465775"/>
              </a:tblGrid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5B"/>
                        </a:buClr>
                        <a:buSzPts val="825"/>
                        <a:buFont typeface="Poppins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16215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PERGUNTA</a:t>
                      </a:r>
                      <a:endParaRPr sz="82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5B"/>
                        </a:buClr>
                        <a:buSzPts val="825"/>
                        <a:buFont typeface="Poppins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16215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FAVORÁVEL</a:t>
                      </a:r>
                      <a:endParaRPr sz="82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5B"/>
                        </a:buClr>
                        <a:buSzPts val="825"/>
                        <a:buFont typeface="Poppins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16215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MÉDIA</a:t>
                      </a:r>
                      <a:endParaRPr sz="82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5B"/>
                        </a:buClr>
                        <a:buSzPts val="825"/>
                        <a:buFont typeface="Poppins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16215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VS FB</a:t>
                      </a:r>
                      <a:endParaRPr sz="82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9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{{D4_R0_C0}}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{{D4_R0_C1}}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{{D4_R0_C2}}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{{D4_R0_C3}}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9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{{D4_R1_C0}}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{{D4_R1_C1}}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{{D4_R1_C2}}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{{D4_R1_C3}}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9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{{D4_R2_C0}}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{{D4_R2_C1}}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{{D4_R2_C2}}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{{D4_R2_C3}}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9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{{D4_R3_C0}}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{{D4_R3_C1}}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{{D4_R3_C2}}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{{D4_R3_C3}}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9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{{D4_R4_C0}}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{{D4_R4_C1}}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{{D4_R4_C2}}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{{D4_R4_C3}}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274"/>
                        </a:buClr>
                        <a:buSzPts val="975"/>
                        <a:buFont typeface="Poppins"/>
                        <a:buNone/>
                      </a:pPr>
                      <a:r>
                        <a:rPr i="1" lang="en-US" sz="900" u="none" cap="none" strike="noStrike">
                          <a:solidFill>
                            <a:srgbClr val="4B527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{{D4_R5_C0}}</a:t>
                      </a:r>
                      <a:endParaRPr sz="97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{{D4_R5_C1}}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{{D4_R5_C2}}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{{D4_R5_C3}}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10" name="Google Shape;610;p16"/>
          <p:cNvSpPr txBox="1"/>
          <p:nvPr/>
        </p:nvSpPr>
        <p:spPr>
          <a:xfrm>
            <a:off x="1447495" y="7029907"/>
            <a:ext cx="47631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B673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2BB673"/>
                </a:solidFill>
                <a:latin typeface="Poppins"/>
                <a:ea typeface="Poppins"/>
                <a:cs typeface="Poppins"/>
                <a:sym typeface="Poppins"/>
              </a:rPr>
              <a:t>O que as pessoas valorizam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6"/>
          <p:cNvSpPr txBox="1"/>
          <p:nvPr/>
        </p:nvSpPr>
        <p:spPr>
          <a:xfrm>
            <a:off x="1447495" y="7277710"/>
            <a:ext cx="4763110" cy="846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[Percepção positiva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[Percepção positiva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[Percepção positiva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6"/>
          <p:cNvSpPr txBox="1"/>
          <p:nvPr/>
        </p:nvSpPr>
        <p:spPr>
          <a:xfrm>
            <a:off x="7067398" y="7029907"/>
            <a:ext cx="47631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225D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D5225D"/>
                </a:solidFill>
                <a:latin typeface="Poppins"/>
                <a:ea typeface="Poppins"/>
                <a:cs typeface="Poppins"/>
                <a:sym typeface="Poppins"/>
              </a:rPr>
              <a:t>Onde as pessoas sentem fricção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6"/>
          <p:cNvSpPr txBox="1"/>
          <p:nvPr/>
        </p:nvSpPr>
        <p:spPr>
          <a:xfrm>
            <a:off x="7067398" y="7277710"/>
            <a:ext cx="4763110" cy="846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[Fricção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[Fricção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[Fricção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6"/>
          <p:cNvSpPr txBox="1"/>
          <p:nvPr/>
        </p:nvSpPr>
        <p:spPr>
          <a:xfrm>
            <a:off x="12687300" y="7029907"/>
            <a:ext cx="41916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5CF5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895CF5"/>
                </a:solidFill>
                <a:latin typeface="Poppins"/>
                <a:ea typeface="Poppins"/>
                <a:cs typeface="Poppins"/>
                <a:sym typeface="Poppins"/>
              </a:rPr>
              <a:t>Nas palavras delas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6"/>
          <p:cNvSpPr txBox="1"/>
          <p:nvPr/>
        </p:nvSpPr>
        <p:spPr>
          <a:xfrm>
            <a:off x="12687300" y="7343546"/>
            <a:ext cx="4191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1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“[Comentário anônimo breve]”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6"/>
          <p:cNvSpPr txBox="1"/>
          <p:nvPr/>
        </p:nvSpPr>
        <p:spPr>
          <a:xfrm>
            <a:off x="12687300" y="7705649"/>
            <a:ext cx="4191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1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“[Comentário anônimo breve]”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6"/>
          <p:cNvSpPr txBox="1"/>
          <p:nvPr/>
        </p:nvSpPr>
        <p:spPr>
          <a:xfrm>
            <a:off x="1447495" y="9105595"/>
            <a:ext cx="800100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CD4B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F8CD4B"/>
                </a:solidFill>
                <a:latin typeface="Poppins"/>
                <a:ea typeface="Poppins"/>
                <a:cs typeface="Poppins"/>
                <a:sym typeface="Poppins"/>
              </a:rPr>
              <a:t>Leitura do HRBP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6"/>
          <p:cNvSpPr txBox="1"/>
          <p:nvPr/>
        </p:nvSpPr>
        <p:spPr>
          <a:xfrm>
            <a:off x="1447495" y="9381744"/>
            <a:ext cx="8001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[O que a combinação de evidência quantitativa e qualitativa sugere?]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6"/>
          <p:cNvSpPr txBox="1"/>
          <p:nvPr/>
        </p:nvSpPr>
        <p:spPr>
          <a:xfrm>
            <a:off x="10096805" y="9105595"/>
            <a:ext cx="70491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Classificação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6"/>
          <p:cNvSpPr/>
          <p:nvPr/>
        </p:nvSpPr>
        <p:spPr>
          <a:xfrm>
            <a:off x="10096805" y="9420149"/>
            <a:ext cx="209398" cy="209398"/>
          </a:xfrm>
          <a:prstGeom prst="rect">
            <a:avLst/>
          </a:prstGeom>
          <a:noFill/>
          <a:ln cap="flat" cmpd="sng" w="25400">
            <a:solidFill>
              <a:srgbClr val="2BB6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6"/>
          <p:cNvSpPr txBox="1"/>
          <p:nvPr/>
        </p:nvSpPr>
        <p:spPr>
          <a:xfrm>
            <a:off x="10401300" y="9434779"/>
            <a:ext cx="866851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B673"/>
              </a:buClr>
              <a:buSzPts val="1125"/>
              <a:buFont typeface="Sora"/>
              <a:buNone/>
            </a:pPr>
            <a:r>
              <a:rPr b="1" i="0" lang="en-US" sz="1125" u="none" cap="none" strike="noStrike">
                <a:solidFill>
                  <a:srgbClr val="2BB673"/>
                </a:solidFill>
                <a:latin typeface="Sora"/>
                <a:ea typeface="Sora"/>
                <a:cs typeface="Sora"/>
                <a:sym typeface="Sora"/>
              </a:rPr>
              <a:t>PROTEGER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6"/>
          <p:cNvSpPr/>
          <p:nvPr/>
        </p:nvSpPr>
        <p:spPr>
          <a:xfrm>
            <a:off x="11454689" y="9420149"/>
            <a:ext cx="209398" cy="209398"/>
          </a:xfrm>
          <a:prstGeom prst="rect">
            <a:avLst/>
          </a:prstGeom>
          <a:noFill/>
          <a:ln cap="flat" cmpd="sng" w="25400">
            <a:solidFill>
              <a:srgbClr val="D522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6"/>
          <p:cNvSpPr txBox="1"/>
          <p:nvPr/>
        </p:nvSpPr>
        <p:spPr>
          <a:xfrm>
            <a:off x="11759184" y="9434779"/>
            <a:ext cx="638251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FA8"/>
              </a:buClr>
              <a:buSzPts val="1125"/>
              <a:buFont typeface="Sora"/>
              <a:buNone/>
            </a:pPr>
            <a:r>
              <a:rPr b="1" i="0" lang="en-US" sz="1125" u="none" cap="none" strike="noStrike">
                <a:solidFill>
                  <a:srgbClr val="FF8FA8"/>
                </a:solidFill>
                <a:latin typeface="Sora"/>
                <a:ea typeface="Sora"/>
                <a:cs typeface="Sora"/>
                <a:sym typeface="Sora"/>
              </a:rPr>
              <a:t>TRATAR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6"/>
          <p:cNvSpPr/>
          <p:nvPr/>
        </p:nvSpPr>
        <p:spPr>
          <a:xfrm>
            <a:off x="12584887" y="9420149"/>
            <a:ext cx="209398" cy="209398"/>
          </a:xfrm>
          <a:prstGeom prst="rect">
            <a:avLst/>
          </a:prstGeom>
          <a:noFill/>
          <a:ln cap="flat" cmpd="sng" w="25400">
            <a:solidFill>
              <a:srgbClr val="F8CD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6"/>
          <p:cNvSpPr txBox="1"/>
          <p:nvPr/>
        </p:nvSpPr>
        <p:spPr>
          <a:xfrm>
            <a:off x="12889382" y="9434779"/>
            <a:ext cx="1153058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CD4B"/>
              </a:buClr>
              <a:buSzPts val="1125"/>
              <a:buFont typeface="Sora"/>
              <a:buNone/>
            </a:pPr>
            <a:r>
              <a:rPr b="1" i="0" lang="en-US" sz="1125" u="none" cap="none" strike="noStrike">
                <a:solidFill>
                  <a:srgbClr val="F8CD4B"/>
                </a:solidFill>
                <a:latin typeface="Sora"/>
                <a:ea typeface="Sora"/>
                <a:cs typeface="Sora"/>
                <a:sym typeface="Sora"/>
              </a:rPr>
              <a:t>APROFUNDAR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6"/>
          <p:cNvSpPr/>
          <p:nvPr/>
        </p:nvSpPr>
        <p:spPr>
          <a:xfrm>
            <a:off x="14231722" y="9420149"/>
            <a:ext cx="209398" cy="209398"/>
          </a:xfrm>
          <a:prstGeom prst="rect">
            <a:avLst/>
          </a:prstGeom>
          <a:noFill/>
          <a:ln cap="flat" cmpd="sng" w="25400">
            <a:solidFill>
              <a:srgbClr val="FFFF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6"/>
          <p:cNvSpPr txBox="1"/>
          <p:nvPr/>
        </p:nvSpPr>
        <p:spPr>
          <a:xfrm>
            <a:off x="14537131" y="9434779"/>
            <a:ext cx="1410005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Sora"/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SEM PRIORIDADE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28" name="Chart 627"/>
          <p:cNvGraphicFramePr>
            <a:graphicFrameLocks noGrp="1"/>
          </p:cNvGraphicFramePr>
          <p:nvPr/>
        </p:nvGraphicFramePr>
        <p:xfrm>
          <a:off x="1554480" y="5029200"/>
          <a:ext cx="4526280" cy="1325880"/>
        </p:xfrm>
        <a:graphic>
          <a:graphicData uri="http://schemas.openxmlformats.org/drawingml/2006/chart">
            <c:chart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D"/>
        </a:solidFill>
      </p:bgPr>
    </p:bg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571723da0b9e7496659dc38ed713a537.png" id="581" name="Google Shape;581;p16"/>
          <p:cNvPicPr preferRelativeResize="0"/>
          <p:nvPr/>
        </p:nvPicPr>
        <p:blipFill rotWithShape="1">
          <a:blip r:embed="rId3">
            <a:alphaModFix/>
          </a:blip>
          <a:srcRect b="0" l="-2083" r="-2083" t="0"/>
          <a:stretch/>
        </p:blipFill>
        <p:spPr>
          <a:xfrm>
            <a:off x="1143000" y="2247595"/>
            <a:ext cx="16002000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16"/>
          <p:cNvSpPr/>
          <p:nvPr/>
        </p:nvSpPr>
        <p:spPr>
          <a:xfrm>
            <a:off x="1143000" y="2533802"/>
            <a:ext cx="5333695" cy="409559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6"/>
          <p:cNvSpPr/>
          <p:nvPr/>
        </p:nvSpPr>
        <p:spPr>
          <a:xfrm>
            <a:off x="6762902" y="2533802"/>
            <a:ext cx="10382098" cy="409559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6"/>
          <p:cNvSpPr/>
          <p:nvPr/>
        </p:nvSpPr>
        <p:spPr>
          <a:xfrm>
            <a:off x="1143000" y="6819595"/>
            <a:ext cx="5333695" cy="1904695"/>
          </a:xfrm>
          <a:prstGeom prst="rect">
            <a:avLst/>
          </a:prstGeom>
          <a:solidFill>
            <a:srgbClr val="EAF0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6"/>
          <p:cNvSpPr/>
          <p:nvPr/>
        </p:nvSpPr>
        <p:spPr>
          <a:xfrm>
            <a:off x="6762902" y="6819595"/>
            <a:ext cx="5333695" cy="1904695"/>
          </a:xfrm>
          <a:prstGeom prst="rect">
            <a:avLst/>
          </a:prstGeom>
          <a:solidFill>
            <a:srgbClr val="EAF0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6"/>
          <p:cNvSpPr/>
          <p:nvPr/>
        </p:nvSpPr>
        <p:spPr>
          <a:xfrm>
            <a:off x="12382805" y="6819595"/>
            <a:ext cx="4781398" cy="192389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6"/>
          <p:cNvSpPr/>
          <p:nvPr/>
        </p:nvSpPr>
        <p:spPr>
          <a:xfrm>
            <a:off x="1143000" y="8915400"/>
            <a:ext cx="16002000" cy="1047902"/>
          </a:xfrm>
          <a:prstGeom prst="rect">
            <a:avLst/>
          </a:prstGeom>
          <a:solidFill>
            <a:srgbClr val="16215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75554a26810b287334efd5ad4280f6dc.png" id="588" name="Google Shape;588;p16"/>
          <p:cNvPicPr preferRelativeResize="0"/>
          <p:nvPr/>
        </p:nvPicPr>
        <p:blipFill rotWithShape="1">
          <a:blip r:embed="rId4">
            <a:alphaModFix/>
          </a:blip>
          <a:srcRect b="0" l="-201" r="-201" t="0"/>
          <a:stretch/>
        </p:blipFill>
        <p:spPr>
          <a:xfrm>
            <a:off x="0" y="0"/>
            <a:ext cx="182880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20a1fe1a29d367f0e337479a2578c76d.png" id="589" name="Google Shape;589;p16"/>
          <p:cNvPicPr preferRelativeResize="0"/>
          <p:nvPr/>
        </p:nvPicPr>
        <p:blipFill rotWithShape="1">
          <a:blip r:embed="rId5">
            <a:alphaModFix/>
          </a:blip>
          <a:srcRect b="-403" l="0" r="0" t="-403"/>
          <a:stretch/>
        </p:blipFill>
        <p:spPr>
          <a:xfrm>
            <a:off x="1143000" y="2533802"/>
            <a:ext cx="5333695" cy="57607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16"/>
          <p:cNvSpPr/>
          <p:nvPr/>
        </p:nvSpPr>
        <p:spPr>
          <a:xfrm>
            <a:off x="1447495" y="4953305"/>
            <a:ext cx="4743907" cy="1447495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6ce94105c5227a91a4e9a6911f133187.png" id="591" name="Google Shape;591;p16"/>
          <p:cNvPicPr preferRelativeResize="0"/>
          <p:nvPr/>
        </p:nvPicPr>
        <p:blipFill rotWithShape="1">
          <a:blip r:embed="rId6">
            <a:alphaModFix/>
          </a:blip>
          <a:srcRect b="-401" l="0" r="0" t="-401"/>
          <a:stretch/>
        </p:blipFill>
        <p:spPr>
          <a:xfrm>
            <a:off x="6762902" y="2533802"/>
            <a:ext cx="10382098" cy="576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591ce8fe1a5b6faa434a338482f32902.png" id="592" name="Google Shape;592;p16"/>
          <p:cNvPicPr preferRelativeResize="0"/>
          <p:nvPr/>
        </p:nvPicPr>
        <p:blipFill rotWithShape="1">
          <a:blip r:embed="rId7">
            <a:alphaModFix/>
          </a:blip>
          <a:srcRect b="0" l="-408" r="-408" t="0"/>
          <a:stretch/>
        </p:blipFill>
        <p:spPr>
          <a:xfrm>
            <a:off x="1143000" y="6819595"/>
            <a:ext cx="57607" cy="1904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7884f426d493eeefc72a918b85a7ba8e.png" id="593" name="Google Shape;593;p16"/>
          <p:cNvPicPr preferRelativeResize="0"/>
          <p:nvPr/>
        </p:nvPicPr>
        <p:blipFill rotWithShape="1">
          <a:blip r:embed="rId8">
            <a:alphaModFix/>
          </a:blip>
          <a:srcRect b="0" l="-408" r="-408" t="0"/>
          <a:stretch/>
        </p:blipFill>
        <p:spPr>
          <a:xfrm>
            <a:off x="6762902" y="6819595"/>
            <a:ext cx="57607" cy="1904695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16"/>
          <p:cNvSpPr txBox="1"/>
          <p:nvPr/>
        </p:nvSpPr>
        <p:spPr>
          <a:xfrm>
            <a:off x="1143000" y="495605"/>
            <a:ext cx="2781605" cy="277063"/>
          </a:xfrm>
          <a:prstGeom prst="rect">
            <a:avLst/>
          </a:prstGeom>
          <a:solidFill>
            <a:srgbClr val="16215B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500" lIns="139700" spcFirstLastPara="1" rIns="139700" wrap="square" tIns="63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Apêndice · duplicar por driver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6"/>
          <p:cNvSpPr txBox="1"/>
          <p:nvPr/>
        </p:nvSpPr>
        <p:spPr>
          <a:xfrm>
            <a:off x="13334695" y="552298"/>
            <a:ext cx="381030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{{AREA}} · {{ONDA}}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6"/>
          <p:cNvSpPr txBox="1"/>
          <p:nvPr/>
        </p:nvSpPr>
        <p:spPr>
          <a:xfrm>
            <a:off x="1143000" y="1009498"/>
            <a:ext cx="16002000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3900"/>
              <a:buFont typeface="Sora"/>
              <a:buNone/>
            </a:pPr>
            <a:r>
              <a:rPr b="1" i="0" lang="en-US" sz="39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{{D5_NOME}}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6"/>
          <p:cNvSpPr txBox="1"/>
          <p:nvPr/>
        </p:nvSpPr>
        <p:spPr>
          <a:xfrm>
            <a:off x="1143000" y="1638605"/>
            <a:ext cx="1600200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350"/>
              <a:buFont typeface="Poppins"/>
              <a:buNone/>
            </a:pPr>
            <a:r>
              <a:rPr b="0" i="1" lang="en-US" sz="135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{{D5_DESC}}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6"/>
          <p:cNvSpPr txBox="1"/>
          <p:nvPr/>
        </p:nvSpPr>
        <p:spPr>
          <a:xfrm>
            <a:off x="1447495" y="2781605"/>
            <a:ext cx="47631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0285FF"/>
                </a:solidFill>
                <a:latin typeface="Poppins"/>
                <a:ea typeface="Poppins"/>
                <a:cs typeface="Poppins"/>
                <a:sym typeface="Poppins"/>
              </a:rPr>
              <a:t>Evidência · quantitativa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6"/>
          <p:cNvSpPr txBox="1"/>
          <p:nvPr/>
        </p:nvSpPr>
        <p:spPr>
          <a:xfrm>
            <a:off x="1447495" y="3143707"/>
            <a:ext cx="23820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Favorável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6"/>
          <p:cNvSpPr txBox="1"/>
          <p:nvPr/>
        </p:nvSpPr>
        <p:spPr>
          <a:xfrm>
            <a:off x="1447495" y="3372307"/>
            <a:ext cx="23820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3600"/>
              <a:buFont typeface="Sora"/>
              <a:buNone/>
            </a:pPr>
            <a:r>
              <a:rPr b="0" i="0" lang="en-US" sz="36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{{D5_FAV}}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6"/>
          <p:cNvSpPr txBox="1"/>
          <p:nvPr/>
        </p:nvSpPr>
        <p:spPr>
          <a:xfrm>
            <a:off x="4095598" y="3143707"/>
            <a:ext cx="219090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Média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6"/>
          <p:cNvSpPr txBox="1"/>
          <p:nvPr/>
        </p:nvSpPr>
        <p:spPr>
          <a:xfrm>
            <a:off x="4095598" y="3372307"/>
            <a:ext cx="21909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3600"/>
              <a:buFont typeface="Sora"/>
              <a:buNone/>
            </a:pPr>
            <a:r>
              <a:rPr b="0" i="0" lang="en-US" sz="3600" u="none" cap="none" strike="noStrike">
                <a:solidFill>
                  <a:srgbClr val="0285FF"/>
                </a:solidFill>
                <a:latin typeface="Sora"/>
                <a:ea typeface="Sora"/>
                <a:cs typeface="Sora"/>
                <a:sym typeface="Sora"/>
              </a:rPr>
              <a:t>{{D5_MED}}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6"/>
          <p:cNvSpPr txBox="1"/>
          <p:nvPr/>
        </p:nvSpPr>
        <p:spPr>
          <a:xfrm>
            <a:off x="1447495" y="4114800"/>
            <a:ext cx="23820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vs Flutter Brasil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6"/>
          <p:cNvSpPr txBox="1"/>
          <p:nvPr/>
        </p:nvSpPr>
        <p:spPr>
          <a:xfrm>
            <a:off x="1447495" y="4343400"/>
            <a:ext cx="2382012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2550"/>
              <a:buFont typeface="Sora"/>
              <a:buNone/>
            </a:pPr>
            <a:r>
              <a:rPr b="0" i="0" lang="en-US" sz="2550" u="none" cap="none" strike="noStrike">
                <a:solidFill>
                  <a:srgbClr val="131A40"/>
                </a:solidFill>
                <a:latin typeface="Sora"/>
                <a:ea typeface="Sora"/>
                <a:cs typeface="Sora"/>
                <a:sym typeface="Sora"/>
              </a:rPr>
              <a:t>{{D5_VSFB}}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6"/>
          <p:cNvSpPr txBox="1"/>
          <p:nvPr/>
        </p:nvSpPr>
        <p:spPr>
          <a:xfrm>
            <a:off x="4095598" y="4114800"/>
            <a:ext cx="219090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vs onda anterior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6"/>
          <p:cNvSpPr txBox="1"/>
          <p:nvPr/>
        </p:nvSpPr>
        <p:spPr>
          <a:xfrm>
            <a:off x="4095598" y="4343400"/>
            <a:ext cx="2190902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2550"/>
              <a:buFont typeface="Sora"/>
              <a:buNone/>
            </a:pPr>
            <a:r>
              <a:rPr b="0" i="0" lang="en-US" sz="2550" u="none" cap="none" strike="noStrike">
                <a:solidFill>
                  <a:srgbClr val="131A40"/>
                </a:solidFill>
                <a:latin typeface="Sora"/>
                <a:ea typeface="Sora"/>
                <a:cs typeface="Sora"/>
                <a:sym typeface="Sora"/>
              </a:rPr>
              <a:t>{{D5_VSANT}}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6"/>
          <p:cNvSpPr txBox="1"/>
          <p:nvPr/>
        </p:nvSpPr>
        <p:spPr>
          <a:xfrm>
            <a:off x="7067398" y="2781605"/>
            <a:ext cx="9811512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0285FF"/>
                </a:solidFill>
                <a:latin typeface="Poppins"/>
                <a:ea typeface="Poppins"/>
                <a:cs typeface="Poppins"/>
                <a:sym typeface="Poppins"/>
              </a:rPr>
              <a:t>Detalhe das perguntas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09" name="Google Shape;609;p16"/>
          <p:cNvGraphicFramePr/>
          <p:nvPr/>
        </p:nvGraphicFramePr>
        <p:xfrm>
          <a:off x="7067398" y="3143707"/>
          <a:ext cx="3000000" cy="2880360"/>
        </p:xfrm>
        <a:graphic>
          <a:graphicData uri="http://schemas.openxmlformats.org/drawingml/2006/table">
            <a:tbl>
              <a:tblPr>
                <a:noFill/>
                <a:tableStyleId>{0DAC2FE4-DBA5-4F3B-94BE-2F4E2715C5E2}</a:tableStyleId>
              </a:tblPr>
              <a:tblGrid>
                <a:gridCol w="5374850"/>
                <a:gridCol w="1465775"/>
                <a:gridCol w="1465775"/>
                <a:gridCol w="1465775"/>
              </a:tblGrid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5B"/>
                        </a:buClr>
                        <a:buSzPts val="825"/>
                        <a:buFont typeface="Poppins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16215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PERGUNTA</a:t>
                      </a:r>
                      <a:endParaRPr sz="82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5B"/>
                        </a:buClr>
                        <a:buSzPts val="825"/>
                        <a:buFont typeface="Poppins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16215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FAVORÁVEL</a:t>
                      </a:r>
                      <a:endParaRPr sz="82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5B"/>
                        </a:buClr>
                        <a:buSzPts val="825"/>
                        <a:buFont typeface="Poppins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16215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MÉDIA</a:t>
                      </a:r>
                      <a:endParaRPr sz="82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5B"/>
                        </a:buClr>
                        <a:buSzPts val="825"/>
                        <a:buFont typeface="Poppins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16215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VS FB</a:t>
                      </a:r>
                      <a:endParaRPr sz="82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9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{{D5_R0_C0}}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{{D5_R0_C1}}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{{D5_R0_C2}}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{{D5_R0_C3}}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9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{{D5_R1_C0}}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{{D5_R1_C1}}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{{D5_R1_C2}}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{{D5_R1_C3}}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9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{{D5_R2_C0}}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{{D5_R2_C1}}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{{D5_R2_C2}}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{{D5_R2_C3}}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9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{{D5_R3_C0}}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{{D5_R3_C1}}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{{D5_R3_C2}}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{{D5_R3_C3}}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9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{{D5_R4_C0}}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{{D5_R4_C1}}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{{D5_R4_C2}}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{{D5_R4_C3}}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274"/>
                        </a:buClr>
                        <a:buSzPts val="975"/>
                        <a:buFont typeface="Poppins"/>
                        <a:buNone/>
                      </a:pPr>
                      <a:r>
                        <a:rPr i="1" lang="en-US" sz="900" u="none" cap="none" strike="noStrike">
                          <a:solidFill>
                            <a:srgbClr val="4B527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{{D5_R5_C0}}</a:t>
                      </a:r>
                      <a:endParaRPr sz="97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{{D5_R5_C1}}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{{D5_R5_C2}}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{{D5_R5_C3}}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10" name="Google Shape;610;p16"/>
          <p:cNvSpPr txBox="1"/>
          <p:nvPr/>
        </p:nvSpPr>
        <p:spPr>
          <a:xfrm>
            <a:off x="1447495" y="7029907"/>
            <a:ext cx="47631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B673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2BB673"/>
                </a:solidFill>
                <a:latin typeface="Poppins"/>
                <a:ea typeface="Poppins"/>
                <a:cs typeface="Poppins"/>
                <a:sym typeface="Poppins"/>
              </a:rPr>
              <a:t>O que as pessoas valorizam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6"/>
          <p:cNvSpPr txBox="1"/>
          <p:nvPr/>
        </p:nvSpPr>
        <p:spPr>
          <a:xfrm>
            <a:off x="1447495" y="7277710"/>
            <a:ext cx="4763110" cy="846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[Percepção positiva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[Percepção positiva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[Percepção positiva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6"/>
          <p:cNvSpPr txBox="1"/>
          <p:nvPr/>
        </p:nvSpPr>
        <p:spPr>
          <a:xfrm>
            <a:off x="7067398" y="7029907"/>
            <a:ext cx="47631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225D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D5225D"/>
                </a:solidFill>
                <a:latin typeface="Poppins"/>
                <a:ea typeface="Poppins"/>
                <a:cs typeface="Poppins"/>
                <a:sym typeface="Poppins"/>
              </a:rPr>
              <a:t>Onde as pessoas sentem fricção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6"/>
          <p:cNvSpPr txBox="1"/>
          <p:nvPr/>
        </p:nvSpPr>
        <p:spPr>
          <a:xfrm>
            <a:off x="7067398" y="7277710"/>
            <a:ext cx="4763110" cy="846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[Fricção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[Fricção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[Fricção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6"/>
          <p:cNvSpPr txBox="1"/>
          <p:nvPr/>
        </p:nvSpPr>
        <p:spPr>
          <a:xfrm>
            <a:off x="12687300" y="7029907"/>
            <a:ext cx="41916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5CF5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895CF5"/>
                </a:solidFill>
                <a:latin typeface="Poppins"/>
                <a:ea typeface="Poppins"/>
                <a:cs typeface="Poppins"/>
                <a:sym typeface="Poppins"/>
              </a:rPr>
              <a:t>Nas palavras delas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6"/>
          <p:cNvSpPr txBox="1"/>
          <p:nvPr/>
        </p:nvSpPr>
        <p:spPr>
          <a:xfrm>
            <a:off x="12687300" y="7343546"/>
            <a:ext cx="4191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1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“[Comentário anônimo breve]”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6"/>
          <p:cNvSpPr txBox="1"/>
          <p:nvPr/>
        </p:nvSpPr>
        <p:spPr>
          <a:xfrm>
            <a:off x="12687300" y="7705649"/>
            <a:ext cx="4191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1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“[Comentário anônimo breve]”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6"/>
          <p:cNvSpPr txBox="1"/>
          <p:nvPr/>
        </p:nvSpPr>
        <p:spPr>
          <a:xfrm>
            <a:off x="1447495" y="9105595"/>
            <a:ext cx="800100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CD4B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F8CD4B"/>
                </a:solidFill>
                <a:latin typeface="Poppins"/>
                <a:ea typeface="Poppins"/>
                <a:cs typeface="Poppins"/>
                <a:sym typeface="Poppins"/>
              </a:rPr>
              <a:t>Leitura do HRBP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6"/>
          <p:cNvSpPr txBox="1"/>
          <p:nvPr/>
        </p:nvSpPr>
        <p:spPr>
          <a:xfrm>
            <a:off x="1447495" y="9381744"/>
            <a:ext cx="8001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[O que a combinação de evidência quantitativa e qualitativa sugere?]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6"/>
          <p:cNvSpPr txBox="1"/>
          <p:nvPr/>
        </p:nvSpPr>
        <p:spPr>
          <a:xfrm>
            <a:off x="10096805" y="9105595"/>
            <a:ext cx="70491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Classificação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6"/>
          <p:cNvSpPr/>
          <p:nvPr/>
        </p:nvSpPr>
        <p:spPr>
          <a:xfrm>
            <a:off x="10096805" y="9420149"/>
            <a:ext cx="209398" cy="209398"/>
          </a:xfrm>
          <a:prstGeom prst="rect">
            <a:avLst/>
          </a:prstGeom>
          <a:noFill/>
          <a:ln cap="flat" cmpd="sng" w="25400">
            <a:solidFill>
              <a:srgbClr val="2BB6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6"/>
          <p:cNvSpPr txBox="1"/>
          <p:nvPr/>
        </p:nvSpPr>
        <p:spPr>
          <a:xfrm>
            <a:off x="10401300" y="9434779"/>
            <a:ext cx="866851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B673"/>
              </a:buClr>
              <a:buSzPts val="1125"/>
              <a:buFont typeface="Sora"/>
              <a:buNone/>
            </a:pPr>
            <a:r>
              <a:rPr b="1" i="0" lang="en-US" sz="1125" u="none" cap="none" strike="noStrike">
                <a:solidFill>
                  <a:srgbClr val="2BB673"/>
                </a:solidFill>
                <a:latin typeface="Sora"/>
                <a:ea typeface="Sora"/>
                <a:cs typeface="Sora"/>
                <a:sym typeface="Sora"/>
              </a:rPr>
              <a:t>PROTEGER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6"/>
          <p:cNvSpPr/>
          <p:nvPr/>
        </p:nvSpPr>
        <p:spPr>
          <a:xfrm>
            <a:off x="11454689" y="9420149"/>
            <a:ext cx="209398" cy="209398"/>
          </a:xfrm>
          <a:prstGeom prst="rect">
            <a:avLst/>
          </a:prstGeom>
          <a:noFill/>
          <a:ln cap="flat" cmpd="sng" w="25400">
            <a:solidFill>
              <a:srgbClr val="D522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6"/>
          <p:cNvSpPr txBox="1"/>
          <p:nvPr/>
        </p:nvSpPr>
        <p:spPr>
          <a:xfrm>
            <a:off x="11759184" y="9434779"/>
            <a:ext cx="638251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FA8"/>
              </a:buClr>
              <a:buSzPts val="1125"/>
              <a:buFont typeface="Sora"/>
              <a:buNone/>
            </a:pPr>
            <a:r>
              <a:rPr b="1" i="0" lang="en-US" sz="1125" u="none" cap="none" strike="noStrike">
                <a:solidFill>
                  <a:srgbClr val="FF8FA8"/>
                </a:solidFill>
                <a:latin typeface="Sora"/>
                <a:ea typeface="Sora"/>
                <a:cs typeface="Sora"/>
                <a:sym typeface="Sora"/>
              </a:rPr>
              <a:t>TRATAR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6"/>
          <p:cNvSpPr/>
          <p:nvPr/>
        </p:nvSpPr>
        <p:spPr>
          <a:xfrm>
            <a:off x="12584887" y="9420149"/>
            <a:ext cx="209398" cy="209398"/>
          </a:xfrm>
          <a:prstGeom prst="rect">
            <a:avLst/>
          </a:prstGeom>
          <a:noFill/>
          <a:ln cap="flat" cmpd="sng" w="25400">
            <a:solidFill>
              <a:srgbClr val="F8CD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6"/>
          <p:cNvSpPr txBox="1"/>
          <p:nvPr/>
        </p:nvSpPr>
        <p:spPr>
          <a:xfrm>
            <a:off x="12889382" y="9434779"/>
            <a:ext cx="1153058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CD4B"/>
              </a:buClr>
              <a:buSzPts val="1125"/>
              <a:buFont typeface="Sora"/>
              <a:buNone/>
            </a:pPr>
            <a:r>
              <a:rPr b="1" i="0" lang="en-US" sz="1125" u="none" cap="none" strike="noStrike">
                <a:solidFill>
                  <a:srgbClr val="F8CD4B"/>
                </a:solidFill>
                <a:latin typeface="Sora"/>
                <a:ea typeface="Sora"/>
                <a:cs typeface="Sora"/>
                <a:sym typeface="Sora"/>
              </a:rPr>
              <a:t>APROFUNDAR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6"/>
          <p:cNvSpPr/>
          <p:nvPr/>
        </p:nvSpPr>
        <p:spPr>
          <a:xfrm>
            <a:off x="14231722" y="9420149"/>
            <a:ext cx="209398" cy="209398"/>
          </a:xfrm>
          <a:prstGeom prst="rect">
            <a:avLst/>
          </a:prstGeom>
          <a:noFill/>
          <a:ln cap="flat" cmpd="sng" w="25400">
            <a:solidFill>
              <a:srgbClr val="FFFF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6"/>
          <p:cNvSpPr txBox="1"/>
          <p:nvPr/>
        </p:nvSpPr>
        <p:spPr>
          <a:xfrm>
            <a:off x="14537131" y="9434779"/>
            <a:ext cx="1410005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Sora"/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SEM PRIORIDADE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28" name="Chart 627"/>
          <p:cNvGraphicFramePr>
            <a:graphicFrameLocks noGrp="1"/>
          </p:cNvGraphicFramePr>
          <p:nvPr/>
        </p:nvGraphicFramePr>
        <p:xfrm>
          <a:off x="1554480" y="5029200"/>
          <a:ext cx="4526280" cy="1325880"/>
        </p:xfrm>
        <a:graphic>
          <a:graphicData uri="http://schemas.openxmlformats.org/drawingml/2006/chart">
            <c:chart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D"/>
        </a:solidFill>
      </p:bgPr>
    </p:bg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571723da0b9e7496659dc38ed713a537.png" id="581" name="Google Shape;581;p16"/>
          <p:cNvPicPr preferRelativeResize="0"/>
          <p:nvPr/>
        </p:nvPicPr>
        <p:blipFill rotWithShape="1">
          <a:blip r:embed="rId3">
            <a:alphaModFix/>
          </a:blip>
          <a:srcRect b="0" l="-2083" r="-2083" t="0"/>
          <a:stretch/>
        </p:blipFill>
        <p:spPr>
          <a:xfrm>
            <a:off x="1143000" y="2247595"/>
            <a:ext cx="16002000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16"/>
          <p:cNvSpPr/>
          <p:nvPr/>
        </p:nvSpPr>
        <p:spPr>
          <a:xfrm>
            <a:off x="1143000" y="2533802"/>
            <a:ext cx="5333695" cy="409559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6"/>
          <p:cNvSpPr/>
          <p:nvPr/>
        </p:nvSpPr>
        <p:spPr>
          <a:xfrm>
            <a:off x="6762902" y="2533802"/>
            <a:ext cx="10382098" cy="409559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6"/>
          <p:cNvSpPr/>
          <p:nvPr/>
        </p:nvSpPr>
        <p:spPr>
          <a:xfrm>
            <a:off x="1143000" y="6819595"/>
            <a:ext cx="5333695" cy="1904695"/>
          </a:xfrm>
          <a:prstGeom prst="rect">
            <a:avLst/>
          </a:prstGeom>
          <a:solidFill>
            <a:srgbClr val="EAF0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6"/>
          <p:cNvSpPr/>
          <p:nvPr/>
        </p:nvSpPr>
        <p:spPr>
          <a:xfrm>
            <a:off x="6762902" y="6819595"/>
            <a:ext cx="5333695" cy="1904695"/>
          </a:xfrm>
          <a:prstGeom prst="rect">
            <a:avLst/>
          </a:prstGeom>
          <a:solidFill>
            <a:srgbClr val="EAF0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6"/>
          <p:cNvSpPr/>
          <p:nvPr/>
        </p:nvSpPr>
        <p:spPr>
          <a:xfrm>
            <a:off x="12382805" y="6819595"/>
            <a:ext cx="4781398" cy="192389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6"/>
          <p:cNvSpPr/>
          <p:nvPr/>
        </p:nvSpPr>
        <p:spPr>
          <a:xfrm>
            <a:off x="1143000" y="8915400"/>
            <a:ext cx="16002000" cy="1047902"/>
          </a:xfrm>
          <a:prstGeom prst="rect">
            <a:avLst/>
          </a:prstGeom>
          <a:solidFill>
            <a:srgbClr val="16215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75554a26810b287334efd5ad4280f6dc.png" id="588" name="Google Shape;588;p16"/>
          <p:cNvPicPr preferRelativeResize="0"/>
          <p:nvPr/>
        </p:nvPicPr>
        <p:blipFill rotWithShape="1">
          <a:blip r:embed="rId4">
            <a:alphaModFix/>
          </a:blip>
          <a:srcRect b="0" l="-201" r="-201" t="0"/>
          <a:stretch/>
        </p:blipFill>
        <p:spPr>
          <a:xfrm>
            <a:off x="0" y="0"/>
            <a:ext cx="182880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20a1fe1a29d367f0e337479a2578c76d.png" id="589" name="Google Shape;589;p16"/>
          <p:cNvPicPr preferRelativeResize="0"/>
          <p:nvPr/>
        </p:nvPicPr>
        <p:blipFill rotWithShape="1">
          <a:blip r:embed="rId5">
            <a:alphaModFix/>
          </a:blip>
          <a:srcRect b="-403" l="0" r="0" t="-403"/>
          <a:stretch/>
        </p:blipFill>
        <p:spPr>
          <a:xfrm>
            <a:off x="1143000" y="2533802"/>
            <a:ext cx="5333695" cy="57607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16"/>
          <p:cNvSpPr/>
          <p:nvPr/>
        </p:nvSpPr>
        <p:spPr>
          <a:xfrm>
            <a:off x="1447495" y="4953305"/>
            <a:ext cx="4743907" cy="1447495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6ce94105c5227a91a4e9a6911f133187.png" id="591" name="Google Shape;591;p16"/>
          <p:cNvPicPr preferRelativeResize="0"/>
          <p:nvPr/>
        </p:nvPicPr>
        <p:blipFill rotWithShape="1">
          <a:blip r:embed="rId6">
            <a:alphaModFix/>
          </a:blip>
          <a:srcRect b="-401" l="0" r="0" t="-401"/>
          <a:stretch/>
        </p:blipFill>
        <p:spPr>
          <a:xfrm>
            <a:off x="6762902" y="2533802"/>
            <a:ext cx="10382098" cy="576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591ce8fe1a5b6faa434a338482f32902.png" id="592" name="Google Shape;592;p16"/>
          <p:cNvPicPr preferRelativeResize="0"/>
          <p:nvPr/>
        </p:nvPicPr>
        <p:blipFill rotWithShape="1">
          <a:blip r:embed="rId7">
            <a:alphaModFix/>
          </a:blip>
          <a:srcRect b="0" l="-408" r="-408" t="0"/>
          <a:stretch/>
        </p:blipFill>
        <p:spPr>
          <a:xfrm>
            <a:off x="1143000" y="6819595"/>
            <a:ext cx="57607" cy="1904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7884f426d493eeefc72a918b85a7ba8e.png" id="593" name="Google Shape;593;p16"/>
          <p:cNvPicPr preferRelativeResize="0"/>
          <p:nvPr/>
        </p:nvPicPr>
        <p:blipFill rotWithShape="1">
          <a:blip r:embed="rId8">
            <a:alphaModFix/>
          </a:blip>
          <a:srcRect b="0" l="-408" r="-408" t="0"/>
          <a:stretch/>
        </p:blipFill>
        <p:spPr>
          <a:xfrm>
            <a:off x="6762902" y="6819595"/>
            <a:ext cx="57607" cy="1904695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16"/>
          <p:cNvSpPr txBox="1"/>
          <p:nvPr/>
        </p:nvSpPr>
        <p:spPr>
          <a:xfrm>
            <a:off x="1143000" y="495605"/>
            <a:ext cx="2781605" cy="277063"/>
          </a:xfrm>
          <a:prstGeom prst="rect">
            <a:avLst/>
          </a:prstGeom>
          <a:solidFill>
            <a:srgbClr val="16215B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500" lIns="139700" spcFirstLastPara="1" rIns="139700" wrap="square" tIns="63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Apêndice · duplicar por driver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6"/>
          <p:cNvSpPr txBox="1"/>
          <p:nvPr/>
        </p:nvSpPr>
        <p:spPr>
          <a:xfrm>
            <a:off x="13334695" y="552298"/>
            <a:ext cx="381030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{{AREA}} · {{ONDA}}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6"/>
          <p:cNvSpPr txBox="1"/>
          <p:nvPr/>
        </p:nvSpPr>
        <p:spPr>
          <a:xfrm>
            <a:off x="1143000" y="1009498"/>
            <a:ext cx="16002000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3900"/>
              <a:buFont typeface="Sora"/>
              <a:buNone/>
            </a:pPr>
            <a:r>
              <a:rPr b="1" i="0" lang="en-US" sz="39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{{D6_NOME}}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6"/>
          <p:cNvSpPr txBox="1"/>
          <p:nvPr/>
        </p:nvSpPr>
        <p:spPr>
          <a:xfrm>
            <a:off x="1143000" y="1638605"/>
            <a:ext cx="1600200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350"/>
              <a:buFont typeface="Poppins"/>
              <a:buNone/>
            </a:pPr>
            <a:r>
              <a:rPr b="0" i="1" lang="en-US" sz="135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{{D6_DESC}}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6"/>
          <p:cNvSpPr txBox="1"/>
          <p:nvPr/>
        </p:nvSpPr>
        <p:spPr>
          <a:xfrm>
            <a:off x="1447495" y="2781605"/>
            <a:ext cx="47631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0285FF"/>
                </a:solidFill>
                <a:latin typeface="Poppins"/>
                <a:ea typeface="Poppins"/>
                <a:cs typeface="Poppins"/>
                <a:sym typeface="Poppins"/>
              </a:rPr>
              <a:t>Evidência · quantitativa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6"/>
          <p:cNvSpPr txBox="1"/>
          <p:nvPr/>
        </p:nvSpPr>
        <p:spPr>
          <a:xfrm>
            <a:off x="1447495" y="3143707"/>
            <a:ext cx="23820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Favorável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6"/>
          <p:cNvSpPr txBox="1"/>
          <p:nvPr/>
        </p:nvSpPr>
        <p:spPr>
          <a:xfrm>
            <a:off x="1447495" y="3372307"/>
            <a:ext cx="23820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3600"/>
              <a:buFont typeface="Sora"/>
              <a:buNone/>
            </a:pPr>
            <a:r>
              <a:rPr b="0" i="0" lang="en-US" sz="36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{{D6_FAV}}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6"/>
          <p:cNvSpPr txBox="1"/>
          <p:nvPr/>
        </p:nvSpPr>
        <p:spPr>
          <a:xfrm>
            <a:off x="4095598" y="3143707"/>
            <a:ext cx="219090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Média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6"/>
          <p:cNvSpPr txBox="1"/>
          <p:nvPr/>
        </p:nvSpPr>
        <p:spPr>
          <a:xfrm>
            <a:off x="4095598" y="3372307"/>
            <a:ext cx="21909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3600"/>
              <a:buFont typeface="Sora"/>
              <a:buNone/>
            </a:pPr>
            <a:r>
              <a:rPr b="0" i="0" lang="en-US" sz="3600" u="none" cap="none" strike="noStrike">
                <a:solidFill>
                  <a:srgbClr val="0285FF"/>
                </a:solidFill>
                <a:latin typeface="Sora"/>
                <a:ea typeface="Sora"/>
                <a:cs typeface="Sora"/>
                <a:sym typeface="Sora"/>
              </a:rPr>
              <a:t>{{D6_MED}}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6"/>
          <p:cNvSpPr txBox="1"/>
          <p:nvPr/>
        </p:nvSpPr>
        <p:spPr>
          <a:xfrm>
            <a:off x="1447495" y="4114800"/>
            <a:ext cx="23820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vs Flutter Brasil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6"/>
          <p:cNvSpPr txBox="1"/>
          <p:nvPr/>
        </p:nvSpPr>
        <p:spPr>
          <a:xfrm>
            <a:off x="1447495" y="4343400"/>
            <a:ext cx="2382012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2550"/>
              <a:buFont typeface="Sora"/>
              <a:buNone/>
            </a:pPr>
            <a:r>
              <a:rPr b="0" i="0" lang="en-US" sz="2550" u="none" cap="none" strike="noStrike">
                <a:solidFill>
                  <a:srgbClr val="131A40"/>
                </a:solidFill>
                <a:latin typeface="Sora"/>
                <a:ea typeface="Sora"/>
                <a:cs typeface="Sora"/>
                <a:sym typeface="Sora"/>
              </a:rPr>
              <a:t>{{D6_VSFB}}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6"/>
          <p:cNvSpPr txBox="1"/>
          <p:nvPr/>
        </p:nvSpPr>
        <p:spPr>
          <a:xfrm>
            <a:off x="4095598" y="4114800"/>
            <a:ext cx="219090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vs onda anterior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6"/>
          <p:cNvSpPr txBox="1"/>
          <p:nvPr/>
        </p:nvSpPr>
        <p:spPr>
          <a:xfrm>
            <a:off x="4095598" y="4343400"/>
            <a:ext cx="2190902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2550"/>
              <a:buFont typeface="Sora"/>
              <a:buNone/>
            </a:pPr>
            <a:r>
              <a:rPr b="0" i="0" lang="en-US" sz="2550" u="none" cap="none" strike="noStrike">
                <a:solidFill>
                  <a:srgbClr val="131A40"/>
                </a:solidFill>
                <a:latin typeface="Sora"/>
                <a:ea typeface="Sora"/>
                <a:cs typeface="Sora"/>
                <a:sym typeface="Sora"/>
              </a:rPr>
              <a:t>{{D6_VSANT}}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6"/>
          <p:cNvSpPr txBox="1"/>
          <p:nvPr/>
        </p:nvSpPr>
        <p:spPr>
          <a:xfrm>
            <a:off x="7067398" y="2781605"/>
            <a:ext cx="9811512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0285FF"/>
                </a:solidFill>
                <a:latin typeface="Poppins"/>
                <a:ea typeface="Poppins"/>
                <a:cs typeface="Poppins"/>
                <a:sym typeface="Poppins"/>
              </a:rPr>
              <a:t>Detalhe das perguntas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09" name="Google Shape;609;p16"/>
          <p:cNvGraphicFramePr/>
          <p:nvPr/>
        </p:nvGraphicFramePr>
        <p:xfrm>
          <a:off x="7067398" y="3143707"/>
          <a:ext cx="3000000" cy="2880360"/>
        </p:xfrm>
        <a:graphic>
          <a:graphicData uri="http://schemas.openxmlformats.org/drawingml/2006/table">
            <a:tbl>
              <a:tblPr>
                <a:noFill/>
                <a:tableStyleId>{0DAC2FE4-DBA5-4F3B-94BE-2F4E2715C5E2}</a:tableStyleId>
              </a:tblPr>
              <a:tblGrid>
                <a:gridCol w="5374850"/>
                <a:gridCol w="1465775"/>
                <a:gridCol w="1465775"/>
                <a:gridCol w="1465775"/>
              </a:tblGrid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5B"/>
                        </a:buClr>
                        <a:buSzPts val="825"/>
                        <a:buFont typeface="Poppins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16215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PERGUNTA</a:t>
                      </a:r>
                      <a:endParaRPr sz="82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5B"/>
                        </a:buClr>
                        <a:buSzPts val="825"/>
                        <a:buFont typeface="Poppins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16215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FAVORÁVEL</a:t>
                      </a:r>
                      <a:endParaRPr sz="82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5B"/>
                        </a:buClr>
                        <a:buSzPts val="825"/>
                        <a:buFont typeface="Poppins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16215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MÉDIA</a:t>
                      </a:r>
                      <a:endParaRPr sz="82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5B"/>
                        </a:buClr>
                        <a:buSzPts val="825"/>
                        <a:buFont typeface="Poppins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16215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VS FB</a:t>
                      </a:r>
                      <a:endParaRPr sz="82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9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{{D6_R0_C0}}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{{D6_R0_C1}}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{{D6_R0_C2}}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{{D6_R0_C3}}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9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{{D6_R1_C0}}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{{D6_R1_C1}}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{{D6_R1_C2}}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{{D6_R1_C3}}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9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{{D6_R2_C0}}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{{D6_R2_C1}}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{{D6_R2_C2}}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{{D6_R2_C3}}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9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{{D6_R3_C0}}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{{D6_R3_C1}}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{{D6_R3_C2}}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{{D6_R3_C3}}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9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{{D6_R4_C0}}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{{D6_R4_C1}}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{{D6_R4_C2}}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{{D6_R4_C3}}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274"/>
                        </a:buClr>
                        <a:buSzPts val="975"/>
                        <a:buFont typeface="Poppins"/>
                        <a:buNone/>
                      </a:pPr>
                      <a:r>
                        <a:rPr i="1" lang="en-US" sz="900" u="none" cap="none" strike="noStrike">
                          <a:solidFill>
                            <a:srgbClr val="4B527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{{D6_R5_C0}}</a:t>
                      </a:r>
                      <a:endParaRPr sz="97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{{D6_R5_C1}}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{{D6_R5_C2}}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{{D6_R5_C3}}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10" name="Google Shape;610;p16"/>
          <p:cNvSpPr txBox="1"/>
          <p:nvPr/>
        </p:nvSpPr>
        <p:spPr>
          <a:xfrm>
            <a:off x="1447495" y="7029907"/>
            <a:ext cx="47631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B673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2BB673"/>
                </a:solidFill>
                <a:latin typeface="Poppins"/>
                <a:ea typeface="Poppins"/>
                <a:cs typeface="Poppins"/>
                <a:sym typeface="Poppins"/>
              </a:rPr>
              <a:t>O que as pessoas valorizam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6"/>
          <p:cNvSpPr txBox="1"/>
          <p:nvPr/>
        </p:nvSpPr>
        <p:spPr>
          <a:xfrm>
            <a:off x="1447495" y="7277710"/>
            <a:ext cx="4763110" cy="846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[Percepção positiva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[Percepção positiva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[Percepção positiva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6"/>
          <p:cNvSpPr txBox="1"/>
          <p:nvPr/>
        </p:nvSpPr>
        <p:spPr>
          <a:xfrm>
            <a:off x="7067398" y="7029907"/>
            <a:ext cx="47631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225D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D5225D"/>
                </a:solidFill>
                <a:latin typeface="Poppins"/>
                <a:ea typeface="Poppins"/>
                <a:cs typeface="Poppins"/>
                <a:sym typeface="Poppins"/>
              </a:rPr>
              <a:t>Onde as pessoas sentem fricção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6"/>
          <p:cNvSpPr txBox="1"/>
          <p:nvPr/>
        </p:nvSpPr>
        <p:spPr>
          <a:xfrm>
            <a:off x="7067398" y="7277710"/>
            <a:ext cx="4763110" cy="846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[Fricção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[Fricção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[Fricção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6"/>
          <p:cNvSpPr txBox="1"/>
          <p:nvPr/>
        </p:nvSpPr>
        <p:spPr>
          <a:xfrm>
            <a:off x="12687300" y="7029907"/>
            <a:ext cx="41916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5CF5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895CF5"/>
                </a:solidFill>
                <a:latin typeface="Poppins"/>
                <a:ea typeface="Poppins"/>
                <a:cs typeface="Poppins"/>
                <a:sym typeface="Poppins"/>
              </a:rPr>
              <a:t>Nas palavras delas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6"/>
          <p:cNvSpPr txBox="1"/>
          <p:nvPr/>
        </p:nvSpPr>
        <p:spPr>
          <a:xfrm>
            <a:off x="12687300" y="7343546"/>
            <a:ext cx="4191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1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“[Comentário anônimo breve]”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6"/>
          <p:cNvSpPr txBox="1"/>
          <p:nvPr/>
        </p:nvSpPr>
        <p:spPr>
          <a:xfrm>
            <a:off x="12687300" y="7705649"/>
            <a:ext cx="4191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1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“[Comentário anônimo breve]”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6"/>
          <p:cNvSpPr txBox="1"/>
          <p:nvPr/>
        </p:nvSpPr>
        <p:spPr>
          <a:xfrm>
            <a:off x="1447495" y="9105595"/>
            <a:ext cx="800100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CD4B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F8CD4B"/>
                </a:solidFill>
                <a:latin typeface="Poppins"/>
                <a:ea typeface="Poppins"/>
                <a:cs typeface="Poppins"/>
                <a:sym typeface="Poppins"/>
              </a:rPr>
              <a:t>Leitura do HRBP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6"/>
          <p:cNvSpPr txBox="1"/>
          <p:nvPr/>
        </p:nvSpPr>
        <p:spPr>
          <a:xfrm>
            <a:off x="1447495" y="9381744"/>
            <a:ext cx="8001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[O que a combinação de evidência quantitativa e qualitativa sugere?]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6"/>
          <p:cNvSpPr txBox="1"/>
          <p:nvPr/>
        </p:nvSpPr>
        <p:spPr>
          <a:xfrm>
            <a:off x="10096805" y="9105595"/>
            <a:ext cx="70491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Classificação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6"/>
          <p:cNvSpPr/>
          <p:nvPr/>
        </p:nvSpPr>
        <p:spPr>
          <a:xfrm>
            <a:off x="10096805" y="9420149"/>
            <a:ext cx="209398" cy="209398"/>
          </a:xfrm>
          <a:prstGeom prst="rect">
            <a:avLst/>
          </a:prstGeom>
          <a:noFill/>
          <a:ln cap="flat" cmpd="sng" w="25400">
            <a:solidFill>
              <a:srgbClr val="2BB6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6"/>
          <p:cNvSpPr txBox="1"/>
          <p:nvPr/>
        </p:nvSpPr>
        <p:spPr>
          <a:xfrm>
            <a:off x="10401300" y="9434779"/>
            <a:ext cx="866851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B673"/>
              </a:buClr>
              <a:buSzPts val="1125"/>
              <a:buFont typeface="Sora"/>
              <a:buNone/>
            </a:pPr>
            <a:r>
              <a:rPr b="1" i="0" lang="en-US" sz="1125" u="none" cap="none" strike="noStrike">
                <a:solidFill>
                  <a:srgbClr val="2BB673"/>
                </a:solidFill>
                <a:latin typeface="Sora"/>
                <a:ea typeface="Sora"/>
                <a:cs typeface="Sora"/>
                <a:sym typeface="Sora"/>
              </a:rPr>
              <a:t>PROTEGER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6"/>
          <p:cNvSpPr/>
          <p:nvPr/>
        </p:nvSpPr>
        <p:spPr>
          <a:xfrm>
            <a:off x="11454689" y="9420149"/>
            <a:ext cx="209398" cy="209398"/>
          </a:xfrm>
          <a:prstGeom prst="rect">
            <a:avLst/>
          </a:prstGeom>
          <a:noFill/>
          <a:ln cap="flat" cmpd="sng" w="25400">
            <a:solidFill>
              <a:srgbClr val="D522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6"/>
          <p:cNvSpPr txBox="1"/>
          <p:nvPr/>
        </p:nvSpPr>
        <p:spPr>
          <a:xfrm>
            <a:off x="11759184" y="9434779"/>
            <a:ext cx="638251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FA8"/>
              </a:buClr>
              <a:buSzPts val="1125"/>
              <a:buFont typeface="Sora"/>
              <a:buNone/>
            </a:pPr>
            <a:r>
              <a:rPr b="1" i="0" lang="en-US" sz="1125" u="none" cap="none" strike="noStrike">
                <a:solidFill>
                  <a:srgbClr val="FF8FA8"/>
                </a:solidFill>
                <a:latin typeface="Sora"/>
                <a:ea typeface="Sora"/>
                <a:cs typeface="Sora"/>
                <a:sym typeface="Sora"/>
              </a:rPr>
              <a:t>TRATAR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6"/>
          <p:cNvSpPr/>
          <p:nvPr/>
        </p:nvSpPr>
        <p:spPr>
          <a:xfrm>
            <a:off x="12584887" y="9420149"/>
            <a:ext cx="209398" cy="209398"/>
          </a:xfrm>
          <a:prstGeom prst="rect">
            <a:avLst/>
          </a:prstGeom>
          <a:noFill/>
          <a:ln cap="flat" cmpd="sng" w="25400">
            <a:solidFill>
              <a:srgbClr val="F8CD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6"/>
          <p:cNvSpPr txBox="1"/>
          <p:nvPr/>
        </p:nvSpPr>
        <p:spPr>
          <a:xfrm>
            <a:off x="12889382" y="9434779"/>
            <a:ext cx="1153058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CD4B"/>
              </a:buClr>
              <a:buSzPts val="1125"/>
              <a:buFont typeface="Sora"/>
              <a:buNone/>
            </a:pPr>
            <a:r>
              <a:rPr b="1" i="0" lang="en-US" sz="1125" u="none" cap="none" strike="noStrike">
                <a:solidFill>
                  <a:srgbClr val="F8CD4B"/>
                </a:solidFill>
                <a:latin typeface="Sora"/>
                <a:ea typeface="Sora"/>
                <a:cs typeface="Sora"/>
                <a:sym typeface="Sora"/>
              </a:rPr>
              <a:t>APROFUNDAR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6"/>
          <p:cNvSpPr/>
          <p:nvPr/>
        </p:nvSpPr>
        <p:spPr>
          <a:xfrm>
            <a:off x="14231722" y="9420149"/>
            <a:ext cx="209398" cy="209398"/>
          </a:xfrm>
          <a:prstGeom prst="rect">
            <a:avLst/>
          </a:prstGeom>
          <a:noFill/>
          <a:ln cap="flat" cmpd="sng" w="25400">
            <a:solidFill>
              <a:srgbClr val="FFFF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6"/>
          <p:cNvSpPr txBox="1"/>
          <p:nvPr/>
        </p:nvSpPr>
        <p:spPr>
          <a:xfrm>
            <a:off x="14537131" y="9434779"/>
            <a:ext cx="1410005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Sora"/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SEM PRIORIDADE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28" name="Chart 627"/>
          <p:cNvGraphicFramePr>
            <a:graphicFrameLocks noGrp="1"/>
          </p:cNvGraphicFramePr>
          <p:nvPr/>
        </p:nvGraphicFramePr>
        <p:xfrm>
          <a:off x="1554480" y="5029200"/>
          <a:ext cx="4526280" cy="1325880"/>
        </p:xfrm>
        <a:graphic>
          <a:graphicData uri="http://schemas.openxmlformats.org/drawingml/2006/chart">
            <c:chart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D"/>
        </a:solidFill>
      </p:bgPr>
    </p:bg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571723da0b9e7496659dc38ed713a537.png" id="581" name="Google Shape;581;p16"/>
          <p:cNvPicPr preferRelativeResize="0"/>
          <p:nvPr/>
        </p:nvPicPr>
        <p:blipFill rotWithShape="1">
          <a:blip r:embed="rId3">
            <a:alphaModFix/>
          </a:blip>
          <a:srcRect b="0" l="-2083" r="-2083" t="0"/>
          <a:stretch/>
        </p:blipFill>
        <p:spPr>
          <a:xfrm>
            <a:off x="1143000" y="2247595"/>
            <a:ext cx="16002000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16"/>
          <p:cNvSpPr/>
          <p:nvPr/>
        </p:nvSpPr>
        <p:spPr>
          <a:xfrm>
            <a:off x="1143000" y="2533802"/>
            <a:ext cx="5333695" cy="409559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6"/>
          <p:cNvSpPr/>
          <p:nvPr/>
        </p:nvSpPr>
        <p:spPr>
          <a:xfrm>
            <a:off x="6762902" y="2533802"/>
            <a:ext cx="10382098" cy="409559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6"/>
          <p:cNvSpPr/>
          <p:nvPr/>
        </p:nvSpPr>
        <p:spPr>
          <a:xfrm>
            <a:off x="1143000" y="6819595"/>
            <a:ext cx="5333695" cy="1904695"/>
          </a:xfrm>
          <a:prstGeom prst="rect">
            <a:avLst/>
          </a:prstGeom>
          <a:solidFill>
            <a:srgbClr val="EAF0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6"/>
          <p:cNvSpPr/>
          <p:nvPr/>
        </p:nvSpPr>
        <p:spPr>
          <a:xfrm>
            <a:off x="6762902" y="6819595"/>
            <a:ext cx="5333695" cy="1904695"/>
          </a:xfrm>
          <a:prstGeom prst="rect">
            <a:avLst/>
          </a:prstGeom>
          <a:solidFill>
            <a:srgbClr val="EAF0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6"/>
          <p:cNvSpPr/>
          <p:nvPr/>
        </p:nvSpPr>
        <p:spPr>
          <a:xfrm>
            <a:off x="12382805" y="6819595"/>
            <a:ext cx="4781398" cy="192389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6"/>
          <p:cNvSpPr/>
          <p:nvPr/>
        </p:nvSpPr>
        <p:spPr>
          <a:xfrm>
            <a:off x="1143000" y="8915400"/>
            <a:ext cx="16002000" cy="1047902"/>
          </a:xfrm>
          <a:prstGeom prst="rect">
            <a:avLst/>
          </a:prstGeom>
          <a:solidFill>
            <a:srgbClr val="16215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75554a26810b287334efd5ad4280f6dc.png" id="588" name="Google Shape;588;p16"/>
          <p:cNvPicPr preferRelativeResize="0"/>
          <p:nvPr/>
        </p:nvPicPr>
        <p:blipFill rotWithShape="1">
          <a:blip r:embed="rId4">
            <a:alphaModFix/>
          </a:blip>
          <a:srcRect b="0" l="-201" r="-201" t="0"/>
          <a:stretch/>
        </p:blipFill>
        <p:spPr>
          <a:xfrm>
            <a:off x="0" y="0"/>
            <a:ext cx="182880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20a1fe1a29d367f0e337479a2578c76d.png" id="589" name="Google Shape;589;p16"/>
          <p:cNvPicPr preferRelativeResize="0"/>
          <p:nvPr/>
        </p:nvPicPr>
        <p:blipFill rotWithShape="1">
          <a:blip r:embed="rId5">
            <a:alphaModFix/>
          </a:blip>
          <a:srcRect b="-403" l="0" r="0" t="-403"/>
          <a:stretch/>
        </p:blipFill>
        <p:spPr>
          <a:xfrm>
            <a:off x="1143000" y="2533802"/>
            <a:ext cx="5333695" cy="57607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16"/>
          <p:cNvSpPr/>
          <p:nvPr/>
        </p:nvSpPr>
        <p:spPr>
          <a:xfrm>
            <a:off x="1447495" y="4953305"/>
            <a:ext cx="4743907" cy="1447495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6ce94105c5227a91a4e9a6911f133187.png" id="591" name="Google Shape;591;p16"/>
          <p:cNvPicPr preferRelativeResize="0"/>
          <p:nvPr/>
        </p:nvPicPr>
        <p:blipFill rotWithShape="1">
          <a:blip r:embed="rId6">
            <a:alphaModFix/>
          </a:blip>
          <a:srcRect b="-401" l="0" r="0" t="-401"/>
          <a:stretch/>
        </p:blipFill>
        <p:spPr>
          <a:xfrm>
            <a:off x="6762902" y="2533802"/>
            <a:ext cx="10382098" cy="576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591ce8fe1a5b6faa434a338482f32902.png" id="592" name="Google Shape;592;p16"/>
          <p:cNvPicPr preferRelativeResize="0"/>
          <p:nvPr/>
        </p:nvPicPr>
        <p:blipFill rotWithShape="1">
          <a:blip r:embed="rId7">
            <a:alphaModFix/>
          </a:blip>
          <a:srcRect b="0" l="-408" r="-408" t="0"/>
          <a:stretch/>
        </p:blipFill>
        <p:spPr>
          <a:xfrm>
            <a:off x="1143000" y="6819595"/>
            <a:ext cx="57607" cy="1904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7884f426d493eeefc72a918b85a7ba8e.png" id="593" name="Google Shape;593;p16"/>
          <p:cNvPicPr preferRelativeResize="0"/>
          <p:nvPr/>
        </p:nvPicPr>
        <p:blipFill rotWithShape="1">
          <a:blip r:embed="rId8">
            <a:alphaModFix/>
          </a:blip>
          <a:srcRect b="0" l="-408" r="-408" t="0"/>
          <a:stretch/>
        </p:blipFill>
        <p:spPr>
          <a:xfrm>
            <a:off x="6762902" y="6819595"/>
            <a:ext cx="57607" cy="1904695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16"/>
          <p:cNvSpPr txBox="1"/>
          <p:nvPr/>
        </p:nvSpPr>
        <p:spPr>
          <a:xfrm>
            <a:off x="1143000" y="495605"/>
            <a:ext cx="2781605" cy="277063"/>
          </a:xfrm>
          <a:prstGeom prst="rect">
            <a:avLst/>
          </a:prstGeom>
          <a:solidFill>
            <a:srgbClr val="16215B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500" lIns="139700" spcFirstLastPara="1" rIns="139700" wrap="square" tIns="63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Apêndice · duplicar por driver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6"/>
          <p:cNvSpPr txBox="1"/>
          <p:nvPr/>
        </p:nvSpPr>
        <p:spPr>
          <a:xfrm>
            <a:off x="13334695" y="552298"/>
            <a:ext cx="381030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{{AREA}} · {{ONDA}}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6"/>
          <p:cNvSpPr txBox="1"/>
          <p:nvPr/>
        </p:nvSpPr>
        <p:spPr>
          <a:xfrm>
            <a:off x="1143000" y="1009498"/>
            <a:ext cx="16002000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3900"/>
              <a:buFont typeface="Sora"/>
              <a:buNone/>
            </a:pPr>
            <a:r>
              <a:rPr b="1" i="0" lang="en-US" sz="39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{{D7_NOME}}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6"/>
          <p:cNvSpPr txBox="1"/>
          <p:nvPr/>
        </p:nvSpPr>
        <p:spPr>
          <a:xfrm>
            <a:off x="1143000" y="1638605"/>
            <a:ext cx="1600200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350"/>
              <a:buFont typeface="Poppins"/>
              <a:buNone/>
            </a:pPr>
            <a:r>
              <a:rPr b="0" i="1" lang="en-US" sz="135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{{D7_DESC}}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6"/>
          <p:cNvSpPr txBox="1"/>
          <p:nvPr/>
        </p:nvSpPr>
        <p:spPr>
          <a:xfrm>
            <a:off x="1447495" y="2781605"/>
            <a:ext cx="47631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0285FF"/>
                </a:solidFill>
                <a:latin typeface="Poppins"/>
                <a:ea typeface="Poppins"/>
                <a:cs typeface="Poppins"/>
                <a:sym typeface="Poppins"/>
              </a:rPr>
              <a:t>Evidência · quantitativa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6"/>
          <p:cNvSpPr txBox="1"/>
          <p:nvPr/>
        </p:nvSpPr>
        <p:spPr>
          <a:xfrm>
            <a:off x="1447495" y="3143707"/>
            <a:ext cx="23820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Favorável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6"/>
          <p:cNvSpPr txBox="1"/>
          <p:nvPr/>
        </p:nvSpPr>
        <p:spPr>
          <a:xfrm>
            <a:off x="1447495" y="3372307"/>
            <a:ext cx="23820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3600"/>
              <a:buFont typeface="Sora"/>
              <a:buNone/>
            </a:pPr>
            <a:r>
              <a:rPr b="0" i="0" lang="en-US" sz="36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{{D7_FAV}}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6"/>
          <p:cNvSpPr txBox="1"/>
          <p:nvPr/>
        </p:nvSpPr>
        <p:spPr>
          <a:xfrm>
            <a:off x="4095598" y="3143707"/>
            <a:ext cx="219090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Média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6"/>
          <p:cNvSpPr txBox="1"/>
          <p:nvPr/>
        </p:nvSpPr>
        <p:spPr>
          <a:xfrm>
            <a:off x="4095598" y="3372307"/>
            <a:ext cx="21909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3600"/>
              <a:buFont typeface="Sora"/>
              <a:buNone/>
            </a:pPr>
            <a:r>
              <a:rPr b="0" i="0" lang="en-US" sz="3600" u="none" cap="none" strike="noStrike">
                <a:solidFill>
                  <a:srgbClr val="0285FF"/>
                </a:solidFill>
                <a:latin typeface="Sora"/>
                <a:ea typeface="Sora"/>
                <a:cs typeface="Sora"/>
                <a:sym typeface="Sora"/>
              </a:rPr>
              <a:t>{{D7_MED}}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6"/>
          <p:cNvSpPr txBox="1"/>
          <p:nvPr/>
        </p:nvSpPr>
        <p:spPr>
          <a:xfrm>
            <a:off x="1447495" y="4114800"/>
            <a:ext cx="23820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vs Flutter Brasil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6"/>
          <p:cNvSpPr txBox="1"/>
          <p:nvPr/>
        </p:nvSpPr>
        <p:spPr>
          <a:xfrm>
            <a:off x="1447495" y="4343400"/>
            <a:ext cx="2382012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2550"/>
              <a:buFont typeface="Sora"/>
              <a:buNone/>
            </a:pPr>
            <a:r>
              <a:rPr b="0" i="0" lang="en-US" sz="2550" u="none" cap="none" strike="noStrike">
                <a:solidFill>
                  <a:srgbClr val="131A40"/>
                </a:solidFill>
                <a:latin typeface="Sora"/>
                <a:ea typeface="Sora"/>
                <a:cs typeface="Sora"/>
                <a:sym typeface="Sora"/>
              </a:rPr>
              <a:t>{{D7_VSFB}}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6"/>
          <p:cNvSpPr txBox="1"/>
          <p:nvPr/>
        </p:nvSpPr>
        <p:spPr>
          <a:xfrm>
            <a:off x="4095598" y="4114800"/>
            <a:ext cx="219090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vs onda anterior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6"/>
          <p:cNvSpPr txBox="1"/>
          <p:nvPr/>
        </p:nvSpPr>
        <p:spPr>
          <a:xfrm>
            <a:off x="4095598" y="4343400"/>
            <a:ext cx="2190902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2550"/>
              <a:buFont typeface="Sora"/>
              <a:buNone/>
            </a:pPr>
            <a:r>
              <a:rPr b="0" i="0" lang="en-US" sz="2550" u="none" cap="none" strike="noStrike">
                <a:solidFill>
                  <a:srgbClr val="131A40"/>
                </a:solidFill>
                <a:latin typeface="Sora"/>
                <a:ea typeface="Sora"/>
                <a:cs typeface="Sora"/>
                <a:sym typeface="Sora"/>
              </a:rPr>
              <a:t>{{D7_VSANT}}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6"/>
          <p:cNvSpPr txBox="1"/>
          <p:nvPr/>
        </p:nvSpPr>
        <p:spPr>
          <a:xfrm>
            <a:off x="7067398" y="2781605"/>
            <a:ext cx="9811512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0285FF"/>
                </a:solidFill>
                <a:latin typeface="Poppins"/>
                <a:ea typeface="Poppins"/>
                <a:cs typeface="Poppins"/>
                <a:sym typeface="Poppins"/>
              </a:rPr>
              <a:t>Detalhe das perguntas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09" name="Google Shape;609;p16"/>
          <p:cNvGraphicFramePr/>
          <p:nvPr/>
        </p:nvGraphicFramePr>
        <p:xfrm>
          <a:off x="7067398" y="3143707"/>
          <a:ext cx="3000000" cy="2880360"/>
        </p:xfrm>
        <a:graphic>
          <a:graphicData uri="http://schemas.openxmlformats.org/drawingml/2006/table">
            <a:tbl>
              <a:tblPr>
                <a:noFill/>
                <a:tableStyleId>{0DAC2FE4-DBA5-4F3B-94BE-2F4E2715C5E2}</a:tableStyleId>
              </a:tblPr>
              <a:tblGrid>
                <a:gridCol w="5374850"/>
                <a:gridCol w="1465775"/>
                <a:gridCol w="1465775"/>
                <a:gridCol w="1465775"/>
              </a:tblGrid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5B"/>
                        </a:buClr>
                        <a:buSzPts val="825"/>
                        <a:buFont typeface="Poppins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16215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PERGUNTA</a:t>
                      </a:r>
                      <a:endParaRPr sz="82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5B"/>
                        </a:buClr>
                        <a:buSzPts val="825"/>
                        <a:buFont typeface="Poppins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16215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FAVORÁVEL</a:t>
                      </a:r>
                      <a:endParaRPr sz="82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5B"/>
                        </a:buClr>
                        <a:buSzPts val="825"/>
                        <a:buFont typeface="Poppins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16215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MÉDIA</a:t>
                      </a:r>
                      <a:endParaRPr sz="82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5B"/>
                        </a:buClr>
                        <a:buSzPts val="825"/>
                        <a:buFont typeface="Poppins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16215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VS FB</a:t>
                      </a:r>
                      <a:endParaRPr sz="82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9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{{D7_R0_C0}}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{{D7_R0_C1}}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{{D7_R0_C2}}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{{D7_R0_C3}}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9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{{D7_R1_C0}}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{{D7_R1_C1}}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{{D7_R1_C2}}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{{D7_R1_C3}}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9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{{D7_R2_C0}}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{{D7_R2_C1}}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{{D7_R2_C2}}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{{D7_R2_C3}}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9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{{D7_R3_C0}}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{{D7_R3_C1}}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{{D7_R3_C2}}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{{D7_R3_C3}}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9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{{D7_R4_C0}}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{{D7_R4_C1}}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{{D7_R4_C2}}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{{D7_R4_C3}}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274"/>
                        </a:buClr>
                        <a:buSzPts val="975"/>
                        <a:buFont typeface="Poppins"/>
                        <a:buNone/>
                      </a:pPr>
                      <a:r>
                        <a:rPr i="1" lang="en-US" sz="900" u="none" cap="none" strike="noStrike">
                          <a:solidFill>
                            <a:srgbClr val="4B527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{{D7_R5_C0}}</a:t>
                      </a:r>
                      <a:endParaRPr sz="97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{{D7_R5_C1}}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{{D7_R5_C2}}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{{D7_R5_C3}}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10" name="Google Shape;610;p16"/>
          <p:cNvSpPr txBox="1"/>
          <p:nvPr/>
        </p:nvSpPr>
        <p:spPr>
          <a:xfrm>
            <a:off x="1447495" y="7029907"/>
            <a:ext cx="47631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B673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2BB673"/>
                </a:solidFill>
                <a:latin typeface="Poppins"/>
                <a:ea typeface="Poppins"/>
                <a:cs typeface="Poppins"/>
                <a:sym typeface="Poppins"/>
              </a:rPr>
              <a:t>O que as pessoas valorizam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6"/>
          <p:cNvSpPr txBox="1"/>
          <p:nvPr/>
        </p:nvSpPr>
        <p:spPr>
          <a:xfrm>
            <a:off x="1447495" y="7277710"/>
            <a:ext cx="4763110" cy="846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[Percepção positiva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[Percepção positiva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[Percepção positiva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6"/>
          <p:cNvSpPr txBox="1"/>
          <p:nvPr/>
        </p:nvSpPr>
        <p:spPr>
          <a:xfrm>
            <a:off x="7067398" y="7029907"/>
            <a:ext cx="47631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225D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D5225D"/>
                </a:solidFill>
                <a:latin typeface="Poppins"/>
                <a:ea typeface="Poppins"/>
                <a:cs typeface="Poppins"/>
                <a:sym typeface="Poppins"/>
              </a:rPr>
              <a:t>Onde as pessoas sentem fricção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6"/>
          <p:cNvSpPr txBox="1"/>
          <p:nvPr/>
        </p:nvSpPr>
        <p:spPr>
          <a:xfrm>
            <a:off x="7067398" y="7277710"/>
            <a:ext cx="4763110" cy="846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[Fricção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[Fricção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[Fricção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6"/>
          <p:cNvSpPr txBox="1"/>
          <p:nvPr/>
        </p:nvSpPr>
        <p:spPr>
          <a:xfrm>
            <a:off x="12687300" y="7029907"/>
            <a:ext cx="41916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5CF5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895CF5"/>
                </a:solidFill>
                <a:latin typeface="Poppins"/>
                <a:ea typeface="Poppins"/>
                <a:cs typeface="Poppins"/>
                <a:sym typeface="Poppins"/>
              </a:rPr>
              <a:t>Nas palavras delas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6"/>
          <p:cNvSpPr txBox="1"/>
          <p:nvPr/>
        </p:nvSpPr>
        <p:spPr>
          <a:xfrm>
            <a:off x="12687300" y="7343546"/>
            <a:ext cx="4191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1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“[Comentário anônimo breve]”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6"/>
          <p:cNvSpPr txBox="1"/>
          <p:nvPr/>
        </p:nvSpPr>
        <p:spPr>
          <a:xfrm>
            <a:off x="12687300" y="7705649"/>
            <a:ext cx="4191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1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“[Comentário anônimo breve]”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6"/>
          <p:cNvSpPr txBox="1"/>
          <p:nvPr/>
        </p:nvSpPr>
        <p:spPr>
          <a:xfrm>
            <a:off x="1447495" y="9105595"/>
            <a:ext cx="800100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CD4B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F8CD4B"/>
                </a:solidFill>
                <a:latin typeface="Poppins"/>
                <a:ea typeface="Poppins"/>
                <a:cs typeface="Poppins"/>
                <a:sym typeface="Poppins"/>
              </a:rPr>
              <a:t>Leitura do HRBP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6"/>
          <p:cNvSpPr txBox="1"/>
          <p:nvPr/>
        </p:nvSpPr>
        <p:spPr>
          <a:xfrm>
            <a:off x="1447495" y="9381744"/>
            <a:ext cx="8001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[O que a combinação de evidência quantitativa e qualitativa sugere?]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6"/>
          <p:cNvSpPr txBox="1"/>
          <p:nvPr/>
        </p:nvSpPr>
        <p:spPr>
          <a:xfrm>
            <a:off x="10096805" y="9105595"/>
            <a:ext cx="70491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Classificação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6"/>
          <p:cNvSpPr/>
          <p:nvPr/>
        </p:nvSpPr>
        <p:spPr>
          <a:xfrm>
            <a:off x="10096805" y="9420149"/>
            <a:ext cx="209398" cy="209398"/>
          </a:xfrm>
          <a:prstGeom prst="rect">
            <a:avLst/>
          </a:prstGeom>
          <a:noFill/>
          <a:ln cap="flat" cmpd="sng" w="25400">
            <a:solidFill>
              <a:srgbClr val="2BB6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6"/>
          <p:cNvSpPr txBox="1"/>
          <p:nvPr/>
        </p:nvSpPr>
        <p:spPr>
          <a:xfrm>
            <a:off x="10401300" y="9434779"/>
            <a:ext cx="866851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B673"/>
              </a:buClr>
              <a:buSzPts val="1125"/>
              <a:buFont typeface="Sora"/>
              <a:buNone/>
            </a:pPr>
            <a:r>
              <a:rPr b="1" i="0" lang="en-US" sz="1125" u="none" cap="none" strike="noStrike">
                <a:solidFill>
                  <a:srgbClr val="2BB673"/>
                </a:solidFill>
                <a:latin typeface="Sora"/>
                <a:ea typeface="Sora"/>
                <a:cs typeface="Sora"/>
                <a:sym typeface="Sora"/>
              </a:rPr>
              <a:t>PROTEGER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6"/>
          <p:cNvSpPr/>
          <p:nvPr/>
        </p:nvSpPr>
        <p:spPr>
          <a:xfrm>
            <a:off x="11454689" y="9420149"/>
            <a:ext cx="209398" cy="209398"/>
          </a:xfrm>
          <a:prstGeom prst="rect">
            <a:avLst/>
          </a:prstGeom>
          <a:noFill/>
          <a:ln cap="flat" cmpd="sng" w="25400">
            <a:solidFill>
              <a:srgbClr val="D522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6"/>
          <p:cNvSpPr txBox="1"/>
          <p:nvPr/>
        </p:nvSpPr>
        <p:spPr>
          <a:xfrm>
            <a:off x="11759184" y="9434779"/>
            <a:ext cx="638251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FA8"/>
              </a:buClr>
              <a:buSzPts val="1125"/>
              <a:buFont typeface="Sora"/>
              <a:buNone/>
            </a:pPr>
            <a:r>
              <a:rPr b="1" i="0" lang="en-US" sz="1125" u="none" cap="none" strike="noStrike">
                <a:solidFill>
                  <a:srgbClr val="FF8FA8"/>
                </a:solidFill>
                <a:latin typeface="Sora"/>
                <a:ea typeface="Sora"/>
                <a:cs typeface="Sora"/>
                <a:sym typeface="Sora"/>
              </a:rPr>
              <a:t>TRATAR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6"/>
          <p:cNvSpPr/>
          <p:nvPr/>
        </p:nvSpPr>
        <p:spPr>
          <a:xfrm>
            <a:off x="12584887" y="9420149"/>
            <a:ext cx="209398" cy="209398"/>
          </a:xfrm>
          <a:prstGeom prst="rect">
            <a:avLst/>
          </a:prstGeom>
          <a:noFill/>
          <a:ln cap="flat" cmpd="sng" w="25400">
            <a:solidFill>
              <a:srgbClr val="F8CD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6"/>
          <p:cNvSpPr txBox="1"/>
          <p:nvPr/>
        </p:nvSpPr>
        <p:spPr>
          <a:xfrm>
            <a:off x="12889382" y="9434779"/>
            <a:ext cx="1153058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CD4B"/>
              </a:buClr>
              <a:buSzPts val="1125"/>
              <a:buFont typeface="Sora"/>
              <a:buNone/>
            </a:pPr>
            <a:r>
              <a:rPr b="1" i="0" lang="en-US" sz="1125" u="none" cap="none" strike="noStrike">
                <a:solidFill>
                  <a:srgbClr val="F8CD4B"/>
                </a:solidFill>
                <a:latin typeface="Sora"/>
                <a:ea typeface="Sora"/>
                <a:cs typeface="Sora"/>
                <a:sym typeface="Sora"/>
              </a:rPr>
              <a:t>APROFUNDAR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6"/>
          <p:cNvSpPr/>
          <p:nvPr/>
        </p:nvSpPr>
        <p:spPr>
          <a:xfrm>
            <a:off x="14231722" y="9420149"/>
            <a:ext cx="209398" cy="209398"/>
          </a:xfrm>
          <a:prstGeom prst="rect">
            <a:avLst/>
          </a:prstGeom>
          <a:noFill/>
          <a:ln cap="flat" cmpd="sng" w="25400">
            <a:solidFill>
              <a:srgbClr val="FFFF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6"/>
          <p:cNvSpPr txBox="1"/>
          <p:nvPr/>
        </p:nvSpPr>
        <p:spPr>
          <a:xfrm>
            <a:off x="14537131" y="9434779"/>
            <a:ext cx="1410005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Sora"/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SEM PRIORIDADE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28" name="Chart 627"/>
          <p:cNvGraphicFramePr>
            <a:graphicFrameLocks noGrp="1"/>
          </p:cNvGraphicFramePr>
          <p:nvPr/>
        </p:nvGraphicFramePr>
        <p:xfrm>
          <a:off x="1554480" y="5029200"/>
          <a:ext cx="4526280" cy="1325880"/>
        </p:xfrm>
        <a:graphic>
          <a:graphicData uri="http://schemas.openxmlformats.org/drawingml/2006/chart">
            <c:chart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D"/>
        </a:solidFill>
      </p:bgPr>
    </p:bg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571723da0b9e7496659dc38ed713a537.png" id="581" name="Google Shape;581;p16"/>
          <p:cNvPicPr preferRelativeResize="0"/>
          <p:nvPr/>
        </p:nvPicPr>
        <p:blipFill rotWithShape="1">
          <a:blip r:embed="rId3">
            <a:alphaModFix/>
          </a:blip>
          <a:srcRect b="0" l="-2083" r="-2083" t="0"/>
          <a:stretch/>
        </p:blipFill>
        <p:spPr>
          <a:xfrm>
            <a:off x="1143000" y="2247595"/>
            <a:ext cx="16002000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16"/>
          <p:cNvSpPr/>
          <p:nvPr/>
        </p:nvSpPr>
        <p:spPr>
          <a:xfrm>
            <a:off x="1143000" y="2533802"/>
            <a:ext cx="5333695" cy="409559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6"/>
          <p:cNvSpPr/>
          <p:nvPr/>
        </p:nvSpPr>
        <p:spPr>
          <a:xfrm>
            <a:off x="6762902" y="2533802"/>
            <a:ext cx="10382098" cy="409559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6"/>
          <p:cNvSpPr/>
          <p:nvPr/>
        </p:nvSpPr>
        <p:spPr>
          <a:xfrm>
            <a:off x="1143000" y="6819595"/>
            <a:ext cx="5333695" cy="1904695"/>
          </a:xfrm>
          <a:prstGeom prst="rect">
            <a:avLst/>
          </a:prstGeom>
          <a:solidFill>
            <a:srgbClr val="EAF0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6"/>
          <p:cNvSpPr/>
          <p:nvPr/>
        </p:nvSpPr>
        <p:spPr>
          <a:xfrm>
            <a:off x="6762902" y="6819595"/>
            <a:ext cx="5333695" cy="1904695"/>
          </a:xfrm>
          <a:prstGeom prst="rect">
            <a:avLst/>
          </a:prstGeom>
          <a:solidFill>
            <a:srgbClr val="EAF0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6"/>
          <p:cNvSpPr/>
          <p:nvPr/>
        </p:nvSpPr>
        <p:spPr>
          <a:xfrm>
            <a:off x="12382805" y="6819595"/>
            <a:ext cx="4781398" cy="192389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6"/>
          <p:cNvSpPr/>
          <p:nvPr/>
        </p:nvSpPr>
        <p:spPr>
          <a:xfrm>
            <a:off x="1143000" y="8915400"/>
            <a:ext cx="16002000" cy="1047902"/>
          </a:xfrm>
          <a:prstGeom prst="rect">
            <a:avLst/>
          </a:prstGeom>
          <a:solidFill>
            <a:srgbClr val="16215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75554a26810b287334efd5ad4280f6dc.png" id="588" name="Google Shape;588;p16"/>
          <p:cNvPicPr preferRelativeResize="0"/>
          <p:nvPr/>
        </p:nvPicPr>
        <p:blipFill rotWithShape="1">
          <a:blip r:embed="rId4">
            <a:alphaModFix/>
          </a:blip>
          <a:srcRect b="0" l="-201" r="-201" t="0"/>
          <a:stretch/>
        </p:blipFill>
        <p:spPr>
          <a:xfrm>
            <a:off x="0" y="0"/>
            <a:ext cx="182880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20a1fe1a29d367f0e337479a2578c76d.png" id="589" name="Google Shape;589;p16"/>
          <p:cNvPicPr preferRelativeResize="0"/>
          <p:nvPr/>
        </p:nvPicPr>
        <p:blipFill rotWithShape="1">
          <a:blip r:embed="rId5">
            <a:alphaModFix/>
          </a:blip>
          <a:srcRect b="-403" l="0" r="0" t="-403"/>
          <a:stretch/>
        </p:blipFill>
        <p:spPr>
          <a:xfrm>
            <a:off x="1143000" y="2533802"/>
            <a:ext cx="5333695" cy="57607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16"/>
          <p:cNvSpPr/>
          <p:nvPr/>
        </p:nvSpPr>
        <p:spPr>
          <a:xfrm>
            <a:off x="1447495" y="4953305"/>
            <a:ext cx="4743907" cy="1447495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6ce94105c5227a91a4e9a6911f133187.png" id="591" name="Google Shape;591;p16"/>
          <p:cNvPicPr preferRelativeResize="0"/>
          <p:nvPr/>
        </p:nvPicPr>
        <p:blipFill rotWithShape="1">
          <a:blip r:embed="rId6">
            <a:alphaModFix/>
          </a:blip>
          <a:srcRect b="-401" l="0" r="0" t="-401"/>
          <a:stretch/>
        </p:blipFill>
        <p:spPr>
          <a:xfrm>
            <a:off x="6762902" y="2533802"/>
            <a:ext cx="10382098" cy="576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591ce8fe1a5b6faa434a338482f32902.png" id="592" name="Google Shape;592;p16"/>
          <p:cNvPicPr preferRelativeResize="0"/>
          <p:nvPr/>
        </p:nvPicPr>
        <p:blipFill rotWithShape="1">
          <a:blip r:embed="rId7">
            <a:alphaModFix/>
          </a:blip>
          <a:srcRect b="0" l="-408" r="-408" t="0"/>
          <a:stretch/>
        </p:blipFill>
        <p:spPr>
          <a:xfrm>
            <a:off x="1143000" y="6819595"/>
            <a:ext cx="57607" cy="1904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7884f426d493eeefc72a918b85a7ba8e.png" id="593" name="Google Shape;593;p16"/>
          <p:cNvPicPr preferRelativeResize="0"/>
          <p:nvPr/>
        </p:nvPicPr>
        <p:blipFill rotWithShape="1">
          <a:blip r:embed="rId8">
            <a:alphaModFix/>
          </a:blip>
          <a:srcRect b="0" l="-408" r="-408" t="0"/>
          <a:stretch/>
        </p:blipFill>
        <p:spPr>
          <a:xfrm>
            <a:off x="6762902" y="6819595"/>
            <a:ext cx="57607" cy="1904695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16"/>
          <p:cNvSpPr txBox="1"/>
          <p:nvPr/>
        </p:nvSpPr>
        <p:spPr>
          <a:xfrm>
            <a:off x="1143000" y="495605"/>
            <a:ext cx="2781605" cy="277063"/>
          </a:xfrm>
          <a:prstGeom prst="rect">
            <a:avLst/>
          </a:prstGeom>
          <a:solidFill>
            <a:srgbClr val="16215B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500" lIns="139700" spcFirstLastPara="1" rIns="139700" wrap="square" tIns="63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Apêndice · duplicar por driver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6"/>
          <p:cNvSpPr txBox="1"/>
          <p:nvPr/>
        </p:nvSpPr>
        <p:spPr>
          <a:xfrm>
            <a:off x="13334695" y="552298"/>
            <a:ext cx="381030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{{AREA}} · {{ONDA}}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6"/>
          <p:cNvSpPr txBox="1"/>
          <p:nvPr/>
        </p:nvSpPr>
        <p:spPr>
          <a:xfrm>
            <a:off x="1143000" y="1009498"/>
            <a:ext cx="16002000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3900"/>
              <a:buFont typeface="Sora"/>
              <a:buNone/>
            </a:pPr>
            <a:r>
              <a:rPr b="1" i="0" lang="en-US" sz="39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{{D8_NOME}}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6"/>
          <p:cNvSpPr txBox="1"/>
          <p:nvPr/>
        </p:nvSpPr>
        <p:spPr>
          <a:xfrm>
            <a:off x="1143000" y="1638605"/>
            <a:ext cx="1600200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350"/>
              <a:buFont typeface="Poppins"/>
              <a:buNone/>
            </a:pPr>
            <a:r>
              <a:rPr b="0" i="1" lang="en-US" sz="135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{{D8_DESC}}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6"/>
          <p:cNvSpPr txBox="1"/>
          <p:nvPr/>
        </p:nvSpPr>
        <p:spPr>
          <a:xfrm>
            <a:off x="1447495" y="2781605"/>
            <a:ext cx="47631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0285FF"/>
                </a:solidFill>
                <a:latin typeface="Poppins"/>
                <a:ea typeface="Poppins"/>
                <a:cs typeface="Poppins"/>
                <a:sym typeface="Poppins"/>
              </a:rPr>
              <a:t>Evidência · quantitativa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6"/>
          <p:cNvSpPr txBox="1"/>
          <p:nvPr/>
        </p:nvSpPr>
        <p:spPr>
          <a:xfrm>
            <a:off x="1447495" y="3143707"/>
            <a:ext cx="23820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Favorável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6"/>
          <p:cNvSpPr txBox="1"/>
          <p:nvPr/>
        </p:nvSpPr>
        <p:spPr>
          <a:xfrm>
            <a:off x="1447495" y="3372307"/>
            <a:ext cx="23820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3600"/>
              <a:buFont typeface="Sora"/>
              <a:buNone/>
            </a:pPr>
            <a:r>
              <a:rPr b="0" i="0" lang="en-US" sz="36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{{D8_FAV}}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6"/>
          <p:cNvSpPr txBox="1"/>
          <p:nvPr/>
        </p:nvSpPr>
        <p:spPr>
          <a:xfrm>
            <a:off x="4095598" y="3143707"/>
            <a:ext cx="219090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Média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6"/>
          <p:cNvSpPr txBox="1"/>
          <p:nvPr/>
        </p:nvSpPr>
        <p:spPr>
          <a:xfrm>
            <a:off x="4095598" y="3372307"/>
            <a:ext cx="21909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3600"/>
              <a:buFont typeface="Sora"/>
              <a:buNone/>
            </a:pPr>
            <a:r>
              <a:rPr b="0" i="0" lang="en-US" sz="3600" u="none" cap="none" strike="noStrike">
                <a:solidFill>
                  <a:srgbClr val="0285FF"/>
                </a:solidFill>
                <a:latin typeface="Sora"/>
                <a:ea typeface="Sora"/>
                <a:cs typeface="Sora"/>
                <a:sym typeface="Sora"/>
              </a:rPr>
              <a:t>{{D8_MED}}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6"/>
          <p:cNvSpPr txBox="1"/>
          <p:nvPr/>
        </p:nvSpPr>
        <p:spPr>
          <a:xfrm>
            <a:off x="1447495" y="4114800"/>
            <a:ext cx="23820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vs Flutter Brasil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6"/>
          <p:cNvSpPr txBox="1"/>
          <p:nvPr/>
        </p:nvSpPr>
        <p:spPr>
          <a:xfrm>
            <a:off x="1447495" y="4343400"/>
            <a:ext cx="2382012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2550"/>
              <a:buFont typeface="Sora"/>
              <a:buNone/>
            </a:pPr>
            <a:r>
              <a:rPr b="0" i="0" lang="en-US" sz="2550" u="none" cap="none" strike="noStrike">
                <a:solidFill>
                  <a:srgbClr val="131A40"/>
                </a:solidFill>
                <a:latin typeface="Sora"/>
                <a:ea typeface="Sora"/>
                <a:cs typeface="Sora"/>
                <a:sym typeface="Sora"/>
              </a:rPr>
              <a:t>{{D8_VSFB}}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6"/>
          <p:cNvSpPr txBox="1"/>
          <p:nvPr/>
        </p:nvSpPr>
        <p:spPr>
          <a:xfrm>
            <a:off x="4095598" y="4114800"/>
            <a:ext cx="219090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vs onda anterior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6"/>
          <p:cNvSpPr txBox="1"/>
          <p:nvPr/>
        </p:nvSpPr>
        <p:spPr>
          <a:xfrm>
            <a:off x="4095598" y="4343400"/>
            <a:ext cx="2190902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2550"/>
              <a:buFont typeface="Sora"/>
              <a:buNone/>
            </a:pPr>
            <a:r>
              <a:rPr b="0" i="0" lang="en-US" sz="2550" u="none" cap="none" strike="noStrike">
                <a:solidFill>
                  <a:srgbClr val="131A40"/>
                </a:solidFill>
                <a:latin typeface="Sora"/>
                <a:ea typeface="Sora"/>
                <a:cs typeface="Sora"/>
                <a:sym typeface="Sora"/>
              </a:rPr>
              <a:t>{{D8_VSANT}}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6"/>
          <p:cNvSpPr txBox="1"/>
          <p:nvPr/>
        </p:nvSpPr>
        <p:spPr>
          <a:xfrm>
            <a:off x="7067398" y="2781605"/>
            <a:ext cx="9811512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0285FF"/>
                </a:solidFill>
                <a:latin typeface="Poppins"/>
                <a:ea typeface="Poppins"/>
                <a:cs typeface="Poppins"/>
                <a:sym typeface="Poppins"/>
              </a:rPr>
              <a:t>Detalhe das perguntas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09" name="Google Shape;609;p16"/>
          <p:cNvGraphicFramePr/>
          <p:nvPr/>
        </p:nvGraphicFramePr>
        <p:xfrm>
          <a:off x="7067398" y="3143707"/>
          <a:ext cx="3000000" cy="2880360"/>
        </p:xfrm>
        <a:graphic>
          <a:graphicData uri="http://schemas.openxmlformats.org/drawingml/2006/table">
            <a:tbl>
              <a:tblPr>
                <a:noFill/>
                <a:tableStyleId>{0DAC2FE4-DBA5-4F3B-94BE-2F4E2715C5E2}</a:tableStyleId>
              </a:tblPr>
              <a:tblGrid>
                <a:gridCol w="5374850"/>
                <a:gridCol w="1465775"/>
                <a:gridCol w="1465775"/>
                <a:gridCol w="1465775"/>
              </a:tblGrid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5B"/>
                        </a:buClr>
                        <a:buSzPts val="825"/>
                        <a:buFont typeface="Poppins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16215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PERGUNTA</a:t>
                      </a:r>
                      <a:endParaRPr sz="82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5B"/>
                        </a:buClr>
                        <a:buSzPts val="825"/>
                        <a:buFont typeface="Poppins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16215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FAVORÁVEL</a:t>
                      </a:r>
                      <a:endParaRPr sz="82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5B"/>
                        </a:buClr>
                        <a:buSzPts val="825"/>
                        <a:buFont typeface="Poppins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16215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MÉDIA</a:t>
                      </a:r>
                      <a:endParaRPr sz="82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5B"/>
                        </a:buClr>
                        <a:buSzPts val="825"/>
                        <a:buFont typeface="Poppins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16215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VS FB</a:t>
                      </a:r>
                      <a:endParaRPr sz="82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9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{{D8_R0_C0}}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{{D8_R0_C1}}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{{D8_R0_C2}}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{{D8_R0_C3}}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9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{{D8_R1_C0}}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{{D8_R1_C1}}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{{D8_R1_C2}}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{{D8_R1_C3}}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9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{{D8_R2_C0}}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{{D8_R2_C1}}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{{D8_R2_C2}}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{{D8_R2_C3}}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9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{{D8_R3_C0}}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{{D8_R3_C1}}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{{D8_R3_C2}}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{{D8_R3_C3}}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9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{{D8_R4_C0}}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{{D8_R4_C1}}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{{D8_R4_C2}}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{{D8_R4_C3}}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274"/>
                        </a:buClr>
                        <a:buSzPts val="975"/>
                        <a:buFont typeface="Poppins"/>
                        <a:buNone/>
                      </a:pPr>
                      <a:r>
                        <a:rPr i="1" lang="en-US" sz="900" u="none" cap="none" strike="noStrike">
                          <a:solidFill>
                            <a:srgbClr val="4B527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{{D8_R5_C0}}</a:t>
                      </a:r>
                      <a:endParaRPr sz="97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{{D8_R5_C1}}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{{D8_R5_C2}}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{{D8_R5_C3}}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10" name="Google Shape;610;p16"/>
          <p:cNvSpPr txBox="1"/>
          <p:nvPr/>
        </p:nvSpPr>
        <p:spPr>
          <a:xfrm>
            <a:off x="1447495" y="7029907"/>
            <a:ext cx="47631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B673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2BB673"/>
                </a:solidFill>
                <a:latin typeface="Poppins"/>
                <a:ea typeface="Poppins"/>
                <a:cs typeface="Poppins"/>
                <a:sym typeface="Poppins"/>
              </a:rPr>
              <a:t>O que as pessoas valorizam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6"/>
          <p:cNvSpPr txBox="1"/>
          <p:nvPr/>
        </p:nvSpPr>
        <p:spPr>
          <a:xfrm>
            <a:off x="1447495" y="7277710"/>
            <a:ext cx="4763110" cy="846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[Percepção positiva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[Percepção positiva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[Percepção positiva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6"/>
          <p:cNvSpPr txBox="1"/>
          <p:nvPr/>
        </p:nvSpPr>
        <p:spPr>
          <a:xfrm>
            <a:off x="7067398" y="7029907"/>
            <a:ext cx="47631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225D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D5225D"/>
                </a:solidFill>
                <a:latin typeface="Poppins"/>
                <a:ea typeface="Poppins"/>
                <a:cs typeface="Poppins"/>
                <a:sym typeface="Poppins"/>
              </a:rPr>
              <a:t>Onde as pessoas sentem fricção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6"/>
          <p:cNvSpPr txBox="1"/>
          <p:nvPr/>
        </p:nvSpPr>
        <p:spPr>
          <a:xfrm>
            <a:off x="7067398" y="7277710"/>
            <a:ext cx="4763110" cy="846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[Fricção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[Fricção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[Fricção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6"/>
          <p:cNvSpPr txBox="1"/>
          <p:nvPr/>
        </p:nvSpPr>
        <p:spPr>
          <a:xfrm>
            <a:off x="12687300" y="7029907"/>
            <a:ext cx="41916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5CF5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895CF5"/>
                </a:solidFill>
                <a:latin typeface="Poppins"/>
                <a:ea typeface="Poppins"/>
                <a:cs typeface="Poppins"/>
                <a:sym typeface="Poppins"/>
              </a:rPr>
              <a:t>Nas palavras delas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6"/>
          <p:cNvSpPr txBox="1"/>
          <p:nvPr/>
        </p:nvSpPr>
        <p:spPr>
          <a:xfrm>
            <a:off x="12687300" y="7343546"/>
            <a:ext cx="4191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1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“[Comentário anônimo breve]”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6"/>
          <p:cNvSpPr txBox="1"/>
          <p:nvPr/>
        </p:nvSpPr>
        <p:spPr>
          <a:xfrm>
            <a:off x="12687300" y="7705649"/>
            <a:ext cx="4191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1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“[Comentário anônimo breve]”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6"/>
          <p:cNvSpPr txBox="1"/>
          <p:nvPr/>
        </p:nvSpPr>
        <p:spPr>
          <a:xfrm>
            <a:off x="1447495" y="9105595"/>
            <a:ext cx="800100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CD4B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F8CD4B"/>
                </a:solidFill>
                <a:latin typeface="Poppins"/>
                <a:ea typeface="Poppins"/>
                <a:cs typeface="Poppins"/>
                <a:sym typeface="Poppins"/>
              </a:rPr>
              <a:t>Leitura do HRBP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6"/>
          <p:cNvSpPr txBox="1"/>
          <p:nvPr/>
        </p:nvSpPr>
        <p:spPr>
          <a:xfrm>
            <a:off x="1447495" y="9381744"/>
            <a:ext cx="8001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[O que a combinação de evidência quantitativa e qualitativa sugere?]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6"/>
          <p:cNvSpPr txBox="1"/>
          <p:nvPr/>
        </p:nvSpPr>
        <p:spPr>
          <a:xfrm>
            <a:off x="10096805" y="9105595"/>
            <a:ext cx="70491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Classificação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6"/>
          <p:cNvSpPr/>
          <p:nvPr/>
        </p:nvSpPr>
        <p:spPr>
          <a:xfrm>
            <a:off x="10096805" y="9420149"/>
            <a:ext cx="209398" cy="209398"/>
          </a:xfrm>
          <a:prstGeom prst="rect">
            <a:avLst/>
          </a:prstGeom>
          <a:noFill/>
          <a:ln cap="flat" cmpd="sng" w="25400">
            <a:solidFill>
              <a:srgbClr val="2BB6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6"/>
          <p:cNvSpPr txBox="1"/>
          <p:nvPr/>
        </p:nvSpPr>
        <p:spPr>
          <a:xfrm>
            <a:off x="10401300" y="9434779"/>
            <a:ext cx="866851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B673"/>
              </a:buClr>
              <a:buSzPts val="1125"/>
              <a:buFont typeface="Sora"/>
              <a:buNone/>
            </a:pPr>
            <a:r>
              <a:rPr b="1" i="0" lang="en-US" sz="1125" u="none" cap="none" strike="noStrike">
                <a:solidFill>
                  <a:srgbClr val="2BB673"/>
                </a:solidFill>
                <a:latin typeface="Sora"/>
                <a:ea typeface="Sora"/>
                <a:cs typeface="Sora"/>
                <a:sym typeface="Sora"/>
              </a:rPr>
              <a:t>PROTEGER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6"/>
          <p:cNvSpPr/>
          <p:nvPr/>
        </p:nvSpPr>
        <p:spPr>
          <a:xfrm>
            <a:off x="11454689" y="9420149"/>
            <a:ext cx="209398" cy="209398"/>
          </a:xfrm>
          <a:prstGeom prst="rect">
            <a:avLst/>
          </a:prstGeom>
          <a:noFill/>
          <a:ln cap="flat" cmpd="sng" w="25400">
            <a:solidFill>
              <a:srgbClr val="D522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6"/>
          <p:cNvSpPr txBox="1"/>
          <p:nvPr/>
        </p:nvSpPr>
        <p:spPr>
          <a:xfrm>
            <a:off x="11759184" y="9434779"/>
            <a:ext cx="638251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FA8"/>
              </a:buClr>
              <a:buSzPts val="1125"/>
              <a:buFont typeface="Sora"/>
              <a:buNone/>
            </a:pPr>
            <a:r>
              <a:rPr b="1" i="0" lang="en-US" sz="1125" u="none" cap="none" strike="noStrike">
                <a:solidFill>
                  <a:srgbClr val="FF8FA8"/>
                </a:solidFill>
                <a:latin typeface="Sora"/>
                <a:ea typeface="Sora"/>
                <a:cs typeface="Sora"/>
                <a:sym typeface="Sora"/>
              </a:rPr>
              <a:t>TRATAR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6"/>
          <p:cNvSpPr/>
          <p:nvPr/>
        </p:nvSpPr>
        <p:spPr>
          <a:xfrm>
            <a:off x="12584887" y="9420149"/>
            <a:ext cx="209398" cy="209398"/>
          </a:xfrm>
          <a:prstGeom prst="rect">
            <a:avLst/>
          </a:prstGeom>
          <a:noFill/>
          <a:ln cap="flat" cmpd="sng" w="25400">
            <a:solidFill>
              <a:srgbClr val="F8CD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6"/>
          <p:cNvSpPr txBox="1"/>
          <p:nvPr/>
        </p:nvSpPr>
        <p:spPr>
          <a:xfrm>
            <a:off x="12889382" y="9434779"/>
            <a:ext cx="1153058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CD4B"/>
              </a:buClr>
              <a:buSzPts val="1125"/>
              <a:buFont typeface="Sora"/>
              <a:buNone/>
            </a:pPr>
            <a:r>
              <a:rPr b="1" i="0" lang="en-US" sz="1125" u="none" cap="none" strike="noStrike">
                <a:solidFill>
                  <a:srgbClr val="F8CD4B"/>
                </a:solidFill>
                <a:latin typeface="Sora"/>
                <a:ea typeface="Sora"/>
                <a:cs typeface="Sora"/>
                <a:sym typeface="Sora"/>
              </a:rPr>
              <a:t>APROFUNDAR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6"/>
          <p:cNvSpPr/>
          <p:nvPr/>
        </p:nvSpPr>
        <p:spPr>
          <a:xfrm>
            <a:off x="14231722" y="9420149"/>
            <a:ext cx="209398" cy="209398"/>
          </a:xfrm>
          <a:prstGeom prst="rect">
            <a:avLst/>
          </a:prstGeom>
          <a:noFill/>
          <a:ln cap="flat" cmpd="sng" w="25400">
            <a:solidFill>
              <a:srgbClr val="FFFF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6"/>
          <p:cNvSpPr txBox="1"/>
          <p:nvPr/>
        </p:nvSpPr>
        <p:spPr>
          <a:xfrm>
            <a:off x="14537131" y="9434779"/>
            <a:ext cx="1410005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Sora"/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SEM PRIORIDADE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28" name="Chart 627"/>
          <p:cNvGraphicFramePr>
            <a:graphicFrameLocks noGrp="1"/>
          </p:cNvGraphicFramePr>
          <p:nvPr/>
        </p:nvGraphicFramePr>
        <p:xfrm>
          <a:off x="1554480" y="5029200"/>
          <a:ext cx="4526280" cy="1325880"/>
        </p:xfrm>
        <a:graphic>
          <a:graphicData uri="http://schemas.openxmlformats.org/drawingml/2006/chart">
            <c:chart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D"/>
        </a:solidFill>
      </p:bgPr>
    </p:bg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571723da0b9e7496659dc38ed713a537.png" id="581" name="Google Shape;581;p16"/>
          <p:cNvPicPr preferRelativeResize="0"/>
          <p:nvPr/>
        </p:nvPicPr>
        <p:blipFill rotWithShape="1">
          <a:blip r:embed="rId3">
            <a:alphaModFix/>
          </a:blip>
          <a:srcRect b="0" l="-2083" r="-2083" t="0"/>
          <a:stretch/>
        </p:blipFill>
        <p:spPr>
          <a:xfrm>
            <a:off x="1143000" y="2247595"/>
            <a:ext cx="16002000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16"/>
          <p:cNvSpPr/>
          <p:nvPr/>
        </p:nvSpPr>
        <p:spPr>
          <a:xfrm>
            <a:off x="1143000" y="2533802"/>
            <a:ext cx="5333695" cy="409559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6"/>
          <p:cNvSpPr/>
          <p:nvPr/>
        </p:nvSpPr>
        <p:spPr>
          <a:xfrm>
            <a:off x="6762902" y="2533802"/>
            <a:ext cx="10382098" cy="409559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6"/>
          <p:cNvSpPr/>
          <p:nvPr/>
        </p:nvSpPr>
        <p:spPr>
          <a:xfrm>
            <a:off x="1143000" y="6819595"/>
            <a:ext cx="5333695" cy="1904695"/>
          </a:xfrm>
          <a:prstGeom prst="rect">
            <a:avLst/>
          </a:prstGeom>
          <a:solidFill>
            <a:srgbClr val="EAF0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6"/>
          <p:cNvSpPr/>
          <p:nvPr/>
        </p:nvSpPr>
        <p:spPr>
          <a:xfrm>
            <a:off x="6762902" y="6819595"/>
            <a:ext cx="5333695" cy="1904695"/>
          </a:xfrm>
          <a:prstGeom prst="rect">
            <a:avLst/>
          </a:prstGeom>
          <a:solidFill>
            <a:srgbClr val="EAF0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6"/>
          <p:cNvSpPr/>
          <p:nvPr/>
        </p:nvSpPr>
        <p:spPr>
          <a:xfrm>
            <a:off x="12382805" y="6819595"/>
            <a:ext cx="4781398" cy="192389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6"/>
          <p:cNvSpPr/>
          <p:nvPr/>
        </p:nvSpPr>
        <p:spPr>
          <a:xfrm>
            <a:off x="1143000" y="8915400"/>
            <a:ext cx="16002000" cy="1047902"/>
          </a:xfrm>
          <a:prstGeom prst="rect">
            <a:avLst/>
          </a:prstGeom>
          <a:solidFill>
            <a:srgbClr val="16215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75554a26810b287334efd5ad4280f6dc.png" id="588" name="Google Shape;588;p16"/>
          <p:cNvPicPr preferRelativeResize="0"/>
          <p:nvPr/>
        </p:nvPicPr>
        <p:blipFill rotWithShape="1">
          <a:blip r:embed="rId4">
            <a:alphaModFix/>
          </a:blip>
          <a:srcRect b="0" l="-201" r="-201" t="0"/>
          <a:stretch/>
        </p:blipFill>
        <p:spPr>
          <a:xfrm>
            <a:off x="0" y="0"/>
            <a:ext cx="182880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20a1fe1a29d367f0e337479a2578c76d.png" id="589" name="Google Shape;589;p16"/>
          <p:cNvPicPr preferRelativeResize="0"/>
          <p:nvPr/>
        </p:nvPicPr>
        <p:blipFill rotWithShape="1">
          <a:blip r:embed="rId5">
            <a:alphaModFix/>
          </a:blip>
          <a:srcRect b="-403" l="0" r="0" t="-403"/>
          <a:stretch/>
        </p:blipFill>
        <p:spPr>
          <a:xfrm>
            <a:off x="1143000" y="2533802"/>
            <a:ext cx="5333695" cy="57607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16"/>
          <p:cNvSpPr/>
          <p:nvPr/>
        </p:nvSpPr>
        <p:spPr>
          <a:xfrm>
            <a:off x="1447495" y="4953305"/>
            <a:ext cx="4743907" cy="1447495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6ce94105c5227a91a4e9a6911f133187.png" id="591" name="Google Shape;591;p16"/>
          <p:cNvPicPr preferRelativeResize="0"/>
          <p:nvPr/>
        </p:nvPicPr>
        <p:blipFill rotWithShape="1">
          <a:blip r:embed="rId6">
            <a:alphaModFix/>
          </a:blip>
          <a:srcRect b="-401" l="0" r="0" t="-401"/>
          <a:stretch/>
        </p:blipFill>
        <p:spPr>
          <a:xfrm>
            <a:off x="6762902" y="2533802"/>
            <a:ext cx="10382098" cy="576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591ce8fe1a5b6faa434a338482f32902.png" id="592" name="Google Shape;592;p16"/>
          <p:cNvPicPr preferRelativeResize="0"/>
          <p:nvPr/>
        </p:nvPicPr>
        <p:blipFill rotWithShape="1">
          <a:blip r:embed="rId7">
            <a:alphaModFix/>
          </a:blip>
          <a:srcRect b="0" l="-408" r="-408" t="0"/>
          <a:stretch/>
        </p:blipFill>
        <p:spPr>
          <a:xfrm>
            <a:off x="1143000" y="6819595"/>
            <a:ext cx="57607" cy="1904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7884f426d493eeefc72a918b85a7ba8e.png" id="593" name="Google Shape;593;p16"/>
          <p:cNvPicPr preferRelativeResize="0"/>
          <p:nvPr/>
        </p:nvPicPr>
        <p:blipFill rotWithShape="1">
          <a:blip r:embed="rId8">
            <a:alphaModFix/>
          </a:blip>
          <a:srcRect b="0" l="-408" r="-408" t="0"/>
          <a:stretch/>
        </p:blipFill>
        <p:spPr>
          <a:xfrm>
            <a:off x="6762902" y="6819595"/>
            <a:ext cx="57607" cy="1904695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16"/>
          <p:cNvSpPr txBox="1"/>
          <p:nvPr/>
        </p:nvSpPr>
        <p:spPr>
          <a:xfrm>
            <a:off x="1143000" y="495605"/>
            <a:ext cx="2781605" cy="277063"/>
          </a:xfrm>
          <a:prstGeom prst="rect">
            <a:avLst/>
          </a:prstGeom>
          <a:solidFill>
            <a:srgbClr val="16215B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500" lIns="139700" spcFirstLastPara="1" rIns="139700" wrap="square" tIns="63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Apêndice · duplicar por driver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6"/>
          <p:cNvSpPr txBox="1"/>
          <p:nvPr/>
        </p:nvSpPr>
        <p:spPr>
          <a:xfrm>
            <a:off x="13334695" y="552298"/>
            <a:ext cx="381030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{{AREA}} · {{ONDA}}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6"/>
          <p:cNvSpPr txBox="1"/>
          <p:nvPr/>
        </p:nvSpPr>
        <p:spPr>
          <a:xfrm>
            <a:off x="1143000" y="1009498"/>
            <a:ext cx="16002000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3900"/>
              <a:buFont typeface="Sora"/>
              <a:buNone/>
            </a:pPr>
            <a:r>
              <a:rPr b="1" i="0" lang="en-US" sz="39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{{D9_NOME}}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6"/>
          <p:cNvSpPr txBox="1"/>
          <p:nvPr/>
        </p:nvSpPr>
        <p:spPr>
          <a:xfrm>
            <a:off x="1143000" y="1638605"/>
            <a:ext cx="1600200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350"/>
              <a:buFont typeface="Poppins"/>
              <a:buNone/>
            </a:pPr>
            <a:r>
              <a:rPr b="0" i="1" lang="en-US" sz="135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{{D9_DESC}}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6"/>
          <p:cNvSpPr txBox="1"/>
          <p:nvPr/>
        </p:nvSpPr>
        <p:spPr>
          <a:xfrm>
            <a:off x="1447495" y="2781605"/>
            <a:ext cx="47631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0285FF"/>
                </a:solidFill>
                <a:latin typeface="Poppins"/>
                <a:ea typeface="Poppins"/>
                <a:cs typeface="Poppins"/>
                <a:sym typeface="Poppins"/>
              </a:rPr>
              <a:t>Evidência · quantitativa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6"/>
          <p:cNvSpPr txBox="1"/>
          <p:nvPr/>
        </p:nvSpPr>
        <p:spPr>
          <a:xfrm>
            <a:off x="1447495" y="3143707"/>
            <a:ext cx="23820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Favorável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6"/>
          <p:cNvSpPr txBox="1"/>
          <p:nvPr/>
        </p:nvSpPr>
        <p:spPr>
          <a:xfrm>
            <a:off x="1447495" y="3372307"/>
            <a:ext cx="23820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3600"/>
              <a:buFont typeface="Sora"/>
              <a:buNone/>
            </a:pPr>
            <a:r>
              <a:rPr b="0" i="0" lang="en-US" sz="36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{{D9_FAV}}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6"/>
          <p:cNvSpPr txBox="1"/>
          <p:nvPr/>
        </p:nvSpPr>
        <p:spPr>
          <a:xfrm>
            <a:off x="4095598" y="3143707"/>
            <a:ext cx="219090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Média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6"/>
          <p:cNvSpPr txBox="1"/>
          <p:nvPr/>
        </p:nvSpPr>
        <p:spPr>
          <a:xfrm>
            <a:off x="4095598" y="3372307"/>
            <a:ext cx="21909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3600"/>
              <a:buFont typeface="Sora"/>
              <a:buNone/>
            </a:pPr>
            <a:r>
              <a:rPr b="0" i="0" lang="en-US" sz="3600" u="none" cap="none" strike="noStrike">
                <a:solidFill>
                  <a:srgbClr val="0285FF"/>
                </a:solidFill>
                <a:latin typeface="Sora"/>
                <a:ea typeface="Sora"/>
                <a:cs typeface="Sora"/>
                <a:sym typeface="Sora"/>
              </a:rPr>
              <a:t>{{D9_MED}}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6"/>
          <p:cNvSpPr txBox="1"/>
          <p:nvPr/>
        </p:nvSpPr>
        <p:spPr>
          <a:xfrm>
            <a:off x="1447495" y="4114800"/>
            <a:ext cx="23820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vs Flutter Brasil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6"/>
          <p:cNvSpPr txBox="1"/>
          <p:nvPr/>
        </p:nvSpPr>
        <p:spPr>
          <a:xfrm>
            <a:off x="1447495" y="4343400"/>
            <a:ext cx="2382012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2550"/>
              <a:buFont typeface="Sora"/>
              <a:buNone/>
            </a:pPr>
            <a:r>
              <a:rPr b="0" i="0" lang="en-US" sz="2550" u="none" cap="none" strike="noStrike">
                <a:solidFill>
                  <a:srgbClr val="131A40"/>
                </a:solidFill>
                <a:latin typeface="Sora"/>
                <a:ea typeface="Sora"/>
                <a:cs typeface="Sora"/>
                <a:sym typeface="Sora"/>
              </a:rPr>
              <a:t>{{D9_VSFB}}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6"/>
          <p:cNvSpPr txBox="1"/>
          <p:nvPr/>
        </p:nvSpPr>
        <p:spPr>
          <a:xfrm>
            <a:off x="4095598" y="4114800"/>
            <a:ext cx="219090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vs onda anterior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6"/>
          <p:cNvSpPr txBox="1"/>
          <p:nvPr/>
        </p:nvSpPr>
        <p:spPr>
          <a:xfrm>
            <a:off x="4095598" y="4343400"/>
            <a:ext cx="2190902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2550"/>
              <a:buFont typeface="Sora"/>
              <a:buNone/>
            </a:pPr>
            <a:r>
              <a:rPr b="0" i="0" lang="en-US" sz="2550" u="none" cap="none" strike="noStrike">
                <a:solidFill>
                  <a:srgbClr val="131A40"/>
                </a:solidFill>
                <a:latin typeface="Sora"/>
                <a:ea typeface="Sora"/>
                <a:cs typeface="Sora"/>
                <a:sym typeface="Sora"/>
              </a:rPr>
              <a:t>{{D9_VSANT}}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6"/>
          <p:cNvSpPr txBox="1"/>
          <p:nvPr/>
        </p:nvSpPr>
        <p:spPr>
          <a:xfrm>
            <a:off x="7067398" y="2781605"/>
            <a:ext cx="9811512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0285FF"/>
                </a:solidFill>
                <a:latin typeface="Poppins"/>
                <a:ea typeface="Poppins"/>
                <a:cs typeface="Poppins"/>
                <a:sym typeface="Poppins"/>
              </a:rPr>
              <a:t>Detalhe das perguntas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09" name="Google Shape;609;p16"/>
          <p:cNvGraphicFramePr/>
          <p:nvPr/>
        </p:nvGraphicFramePr>
        <p:xfrm>
          <a:off x="7067398" y="3143707"/>
          <a:ext cx="3000000" cy="2880360"/>
        </p:xfrm>
        <a:graphic>
          <a:graphicData uri="http://schemas.openxmlformats.org/drawingml/2006/table">
            <a:tbl>
              <a:tblPr>
                <a:noFill/>
                <a:tableStyleId>{0DAC2FE4-DBA5-4F3B-94BE-2F4E2715C5E2}</a:tableStyleId>
              </a:tblPr>
              <a:tblGrid>
                <a:gridCol w="5374850"/>
                <a:gridCol w="1465775"/>
                <a:gridCol w="1465775"/>
                <a:gridCol w="1465775"/>
              </a:tblGrid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5B"/>
                        </a:buClr>
                        <a:buSzPts val="825"/>
                        <a:buFont typeface="Poppins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16215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PERGUNTA</a:t>
                      </a:r>
                      <a:endParaRPr sz="82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5B"/>
                        </a:buClr>
                        <a:buSzPts val="825"/>
                        <a:buFont typeface="Poppins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16215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FAVORÁVEL</a:t>
                      </a:r>
                      <a:endParaRPr sz="82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5B"/>
                        </a:buClr>
                        <a:buSzPts val="825"/>
                        <a:buFont typeface="Poppins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16215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MÉDIA</a:t>
                      </a:r>
                      <a:endParaRPr sz="82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5B"/>
                        </a:buClr>
                        <a:buSzPts val="825"/>
                        <a:buFont typeface="Poppins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16215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VS FB</a:t>
                      </a:r>
                      <a:endParaRPr sz="82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14300" marB="1143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9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{{D9_R0_C0}}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{{D9_R0_C1}}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{{D9_R0_C2}}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{{D9_R0_C3}}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9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{{D9_R1_C0}}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{{D9_R1_C1}}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{{D9_R1_C2}}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{{D9_R1_C3}}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9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{{D9_R2_C0}}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{{D9_R2_C1}}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{{D9_R2_C2}}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{{D9_R2_C3}}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9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{{D9_R3_C0}}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{{D9_R3_C1}}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{{D9_R3_C2}}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{{D9_R3_C3}}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9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{{D9_R4_C0}}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{{D9_R4_C1}}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{{D9_R4_C2}}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{{D9_R4_C3}}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274"/>
                        </a:buClr>
                        <a:buSzPts val="975"/>
                        <a:buFont typeface="Poppins"/>
                        <a:buNone/>
                      </a:pPr>
                      <a:r>
                        <a:rPr i="1" lang="en-US" sz="900" u="none" cap="none" strike="noStrike">
                          <a:solidFill>
                            <a:srgbClr val="4B527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{{D9_R5_C0}}</a:t>
                      </a:r>
                      <a:endParaRPr sz="97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33500" marB="133500" marR="152700" marL="1527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{{D9_R5_C1}}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{{D9_R5_C2}}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900"/>
                        <a:t>{{D9_R5_C3}}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10" name="Google Shape;610;p16"/>
          <p:cNvSpPr txBox="1"/>
          <p:nvPr/>
        </p:nvSpPr>
        <p:spPr>
          <a:xfrm>
            <a:off x="1447495" y="7029907"/>
            <a:ext cx="47631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B673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2BB673"/>
                </a:solidFill>
                <a:latin typeface="Poppins"/>
                <a:ea typeface="Poppins"/>
                <a:cs typeface="Poppins"/>
                <a:sym typeface="Poppins"/>
              </a:rPr>
              <a:t>O que as pessoas valorizam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6"/>
          <p:cNvSpPr txBox="1"/>
          <p:nvPr/>
        </p:nvSpPr>
        <p:spPr>
          <a:xfrm>
            <a:off x="1447495" y="7277710"/>
            <a:ext cx="4763110" cy="846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[Percepção positiva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[Percepção positiva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[Percepção positiva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6"/>
          <p:cNvSpPr txBox="1"/>
          <p:nvPr/>
        </p:nvSpPr>
        <p:spPr>
          <a:xfrm>
            <a:off x="7067398" y="7029907"/>
            <a:ext cx="47631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225D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D5225D"/>
                </a:solidFill>
                <a:latin typeface="Poppins"/>
                <a:ea typeface="Poppins"/>
                <a:cs typeface="Poppins"/>
                <a:sym typeface="Poppins"/>
              </a:rPr>
              <a:t>Onde as pessoas sentem fricção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6"/>
          <p:cNvSpPr txBox="1"/>
          <p:nvPr/>
        </p:nvSpPr>
        <p:spPr>
          <a:xfrm>
            <a:off x="7067398" y="7277710"/>
            <a:ext cx="4763110" cy="846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[Fricção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[Fricção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4977"/>
              </a:lnSpc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[Fricção recorrente]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6"/>
          <p:cNvSpPr txBox="1"/>
          <p:nvPr/>
        </p:nvSpPr>
        <p:spPr>
          <a:xfrm>
            <a:off x="12687300" y="7029907"/>
            <a:ext cx="41916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5CF5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895CF5"/>
                </a:solidFill>
                <a:latin typeface="Poppins"/>
                <a:ea typeface="Poppins"/>
                <a:cs typeface="Poppins"/>
                <a:sym typeface="Poppins"/>
              </a:rPr>
              <a:t>Nas palavras delas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6"/>
          <p:cNvSpPr txBox="1"/>
          <p:nvPr/>
        </p:nvSpPr>
        <p:spPr>
          <a:xfrm>
            <a:off x="12687300" y="7343546"/>
            <a:ext cx="4191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1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“[Comentário anônimo breve]”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6"/>
          <p:cNvSpPr txBox="1"/>
          <p:nvPr/>
        </p:nvSpPr>
        <p:spPr>
          <a:xfrm>
            <a:off x="12687300" y="7705649"/>
            <a:ext cx="4191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A40"/>
              </a:buClr>
              <a:buSzPts val="1125"/>
              <a:buFont typeface="Poppins"/>
              <a:buNone/>
            </a:pPr>
            <a:r>
              <a:rPr b="0" i="1" lang="en-US" sz="1125" u="none" cap="none" strike="noStrike">
                <a:solidFill>
                  <a:srgbClr val="131A40"/>
                </a:solidFill>
                <a:latin typeface="Poppins"/>
                <a:ea typeface="Poppins"/>
                <a:cs typeface="Poppins"/>
                <a:sym typeface="Poppins"/>
              </a:rPr>
              <a:t>“[Comentário anônimo breve]”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6"/>
          <p:cNvSpPr txBox="1"/>
          <p:nvPr/>
        </p:nvSpPr>
        <p:spPr>
          <a:xfrm>
            <a:off x="1447495" y="9105595"/>
            <a:ext cx="800100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CD4B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F8CD4B"/>
                </a:solidFill>
                <a:latin typeface="Poppins"/>
                <a:ea typeface="Poppins"/>
                <a:cs typeface="Poppins"/>
                <a:sym typeface="Poppins"/>
              </a:rPr>
              <a:t>Leitura do HRBP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6"/>
          <p:cNvSpPr txBox="1"/>
          <p:nvPr/>
        </p:nvSpPr>
        <p:spPr>
          <a:xfrm>
            <a:off x="1447495" y="9381744"/>
            <a:ext cx="8001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[O que a combinação de evidência quantitativa e qualitativa sugere?]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6"/>
          <p:cNvSpPr txBox="1"/>
          <p:nvPr/>
        </p:nvSpPr>
        <p:spPr>
          <a:xfrm>
            <a:off x="10096805" y="9105595"/>
            <a:ext cx="70491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Classificação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6"/>
          <p:cNvSpPr/>
          <p:nvPr/>
        </p:nvSpPr>
        <p:spPr>
          <a:xfrm>
            <a:off x="10096805" y="9420149"/>
            <a:ext cx="209398" cy="209398"/>
          </a:xfrm>
          <a:prstGeom prst="rect">
            <a:avLst/>
          </a:prstGeom>
          <a:noFill/>
          <a:ln cap="flat" cmpd="sng" w="25400">
            <a:solidFill>
              <a:srgbClr val="2BB6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6"/>
          <p:cNvSpPr txBox="1"/>
          <p:nvPr/>
        </p:nvSpPr>
        <p:spPr>
          <a:xfrm>
            <a:off x="10401300" y="9434779"/>
            <a:ext cx="866851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B673"/>
              </a:buClr>
              <a:buSzPts val="1125"/>
              <a:buFont typeface="Sora"/>
              <a:buNone/>
            </a:pPr>
            <a:r>
              <a:rPr b="1" i="0" lang="en-US" sz="1125" u="none" cap="none" strike="noStrike">
                <a:solidFill>
                  <a:srgbClr val="2BB673"/>
                </a:solidFill>
                <a:latin typeface="Sora"/>
                <a:ea typeface="Sora"/>
                <a:cs typeface="Sora"/>
                <a:sym typeface="Sora"/>
              </a:rPr>
              <a:t>PROTEGER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6"/>
          <p:cNvSpPr/>
          <p:nvPr/>
        </p:nvSpPr>
        <p:spPr>
          <a:xfrm>
            <a:off x="11454689" y="9420149"/>
            <a:ext cx="209398" cy="209398"/>
          </a:xfrm>
          <a:prstGeom prst="rect">
            <a:avLst/>
          </a:prstGeom>
          <a:noFill/>
          <a:ln cap="flat" cmpd="sng" w="25400">
            <a:solidFill>
              <a:srgbClr val="D522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6"/>
          <p:cNvSpPr txBox="1"/>
          <p:nvPr/>
        </p:nvSpPr>
        <p:spPr>
          <a:xfrm>
            <a:off x="11759184" y="9434779"/>
            <a:ext cx="638251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FA8"/>
              </a:buClr>
              <a:buSzPts val="1125"/>
              <a:buFont typeface="Sora"/>
              <a:buNone/>
            </a:pPr>
            <a:r>
              <a:rPr b="1" i="0" lang="en-US" sz="1125" u="none" cap="none" strike="noStrike">
                <a:solidFill>
                  <a:srgbClr val="FF8FA8"/>
                </a:solidFill>
                <a:latin typeface="Sora"/>
                <a:ea typeface="Sora"/>
                <a:cs typeface="Sora"/>
                <a:sym typeface="Sora"/>
              </a:rPr>
              <a:t>TRATAR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6"/>
          <p:cNvSpPr/>
          <p:nvPr/>
        </p:nvSpPr>
        <p:spPr>
          <a:xfrm>
            <a:off x="12584887" y="9420149"/>
            <a:ext cx="209398" cy="209398"/>
          </a:xfrm>
          <a:prstGeom prst="rect">
            <a:avLst/>
          </a:prstGeom>
          <a:noFill/>
          <a:ln cap="flat" cmpd="sng" w="25400">
            <a:solidFill>
              <a:srgbClr val="F8CD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6"/>
          <p:cNvSpPr txBox="1"/>
          <p:nvPr/>
        </p:nvSpPr>
        <p:spPr>
          <a:xfrm>
            <a:off x="12889382" y="9434779"/>
            <a:ext cx="1153058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CD4B"/>
              </a:buClr>
              <a:buSzPts val="1125"/>
              <a:buFont typeface="Sora"/>
              <a:buNone/>
            </a:pPr>
            <a:r>
              <a:rPr b="1" i="0" lang="en-US" sz="1125" u="none" cap="none" strike="noStrike">
                <a:solidFill>
                  <a:srgbClr val="F8CD4B"/>
                </a:solidFill>
                <a:latin typeface="Sora"/>
                <a:ea typeface="Sora"/>
                <a:cs typeface="Sora"/>
                <a:sym typeface="Sora"/>
              </a:rPr>
              <a:t>APROFUNDAR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6"/>
          <p:cNvSpPr/>
          <p:nvPr/>
        </p:nvSpPr>
        <p:spPr>
          <a:xfrm>
            <a:off x="14231722" y="9420149"/>
            <a:ext cx="209398" cy="209398"/>
          </a:xfrm>
          <a:prstGeom prst="rect">
            <a:avLst/>
          </a:prstGeom>
          <a:noFill/>
          <a:ln cap="flat" cmpd="sng" w="25400">
            <a:solidFill>
              <a:srgbClr val="FFFF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6"/>
          <p:cNvSpPr txBox="1"/>
          <p:nvPr/>
        </p:nvSpPr>
        <p:spPr>
          <a:xfrm>
            <a:off x="14537131" y="9434779"/>
            <a:ext cx="1410005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Sora"/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SEM PRIORIDADE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28" name="Chart 627"/>
          <p:cNvGraphicFramePr>
            <a:graphicFrameLocks noGrp="1"/>
          </p:cNvGraphicFramePr>
          <p:nvPr/>
        </p:nvGraphicFramePr>
        <p:xfrm>
          <a:off x="1554480" y="5029200"/>
          <a:ext cx="4526280" cy="1325880"/>
        </p:xfrm>
        <a:graphic>
          <a:graphicData uri="http://schemas.openxmlformats.org/drawingml/2006/chart">
            <c:chart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D"/>
        </a:solidFill>
      </p:bgPr>
    </p:bg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571723da0b9e7496659dc38ed713a537.png" id="633" name="Google Shape;633;p17"/>
          <p:cNvPicPr preferRelativeResize="0"/>
          <p:nvPr/>
        </p:nvPicPr>
        <p:blipFill rotWithShape="1">
          <a:blip r:embed="rId3">
            <a:alphaModFix/>
          </a:blip>
          <a:srcRect b="0" l="-2083" r="-2083" t="0"/>
          <a:stretch/>
        </p:blipFill>
        <p:spPr>
          <a:xfrm>
            <a:off x="1143000" y="2247595"/>
            <a:ext cx="16002000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17"/>
          <p:cNvSpPr/>
          <p:nvPr/>
        </p:nvSpPr>
        <p:spPr>
          <a:xfrm>
            <a:off x="1143000" y="9201607"/>
            <a:ext cx="16002000" cy="533095"/>
          </a:xfrm>
          <a:prstGeom prst="rect">
            <a:avLst/>
          </a:prstGeom>
          <a:solidFill>
            <a:srgbClr val="EAF0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75554a26810b287334efd5ad4280f6dc.png" id="635" name="Google Shape;635;p17"/>
          <p:cNvPicPr preferRelativeResize="0"/>
          <p:nvPr/>
        </p:nvPicPr>
        <p:blipFill rotWithShape="1">
          <a:blip r:embed="rId4">
            <a:alphaModFix/>
          </a:blip>
          <a:srcRect b="0" l="-201" r="-201" t="0"/>
          <a:stretch/>
        </p:blipFill>
        <p:spPr>
          <a:xfrm>
            <a:off x="0" y="0"/>
            <a:ext cx="18288000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17"/>
          <p:cNvSpPr txBox="1"/>
          <p:nvPr/>
        </p:nvSpPr>
        <p:spPr>
          <a:xfrm>
            <a:off x="1143000" y="495605"/>
            <a:ext cx="3162910" cy="277063"/>
          </a:xfrm>
          <a:prstGeom prst="rect">
            <a:avLst/>
          </a:prstGeom>
          <a:solidFill>
            <a:srgbClr val="16215B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500" lIns="139700" spcFirstLastPara="1" rIns="139700" wrap="square" tIns="63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Apêndice · biblioteca de evidências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7"/>
          <p:cNvSpPr txBox="1"/>
          <p:nvPr/>
        </p:nvSpPr>
        <p:spPr>
          <a:xfrm>
            <a:off x="13334695" y="552298"/>
            <a:ext cx="381030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{{AREA}} · {{ONDA}}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7"/>
          <p:cNvSpPr txBox="1"/>
          <p:nvPr/>
        </p:nvSpPr>
        <p:spPr>
          <a:xfrm>
            <a:off x="1143000" y="1009498"/>
            <a:ext cx="16002000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3900"/>
              <a:buFont typeface="Sora"/>
              <a:buNone/>
            </a:pPr>
            <a:r>
              <a:rPr b="1" i="0" lang="en-US" sz="39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Resultados por pergunta </a:t>
            </a:r>
            <a:r>
              <a:rPr b="1" i="1" lang="en-US" sz="3900" u="none" cap="none" strike="noStrike">
                <a:solidFill>
                  <a:srgbClr val="0285FF"/>
                </a:solidFill>
                <a:latin typeface="Sora"/>
                <a:ea typeface="Sora"/>
                <a:cs typeface="Sora"/>
                <a:sym typeface="Sora"/>
              </a:rPr>
              <a:t>em detalhe.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7"/>
          <p:cNvSpPr txBox="1"/>
          <p:nvPr/>
        </p:nvSpPr>
        <p:spPr>
          <a:xfrm>
            <a:off x="1143000" y="1638605"/>
            <a:ext cx="1600200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350"/>
              <a:buFont typeface="Poppins"/>
              <a:buNone/>
            </a:pPr>
            <a:r>
              <a:rPr b="0" i="0" lang="en-US" sz="135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Todas as perguntas da pesquisa para {{AREA}} · parte 1 de 3.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40" name="Google Shape;640;p17"/>
          <p:cNvGraphicFramePr/>
          <p:nvPr/>
        </p:nvGraphicFramePr>
        <p:xfrm>
          <a:off x="1143000" y="2667305"/>
          <a:ext cx="16011144" cy="4517136"/>
        </p:xfrm>
        <a:graphic>
          <a:graphicData uri="http://schemas.openxmlformats.org/drawingml/2006/table">
            <a:tbl>
              <a:tblPr>
                <a:noFill/>
                <a:tableStyleId>{0DAC2FE4-DBA5-4F3B-94BE-2F4E2715C5E2}</a:tableStyleId>
              </a:tblPr>
              <a:tblGrid>
                <a:gridCol w="2743200"/>
                <a:gridCol w="5897880"/>
                <a:gridCol w="1764792"/>
                <a:gridCol w="1435608"/>
                <a:gridCol w="1764792"/>
                <a:gridCol w="1280160"/>
                <a:gridCol w="1124712"/>
              </a:tblGrid>
              <a:tr h="347472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Poppins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DRIVER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52700" marB="15270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Poppins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PERGUNTA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52700" marB="15270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Poppins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FAVORÁVEL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52700" marB="15270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Poppins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VS ONDA ANT.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52700" marB="15270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Poppins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ASSOC. eNPS (r)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52700" marB="15270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Poppins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MÉDIA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52700" marB="15270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Poppins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VS FB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52700" marB="15270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5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{{L0_R0_C0}}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{{L0_R0_C1}}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{{L0_R0_C2}}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{{L0_R0_C3}}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{{L0_R0_C4}}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{{L0_R0_C5}}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{{L0_R0_C6}}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{{L0_R1_C0}}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{{L0_R1_C1}}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{{L0_R1_C2}}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{{L0_R1_C3}}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{{L0_R1_C4}}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{{L0_R1_C5}}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{{L0_R1_C6}}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{{L0_R2_C0}}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{{L0_R2_C1}}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{{L0_R2_C2}}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{{L0_R2_C3}}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{{L0_R2_C4}}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{{L0_R2_C5}}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{{L0_R2_C6}}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{{L0_R3_C0}}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{{L0_R3_C1}}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{{L0_R3_C2}}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{{L0_R3_C3}}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{{L0_R3_C4}}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{{L0_R3_C5}}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{{L0_R3_C6}}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{{L0_R4_C0}}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{{L0_R4_C1}}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{{L0_R4_C2}}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{{L0_R4_C3}}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{{L0_R4_C4}}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{{L0_R4_C5}}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{{L0_R4_C6}}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{{L0_R5_C0}}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{{L0_R5_C1}}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{{L0_R5_C2}}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{{L0_R5_C3}}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{{L0_R5_C4}}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{{L0_R5_C5}}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{{L0_R5_C6}}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{{L0_R6_C0}}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{{L0_R6_C1}}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{{L0_R6_C2}}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{{L0_R6_C3}}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{{L0_R6_C4}}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{{L0_R6_C5}}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{{L0_R6_C6}}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{{L0_R7_C0}}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{{L0_R7_C1}}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{{L0_R7_C2}}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{{L0_R7_C3}}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{{L0_R7_C4}}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{{L0_R7_C5}}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{{L0_R7_C6}}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{{L0_R8_C0}}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{{L0_R8_C1}}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{{L0_R8_C2}}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{{L0_R8_C3}}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{{L0_R8_C4}}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{{L0_R8_C5}}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{{L0_R8_C6}}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{{L0_R9_C0}}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{{L0_R9_C1}}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{{L0_R9_C2}}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{{L0_R9_C3}}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{{L0_R9_C4}}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{{L0_R9_C5}}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{{L0_R9_C6}}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{{L0_R10_C0}}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{{L0_R10_C1}}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{{L0_R10_C2}}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{{L0_R10_C3}}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{{L0_R10_C4}}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{{L0_R10_C5}}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{{L0_R10_C6}}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{{L0_R11_C0}}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{{L0_R11_C1}}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{{L0_R11_C2}}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{{L0_R11_C3}}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{{L0_R11_C4}}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{{L0_R11_C5}}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{{L0_R11_C6}}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1" name="Google Shape;641;p17"/>
          <p:cNvSpPr txBox="1"/>
          <p:nvPr/>
        </p:nvSpPr>
        <p:spPr>
          <a:xfrm>
            <a:off x="1447495" y="9353398"/>
            <a:ext cx="1543050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1050"/>
              <a:buFont typeface="Poppins"/>
              <a:buNone/>
            </a:pPr>
            <a:r>
              <a:rPr b="1" i="0" lang="en-US" sz="1050" u="none" cap="none" strike="noStrike">
                <a:solidFill>
                  <a:srgbClr val="16215B"/>
                </a:solidFill>
                <a:latin typeface="Poppins"/>
                <a:ea typeface="Poppins"/>
                <a:cs typeface="Poppins"/>
                <a:sym typeface="Poppins"/>
              </a:rPr>
              <a:t>Chave de leitura · Favorável = % de notas 4–5 · VS ONDA ANT. e VS FB em pontos percentuais do favorável · r = associação da pergunta com o eNPS dentro da área (só com 30+ respostas).</a:t>
            </a:r>
            <a:r>
              <a:rPr b="0" i="0" lang="en-US" sz="105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D"/>
        </a:solidFill>
      </p:bgPr>
    </p:bg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571723da0b9e7496659dc38ed713a537.png" id="633" name="Google Shape;633;p17"/>
          <p:cNvPicPr preferRelativeResize="0"/>
          <p:nvPr/>
        </p:nvPicPr>
        <p:blipFill rotWithShape="1">
          <a:blip r:embed="rId3">
            <a:alphaModFix/>
          </a:blip>
          <a:srcRect b="0" l="-2083" r="-2083" t="0"/>
          <a:stretch/>
        </p:blipFill>
        <p:spPr>
          <a:xfrm>
            <a:off x="1143000" y="2247595"/>
            <a:ext cx="16002000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17"/>
          <p:cNvSpPr/>
          <p:nvPr/>
        </p:nvSpPr>
        <p:spPr>
          <a:xfrm>
            <a:off x="1143000" y="9201607"/>
            <a:ext cx="16002000" cy="533095"/>
          </a:xfrm>
          <a:prstGeom prst="rect">
            <a:avLst/>
          </a:prstGeom>
          <a:solidFill>
            <a:srgbClr val="EAF0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75554a26810b287334efd5ad4280f6dc.png" id="635" name="Google Shape;635;p17"/>
          <p:cNvPicPr preferRelativeResize="0"/>
          <p:nvPr/>
        </p:nvPicPr>
        <p:blipFill rotWithShape="1">
          <a:blip r:embed="rId4">
            <a:alphaModFix/>
          </a:blip>
          <a:srcRect b="0" l="-201" r="-201" t="0"/>
          <a:stretch/>
        </p:blipFill>
        <p:spPr>
          <a:xfrm>
            <a:off x="0" y="0"/>
            <a:ext cx="18288000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17"/>
          <p:cNvSpPr txBox="1"/>
          <p:nvPr/>
        </p:nvSpPr>
        <p:spPr>
          <a:xfrm>
            <a:off x="1143000" y="495605"/>
            <a:ext cx="3162910" cy="277063"/>
          </a:xfrm>
          <a:prstGeom prst="rect">
            <a:avLst/>
          </a:prstGeom>
          <a:solidFill>
            <a:srgbClr val="16215B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500" lIns="139700" spcFirstLastPara="1" rIns="139700" wrap="square" tIns="63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Apêndice · biblioteca de evidências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7"/>
          <p:cNvSpPr txBox="1"/>
          <p:nvPr/>
        </p:nvSpPr>
        <p:spPr>
          <a:xfrm>
            <a:off x="13334695" y="552298"/>
            <a:ext cx="381030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{{AREA}} · {{ONDA}}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7"/>
          <p:cNvSpPr txBox="1"/>
          <p:nvPr/>
        </p:nvSpPr>
        <p:spPr>
          <a:xfrm>
            <a:off x="1143000" y="1009498"/>
            <a:ext cx="16002000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3900"/>
              <a:buFont typeface="Sora"/>
              <a:buNone/>
            </a:pPr>
            <a:r>
              <a:rPr b="1" i="0" lang="en-US" sz="39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Resultados por pergunta </a:t>
            </a:r>
            <a:r>
              <a:rPr b="1" i="1" lang="en-US" sz="3900" u="none" cap="none" strike="noStrike">
                <a:solidFill>
                  <a:srgbClr val="0285FF"/>
                </a:solidFill>
                <a:latin typeface="Sora"/>
                <a:ea typeface="Sora"/>
                <a:cs typeface="Sora"/>
                <a:sym typeface="Sora"/>
              </a:rPr>
              <a:t>em detalhe.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7"/>
          <p:cNvSpPr txBox="1"/>
          <p:nvPr/>
        </p:nvSpPr>
        <p:spPr>
          <a:xfrm>
            <a:off x="1143000" y="1638605"/>
            <a:ext cx="1600200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350"/>
              <a:buFont typeface="Poppins"/>
              <a:buNone/>
            </a:pPr>
            <a:r>
              <a:rPr b="0" i="0" lang="en-US" sz="135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Todas as perguntas da pesquisa para {{AREA}} · parte 2 de 3.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40" name="Google Shape;640;p17"/>
          <p:cNvGraphicFramePr/>
          <p:nvPr/>
        </p:nvGraphicFramePr>
        <p:xfrm>
          <a:off x="1143000" y="2667305"/>
          <a:ext cx="16011144" cy="4517136"/>
        </p:xfrm>
        <a:graphic>
          <a:graphicData uri="http://schemas.openxmlformats.org/drawingml/2006/table">
            <a:tbl>
              <a:tblPr>
                <a:noFill/>
                <a:tableStyleId>{0DAC2FE4-DBA5-4F3B-94BE-2F4E2715C5E2}</a:tableStyleId>
              </a:tblPr>
              <a:tblGrid>
                <a:gridCol w="2743200"/>
                <a:gridCol w="5897880"/>
                <a:gridCol w="1764792"/>
                <a:gridCol w="1435608"/>
                <a:gridCol w="1764792"/>
                <a:gridCol w="1280160"/>
                <a:gridCol w="1124712"/>
              </a:tblGrid>
              <a:tr h="347472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Poppins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DRIVER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52700" marB="15270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Poppins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PERGUNTA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52700" marB="15270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Poppins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FAVORÁVEL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52700" marB="15270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Poppins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VS ONDA ANT.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52700" marB="15270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Poppins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ASSOC. eNPS (r)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52700" marB="15270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Poppins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MÉDIA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52700" marB="15270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Poppins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VS FB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52700" marB="15270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5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{{L1_R0_C0}}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{{L1_R0_C1}}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{{L1_R0_C2}}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{{L1_R0_C3}}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{{L1_R0_C4}}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{{L1_R0_C5}}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{{L1_R0_C6}}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{{L1_R1_C0}}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{{L1_R1_C1}}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{{L1_R1_C2}}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{{L1_R1_C3}}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{{L1_R1_C4}}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{{L1_R1_C5}}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{{L1_R1_C6}}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{{L1_R2_C0}}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{{L1_R2_C1}}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{{L1_R2_C2}}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{{L1_R2_C3}}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{{L1_R2_C4}}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{{L1_R2_C5}}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{{L1_R2_C6}}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{{L1_R3_C0}}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{{L1_R3_C1}}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{{L1_R3_C2}}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{{L1_R3_C3}}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{{L1_R3_C4}}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{{L1_R3_C5}}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{{L1_R3_C6}}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{{L1_R4_C0}}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{{L1_R4_C1}}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{{L1_R4_C2}}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{{L1_R4_C3}}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{{L1_R4_C4}}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{{L1_R4_C5}}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{{L1_R4_C6}}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{{L1_R5_C0}}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{{L1_R5_C1}}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{{L1_R5_C2}}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{{L1_R5_C3}}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{{L1_R5_C4}}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{{L1_R5_C5}}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{{L1_R5_C6}}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{{L1_R6_C0}}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{{L1_R6_C1}}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{{L1_R6_C2}}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{{L1_R6_C3}}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{{L1_R6_C4}}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{{L1_R6_C5}}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{{L1_R6_C6}}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{{L1_R7_C0}}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{{L1_R7_C1}}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{{L1_R7_C2}}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{{L1_R7_C3}}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{{L1_R7_C4}}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{{L1_R7_C5}}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{{L1_R7_C6}}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{{L1_R8_C0}}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{{L1_R8_C1}}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{{L1_R8_C2}}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{{L1_R8_C3}}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{{L1_R8_C4}}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{{L1_R8_C5}}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{{L1_R8_C6}}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{{L1_R9_C0}}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{{L1_R9_C1}}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{{L1_R9_C2}}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{{L1_R9_C3}}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{{L1_R9_C4}}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{{L1_R9_C5}}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{{L1_R9_C6}}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{{L1_R10_C0}}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{{L1_R10_C1}}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{{L1_R10_C2}}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{{L1_R10_C3}}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{{L1_R10_C4}}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{{L1_R10_C5}}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{{L1_R10_C6}}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{{L1_R11_C0}}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{{L1_R11_C1}}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{{L1_R11_C2}}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{{L1_R11_C3}}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{{L1_R11_C4}}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{{L1_R11_C5}}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{{L1_R11_C6}}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1" name="Google Shape;641;p17"/>
          <p:cNvSpPr txBox="1"/>
          <p:nvPr/>
        </p:nvSpPr>
        <p:spPr>
          <a:xfrm>
            <a:off x="1447495" y="9353398"/>
            <a:ext cx="1543050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1050"/>
              <a:buFont typeface="Poppins"/>
              <a:buNone/>
            </a:pPr>
            <a:r>
              <a:rPr b="1" i="0" lang="en-US" sz="1050" u="none" cap="none" strike="noStrike">
                <a:solidFill>
                  <a:srgbClr val="16215B"/>
                </a:solidFill>
                <a:latin typeface="Poppins"/>
                <a:ea typeface="Poppins"/>
                <a:cs typeface="Poppins"/>
                <a:sym typeface="Poppins"/>
              </a:rPr>
              <a:t>Chave de leitura · Favorável = % de notas 4–5 · VS ONDA ANT. e VS FB em pontos percentuais do favorável · r = associação da pergunta com o eNPS dentro da área (só com 30+ respostas).</a:t>
            </a:r>
            <a:r>
              <a:rPr b="0" i="0" lang="en-US" sz="105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D"/>
        </a:solidFill>
      </p:bgPr>
    </p:bg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571723da0b9e7496659dc38ed713a537.png" id="633" name="Google Shape;633;p17"/>
          <p:cNvPicPr preferRelativeResize="0"/>
          <p:nvPr/>
        </p:nvPicPr>
        <p:blipFill rotWithShape="1">
          <a:blip r:embed="rId3">
            <a:alphaModFix/>
          </a:blip>
          <a:srcRect b="0" l="-2083" r="-2083" t="0"/>
          <a:stretch/>
        </p:blipFill>
        <p:spPr>
          <a:xfrm>
            <a:off x="1143000" y="2247595"/>
            <a:ext cx="16002000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17"/>
          <p:cNvSpPr/>
          <p:nvPr/>
        </p:nvSpPr>
        <p:spPr>
          <a:xfrm>
            <a:off x="1143000" y="9201607"/>
            <a:ext cx="16002000" cy="533095"/>
          </a:xfrm>
          <a:prstGeom prst="rect">
            <a:avLst/>
          </a:prstGeom>
          <a:solidFill>
            <a:srgbClr val="EAF0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75554a26810b287334efd5ad4280f6dc.png" id="635" name="Google Shape;635;p17"/>
          <p:cNvPicPr preferRelativeResize="0"/>
          <p:nvPr/>
        </p:nvPicPr>
        <p:blipFill rotWithShape="1">
          <a:blip r:embed="rId4">
            <a:alphaModFix/>
          </a:blip>
          <a:srcRect b="0" l="-201" r="-201" t="0"/>
          <a:stretch/>
        </p:blipFill>
        <p:spPr>
          <a:xfrm>
            <a:off x="0" y="0"/>
            <a:ext cx="18288000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17"/>
          <p:cNvSpPr txBox="1"/>
          <p:nvPr/>
        </p:nvSpPr>
        <p:spPr>
          <a:xfrm>
            <a:off x="1143000" y="495605"/>
            <a:ext cx="3162910" cy="277063"/>
          </a:xfrm>
          <a:prstGeom prst="rect">
            <a:avLst/>
          </a:prstGeom>
          <a:solidFill>
            <a:srgbClr val="16215B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500" lIns="139700" spcFirstLastPara="1" rIns="139700" wrap="square" tIns="63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Apêndice · biblioteca de evidências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7"/>
          <p:cNvSpPr txBox="1"/>
          <p:nvPr/>
        </p:nvSpPr>
        <p:spPr>
          <a:xfrm>
            <a:off x="13334695" y="552298"/>
            <a:ext cx="381030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{{AREA}} · {{ONDA}}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7"/>
          <p:cNvSpPr txBox="1"/>
          <p:nvPr/>
        </p:nvSpPr>
        <p:spPr>
          <a:xfrm>
            <a:off x="1143000" y="1009498"/>
            <a:ext cx="16002000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3900"/>
              <a:buFont typeface="Sora"/>
              <a:buNone/>
            </a:pPr>
            <a:r>
              <a:rPr b="1" i="0" lang="en-US" sz="39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Resultados por pergunta </a:t>
            </a:r>
            <a:r>
              <a:rPr b="1" i="1" lang="en-US" sz="3900" u="none" cap="none" strike="noStrike">
                <a:solidFill>
                  <a:srgbClr val="0285FF"/>
                </a:solidFill>
                <a:latin typeface="Sora"/>
                <a:ea typeface="Sora"/>
                <a:cs typeface="Sora"/>
                <a:sym typeface="Sora"/>
              </a:rPr>
              <a:t>em detalhe.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7"/>
          <p:cNvSpPr txBox="1"/>
          <p:nvPr/>
        </p:nvSpPr>
        <p:spPr>
          <a:xfrm>
            <a:off x="1143000" y="1638605"/>
            <a:ext cx="1600200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350"/>
              <a:buFont typeface="Poppins"/>
              <a:buNone/>
            </a:pPr>
            <a:r>
              <a:rPr b="0" i="0" lang="en-US" sz="135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Todas as perguntas da pesquisa para {{AREA}} · parte 3 de 3.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40" name="Google Shape;640;p17"/>
          <p:cNvGraphicFramePr/>
          <p:nvPr/>
        </p:nvGraphicFramePr>
        <p:xfrm>
          <a:off x="1143000" y="2667305"/>
          <a:ext cx="16011144" cy="4517136"/>
        </p:xfrm>
        <a:graphic>
          <a:graphicData uri="http://schemas.openxmlformats.org/drawingml/2006/table">
            <a:tbl>
              <a:tblPr>
                <a:noFill/>
                <a:tableStyleId>{0DAC2FE4-DBA5-4F3B-94BE-2F4E2715C5E2}</a:tableStyleId>
              </a:tblPr>
              <a:tblGrid>
                <a:gridCol w="2743200"/>
                <a:gridCol w="5897880"/>
                <a:gridCol w="1764792"/>
                <a:gridCol w="1435608"/>
                <a:gridCol w="1764792"/>
                <a:gridCol w="1280160"/>
                <a:gridCol w="1124712"/>
              </a:tblGrid>
              <a:tr h="347472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Poppins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DRIVER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52700" marB="15270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Poppins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PERGUNTA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52700" marB="15270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Poppins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FAVORÁVEL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52700" marB="15270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Poppins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VS ONDA ANT.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52700" marB="15270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Poppins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ASSOC. eNPS (r)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52700" marB="15270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Poppins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MÉDIA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52700" marB="15270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Poppins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VS FB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52700" marB="15270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5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{{L2_R0_C0}}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{{L2_R0_C1}}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{{L2_R0_C2}}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{{L2_R0_C3}}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{{L2_R0_C4}}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{{L2_R0_C5}}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{{L2_R0_C6}}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{{L2_R1_C0}}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{{L2_R1_C1}}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{{L2_R1_C2}}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{{L2_R1_C3}}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{{L2_R1_C4}}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{{L2_R1_C5}}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{{L2_R1_C6}}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{{L2_R2_C0}}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{{L2_R2_C1}}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{{L2_R2_C2}}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{{L2_R2_C3}}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{{L2_R2_C4}}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{{L2_R2_C5}}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{{L2_R2_C6}}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{{L2_R3_C0}}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{{L2_R3_C1}}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{{L2_R3_C2}}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{{L2_R3_C3}}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{{L2_R3_C4}}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{{L2_R3_C5}}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{{L2_R3_C6}}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{{L2_R4_C0}}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{{L2_R4_C1}}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{{L2_R4_C2}}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{{L2_R4_C3}}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{{L2_R4_C4}}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{{L2_R4_C5}}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{{L2_R4_C6}}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{{L2_R5_C0}}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{{L2_R5_C1}}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{{L2_R5_C2}}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{{L2_R5_C3}}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{{L2_R5_C4}}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{{L2_R5_C5}}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{{L2_R5_C6}}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{{L2_R6_C0}}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{{L2_R6_C1}}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{{L2_R6_C2}}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{{L2_R6_C3}}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{{L2_R6_C4}}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{{L2_R6_C5}}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{{L2_R6_C6}}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{{L2_R7_C0}}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{{L2_R7_C1}}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{{L2_R7_C2}}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{{L2_R7_C3}}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{{L2_R7_C4}}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{{L2_R7_C5}}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{{L2_R7_C6}}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{{L2_R8_C0}}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{{L2_R8_C1}}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{{L2_R8_C2}}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{{L2_R8_C3}}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{{L2_R8_C4}}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{{L2_R8_C5}}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{{L2_R8_C6}}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{{L2_R9_C0}}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{{L2_R9_C1}}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{{L2_R9_C2}}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{{L2_R9_C3}}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{{L2_R9_C4}}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{{L2_R9_C5}}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{{L2_R9_C6}}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{{L2_R10_C0}}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{{L2_R10_C1}}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{{L2_R10_C2}}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{{L2_R10_C3}}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{{L2_R10_C4}}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{{L2_R10_C5}}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{{L2_R10_C6}}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{{L2_R11_C0}}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85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{{L2_R11_C1}}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61850" marB="161850" marR="171900" marL="1719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{{L2_R11_C2}}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{{L2_R11_C3}}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{{L2_R11_C4}}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{{L2_R11_C5}}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850"/>
                        <a:t>{{L2_R11_C6}}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1" name="Google Shape;641;p17"/>
          <p:cNvSpPr txBox="1"/>
          <p:nvPr/>
        </p:nvSpPr>
        <p:spPr>
          <a:xfrm>
            <a:off x="1447495" y="9353398"/>
            <a:ext cx="1543050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1050"/>
              <a:buFont typeface="Poppins"/>
              <a:buNone/>
            </a:pPr>
            <a:r>
              <a:rPr b="1" i="0" lang="en-US" sz="1050" u="none" cap="none" strike="noStrike">
                <a:solidFill>
                  <a:srgbClr val="16215B"/>
                </a:solidFill>
                <a:latin typeface="Poppins"/>
                <a:ea typeface="Poppins"/>
                <a:cs typeface="Poppins"/>
                <a:sym typeface="Poppins"/>
              </a:rPr>
              <a:t>Chave de leitura · Favorável = % de notas 4–5 · VS ONDA ANT. e VS FB em pontos percentuais do favorável · r = associação da pergunta com o eNPS dentro da área (só com 30+ respostas).</a:t>
            </a:r>
            <a:r>
              <a:rPr b="0" i="0" lang="en-US" sz="105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D"/>
        </a:solidFill>
      </p:bgPr>
    </p:bg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571723da0b9e7496659dc38ed713a537.png" id="647" name="Google Shape;647;p18"/>
          <p:cNvPicPr preferRelativeResize="0"/>
          <p:nvPr/>
        </p:nvPicPr>
        <p:blipFill rotWithShape="1">
          <a:blip r:embed="rId3">
            <a:alphaModFix/>
          </a:blip>
          <a:srcRect b="0" l="-2083" r="-2083" t="0"/>
          <a:stretch/>
        </p:blipFill>
        <p:spPr>
          <a:xfrm>
            <a:off x="1143000" y="2247595"/>
            <a:ext cx="16002000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18"/>
          <p:cNvSpPr/>
          <p:nvPr/>
        </p:nvSpPr>
        <p:spPr>
          <a:xfrm>
            <a:off x="1143000" y="2667305"/>
            <a:ext cx="10382098" cy="4286707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18"/>
          <p:cNvSpPr/>
          <p:nvPr/>
        </p:nvSpPr>
        <p:spPr>
          <a:xfrm>
            <a:off x="11811305" y="2667305"/>
            <a:ext cx="5333695" cy="4286707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18"/>
          <p:cNvSpPr/>
          <p:nvPr/>
        </p:nvSpPr>
        <p:spPr>
          <a:xfrm>
            <a:off x="1143000" y="7200900"/>
            <a:ext cx="16002000" cy="190469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75554a26810b287334efd5ad4280f6dc.png" id="651" name="Google Shape;651;p18"/>
          <p:cNvPicPr preferRelativeResize="0"/>
          <p:nvPr/>
        </p:nvPicPr>
        <p:blipFill rotWithShape="1">
          <a:blip r:embed="rId4">
            <a:alphaModFix/>
          </a:blip>
          <a:srcRect b="0" l="-201" r="-201" t="0"/>
          <a:stretch/>
        </p:blipFill>
        <p:spPr>
          <a:xfrm>
            <a:off x="0" y="0"/>
            <a:ext cx="182880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0813a1ce1044c86ef0e1b0e32aea1514.png" id="652" name="Google Shape;652;p18"/>
          <p:cNvPicPr preferRelativeResize="0"/>
          <p:nvPr/>
        </p:nvPicPr>
        <p:blipFill rotWithShape="1">
          <a:blip r:embed="rId5">
            <a:alphaModFix/>
          </a:blip>
          <a:srcRect b="-401" l="0" r="0" t="-401"/>
          <a:stretch/>
        </p:blipFill>
        <p:spPr>
          <a:xfrm>
            <a:off x="1143000" y="2667305"/>
            <a:ext cx="10382098" cy="576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ccfed60e3a0044a8bbba5629bd0d74b8.png" id="654" name="Google Shape;654;p18"/>
          <p:cNvPicPr preferRelativeResize="0"/>
          <p:nvPr/>
        </p:nvPicPr>
        <p:blipFill rotWithShape="1">
          <a:blip r:embed="rId6">
            <a:alphaModFix/>
          </a:blip>
          <a:srcRect b="-403" l="0" r="0" t="-403"/>
          <a:stretch/>
        </p:blipFill>
        <p:spPr>
          <a:xfrm>
            <a:off x="11811305" y="2667305"/>
            <a:ext cx="5333695" cy="576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53e00d751ee909f38b683eed3f58df22.png" id="655" name="Google Shape;655;p18"/>
          <p:cNvPicPr preferRelativeResize="0"/>
          <p:nvPr/>
        </p:nvPicPr>
        <p:blipFill rotWithShape="1">
          <a:blip r:embed="rId7">
            <a:alphaModFix/>
          </a:blip>
          <a:srcRect b="-400" l="0" r="0" t="-400"/>
          <a:stretch/>
        </p:blipFill>
        <p:spPr>
          <a:xfrm>
            <a:off x="1143000" y="7200900"/>
            <a:ext cx="16002000" cy="57607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18"/>
          <p:cNvSpPr/>
          <p:nvPr/>
        </p:nvSpPr>
        <p:spPr>
          <a:xfrm>
            <a:off x="1447495" y="7848295"/>
            <a:ext cx="15411298" cy="1009498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18"/>
          <p:cNvSpPr txBox="1"/>
          <p:nvPr/>
        </p:nvSpPr>
        <p:spPr>
          <a:xfrm>
            <a:off x="1143000" y="495605"/>
            <a:ext cx="3162910" cy="277063"/>
          </a:xfrm>
          <a:prstGeom prst="rect">
            <a:avLst/>
          </a:prstGeom>
          <a:solidFill>
            <a:srgbClr val="16215B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500" lIns="139700" spcFirstLastPara="1" rIns="139700" wrap="square" tIns="63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Apêndice · biblioteca de evidências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8"/>
          <p:cNvSpPr txBox="1"/>
          <p:nvPr/>
        </p:nvSpPr>
        <p:spPr>
          <a:xfrm>
            <a:off x="13334695" y="552298"/>
            <a:ext cx="381030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{{AREA}} · todas as ondas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8"/>
          <p:cNvSpPr txBox="1"/>
          <p:nvPr/>
        </p:nvSpPr>
        <p:spPr>
          <a:xfrm>
            <a:off x="1143000" y="1009498"/>
            <a:ext cx="16002000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3900"/>
              <a:buFont typeface="Sora"/>
              <a:buNone/>
            </a:pPr>
            <a:r>
              <a:rPr b="1" i="0" lang="en-US" sz="39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Resultados históricos </a:t>
            </a:r>
            <a:r>
              <a:rPr b="1" i="1" lang="en-US" sz="3900" u="none" cap="none" strike="noStrike">
                <a:solidFill>
                  <a:srgbClr val="0285FF"/>
                </a:solidFill>
                <a:latin typeface="Sora"/>
                <a:ea typeface="Sora"/>
                <a:cs typeface="Sora"/>
                <a:sym typeface="Sora"/>
              </a:rPr>
              <a:t>por onda.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8"/>
          <p:cNvSpPr txBox="1"/>
          <p:nvPr/>
        </p:nvSpPr>
        <p:spPr>
          <a:xfrm>
            <a:off x="1143000" y="1638605"/>
            <a:ext cx="1600200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350"/>
              <a:buFont typeface="Poppins"/>
              <a:buNone/>
            </a:pPr>
            <a:r>
              <a:rPr b="0" i="0" lang="en-US" sz="135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Resultados do Departamento ao longo de todas as ondas disponíveis.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8"/>
          <p:cNvSpPr txBox="1"/>
          <p:nvPr/>
        </p:nvSpPr>
        <p:spPr>
          <a:xfrm>
            <a:off x="1447495" y="2915107"/>
            <a:ext cx="9811512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0285FF"/>
                </a:solidFill>
                <a:latin typeface="Poppins"/>
                <a:ea typeface="Poppins"/>
                <a:cs typeface="Poppins"/>
                <a:sym typeface="Poppins"/>
              </a:rPr>
              <a:t>Evidência da pesquisa · visão de tendência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8"/>
          <p:cNvSpPr txBox="1"/>
          <p:nvPr/>
        </p:nvSpPr>
        <p:spPr>
          <a:xfrm>
            <a:off x="12115800" y="2915107"/>
            <a:ext cx="47631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0285FF"/>
                </a:solidFill>
                <a:latin typeface="Poppins"/>
                <a:ea typeface="Poppins"/>
                <a:cs typeface="Poppins"/>
                <a:sym typeface="Poppins"/>
              </a:rPr>
              <a:t>Indicadores por onda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64" name="Google Shape;664;p18"/>
          <p:cNvGraphicFramePr/>
          <p:nvPr/>
        </p:nvGraphicFramePr>
        <p:xfrm>
          <a:off x="12115800" y="3314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{0DAC2FE4-DBA5-4F3B-94BE-2F4E2715C5E2}</a:tableStyleId>
              </a:tblPr>
              <a:tblGrid>
                <a:gridCol w="1161300"/>
                <a:gridCol w="906175"/>
                <a:gridCol w="1152150"/>
                <a:gridCol w="1505100"/>
              </a:tblGrid>
              <a:tr h="49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5B"/>
                        </a:buClr>
                        <a:buSzPts val="825"/>
                        <a:buFont typeface="Poppins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16215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ONDA</a:t>
                      </a:r>
                      <a:endParaRPr sz="82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14300" marB="114300" marR="133500" marL="1335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5B"/>
                        </a:buClr>
                        <a:buSzPts val="825"/>
                        <a:buFont typeface="Poppins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16215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ENPS</a:t>
                      </a:r>
                      <a:endParaRPr sz="82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14300" marB="114300" marR="133500" marL="1335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5B"/>
                        </a:buClr>
                        <a:buSzPts val="825"/>
                        <a:buFont typeface="Poppins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16215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SATISF.</a:t>
                      </a:r>
                      <a:endParaRPr sz="82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14300" marB="114300" marR="133500" marL="1335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5B"/>
                        </a:buClr>
                        <a:buSzPts val="825"/>
                        <a:buFont typeface="Poppins"/>
                        <a:buNone/>
                      </a:pPr>
                      <a:r>
                        <a:rPr b="1" lang="en-US" sz="825" u="none" cap="none" strike="noStrike">
                          <a:solidFill>
                            <a:srgbClr val="16215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RISCO RET.</a:t>
                      </a:r>
                      <a:endParaRPr sz="825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14300" marB="114300" marR="133500" marL="1335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11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{{H_R0_C0}}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52700" marB="152700" marR="133500" marL="1335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1100"/>
                        <a:t>{{H_R0_C1}}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1100"/>
                        <a:t>{{H_R0_C2}}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1100"/>
                        <a:t>{{H_R0_C3}}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11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{{H_R1_C0}}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52700" marB="152700" marR="133500" marL="1335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1100"/>
                        <a:t>{{H_R1_C1}}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1100"/>
                        <a:t>{{H_R1_C2}}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1100"/>
                        <a:t>{{H_R1_C3}}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11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{{H_R2_C0}}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52700" marB="152700" marR="133500" marL="1335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1100"/>
                        <a:t>{{H_R2_C1}}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1100"/>
                        <a:t>{{H_R2_C2}}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1100"/>
                        <a:t>{{H_R2_C3}}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11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{{H_R3_C0}}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52700" marB="152700" marR="133500" marL="1335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1100"/>
                        <a:t>{{H_R3_C1}}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1100"/>
                        <a:t>{{H_R3_C2}}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1100"/>
                        <a:t>{{H_R3_C3}}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A4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1100" u="none" cap="none" strike="noStrike">
                          <a:solidFill>
                            <a:srgbClr val="131A4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{{H_R4_C0}}</a:t>
                      </a:r>
                      <a:endParaRPr sz="10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52700" marB="152700" marR="133500" marL="13350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1100"/>
                        <a:t>{{H_R4_C1}}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1100"/>
                        <a:t>{{H_R4_C2}}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1100"/>
                        <a:t>{{H_R4_C3}}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50" marB="9150" marR="9150" marL="9150" anchor="ctr">
                    <a:lnL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65" name="Google Shape;665;p18"/>
          <p:cNvSpPr txBox="1"/>
          <p:nvPr/>
        </p:nvSpPr>
        <p:spPr>
          <a:xfrm>
            <a:off x="1447495" y="7448702"/>
            <a:ext cx="571500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5CF5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895CF5"/>
                </a:solidFill>
                <a:latin typeface="Poppins"/>
                <a:ea typeface="Poppins"/>
                <a:cs typeface="Poppins"/>
                <a:sym typeface="Poppins"/>
              </a:rPr>
              <a:t>Movimento dos drivers entre ondas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8"/>
          <p:cNvSpPr txBox="1"/>
          <p:nvPr/>
        </p:nvSpPr>
        <p:spPr>
          <a:xfrm>
            <a:off x="1143000" y="9391802"/>
            <a:ext cx="1600200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1050"/>
              <a:buFont typeface="Poppins"/>
              <a:buNone/>
            </a:pPr>
            <a:r>
              <a:rPr b="1" i="0" lang="en-US" sz="1050" u="none" cap="none" strike="noStrike">
                <a:solidFill>
                  <a:srgbClr val="16215B"/>
                </a:solidFill>
                <a:latin typeface="Poppins"/>
                <a:ea typeface="Poppins"/>
                <a:cs typeface="Poppins"/>
                <a:sym typeface="Poppins"/>
              </a:rPr>
              <a:t>Nota ·</a:t>
            </a:r>
            <a:r>
              <a:rPr b="0" i="0" lang="en-US" sz="105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 Diferenças entre ondas não estabelecem causa. O tamanho da população pode variar entre ondas.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68" name="Chart 667"/>
          <p:cNvGraphicFramePr>
            <a:graphicFrameLocks noGrp="1"/>
          </p:cNvGraphicFramePr>
          <p:nvPr/>
        </p:nvGraphicFramePr>
        <p:xfrm>
          <a:off x="1444752" y="3154680"/>
          <a:ext cx="3154680" cy="3611880"/>
        </p:xfrm>
        <a:graphic>
          <a:graphicData uri="http://schemas.openxmlformats.org/drawingml/2006/chart">
            <c:chart r:id="rId8"/>
          </a:graphicData>
        </a:graphic>
      </p:graphicFrame>
      <p:graphicFrame>
        <p:nvGraphicFramePr>
          <p:cNvPr id="669" name="Chart 668"/>
          <p:cNvGraphicFramePr>
            <a:graphicFrameLocks noGrp="1"/>
          </p:cNvGraphicFramePr>
          <p:nvPr/>
        </p:nvGraphicFramePr>
        <p:xfrm>
          <a:off x="4764024" y="3154680"/>
          <a:ext cx="3154680" cy="3611880"/>
        </p:xfrm>
        <a:graphic>
          <a:graphicData uri="http://schemas.openxmlformats.org/drawingml/2006/chart">
            <c:chart r:id="rId9"/>
          </a:graphicData>
        </a:graphic>
      </p:graphicFrame>
      <p:graphicFrame>
        <p:nvGraphicFramePr>
          <p:cNvPr id="670" name="Chart 669"/>
          <p:cNvGraphicFramePr>
            <a:graphicFrameLocks noGrp="1"/>
          </p:cNvGraphicFramePr>
          <p:nvPr/>
        </p:nvGraphicFramePr>
        <p:xfrm>
          <a:off x="8083296" y="3154680"/>
          <a:ext cx="3154680" cy="3611880"/>
        </p:xfrm>
        <a:graphic>
          <a:graphicData uri="http://schemas.openxmlformats.org/drawingml/2006/chart">
            <c:chart r:id="rId10"/>
          </a:graphicData>
        </a:graphic>
      </p:graphicFrame>
      <p:graphicFrame>
        <p:nvGraphicFramePr>
          <p:cNvPr id="671" name="Chart 670"/>
          <p:cNvGraphicFramePr>
            <a:graphicFrameLocks noGrp="1"/>
          </p:cNvGraphicFramePr>
          <p:nvPr/>
        </p:nvGraphicFramePr>
        <p:xfrm>
          <a:off x="1554480" y="7863840"/>
          <a:ext cx="15179040" cy="987552"/>
        </p:xfrm>
        <a:graphic>
          <a:graphicData uri="http://schemas.openxmlformats.org/drawingml/2006/chart">
            <c:chart r:id="rId11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D"/>
        </a:solidFill>
      </p:bgPr>
    </p:bg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571723da0b9e7496659dc38ed713a537.png" id="673" name="Google Shape;673;p19"/>
          <p:cNvPicPr preferRelativeResize="0"/>
          <p:nvPr/>
        </p:nvPicPr>
        <p:blipFill rotWithShape="1">
          <a:blip r:embed="rId3">
            <a:alphaModFix/>
          </a:blip>
          <a:srcRect b="0" l="-2083" r="-2083" t="0"/>
          <a:stretch/>
        </p:blipFill>
        <p:spPr>
          <a:xfrm>
            <a:off x="1143000" y="2247595"/>
            <a:ext cx="16002000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19"/>
          <p:cNvSpPr/>
          <p:nvPr/>
        </p:nvSpPr>
        <p:spPr>
          <a:xfrm>
            <a:off x="1143000" y="2667305"/>
            <a:ext cx="7810805" cy="3143707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19"/>
          <p:cNvSpPr/>
          <p:nvPr/>
        </p:nvSpPr>
        <p:spPr>
          <a:xfrm>
            <a:off x="9334195" y="2667305"/>
            <a:ext cx="7810805" cy="3143707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19"/>
          <p:cNvSpPr/>
          <p:nvPr/>
        </p:nvSpPr>
        <p:spPr>
          <a:xfrm>
            <a:off x="1143000" y="6057900"/>
            <a:ext cx="7810805" cy="276240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19"/>
          <p:cNvSpPr/>
          <p:nvPr/>
        </p:nvSpPr>
        <p:spPr>
          <a:xfrm>
            <a:off x="9334195" y="6057900"/>
            <a:ext cx="7810805" cy="276240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19"/>
          <p:cNvSpPr/>
          <p:nvPr/>
        </p:nvSpPr>
        <p:spPr>
          <a:xfrm>
            <a:off x="1143000" y="9068105"/>
            <a:ext cx="16002000" cy="666598"/>
          </a:xfrm>
          <a:prstGeom prst="rect">
            <a:avLst/>
          </a:prstGeom>
          <a:solidFill>
            <a:srgbClr val="16215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75554a26810b287334efd5ad4280f6dc.png" id="679" name="Google Shape;679;p19"/>
          <p:cNvPicPr preferRelativeResize="0"/>
          <p:nvPr/>
        </p:nvPicPr>
        <p:blipFill rotWithShape="1">
          <a:blip r:embed="rId4">
            <a:alphaModFix/>
          </a:blip>
          <a:srcRect b="0" l="-201" r="-201" t="0"/>
          <a:stretch/>
        </p:blipFill>
        <p:spPr>
          <a:xfrm>
            <a:off x="0" y="0"/>
            <a:ext cx="182880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e263baab20bd28922bb155b0f4d0f9c0.png" id="680" name="Google Shape;680;p19"/>
          <p:cNvPicPr preferRelativeResize="0"/>
          <p:nvPr/>
        </p:nvPicPr>
        <p:blipFill rotWithShape="1">
          <a:blip r:embed="rId5">
            <a:alphaModFix/>
          </a:blip>
          <a:srcRect b="-398" l="0" r="0" t="-398"/>
          <a:stretch/>
        </p:blipFill>
        <p:spPr>
          <a:xfrm>
            <a:off x="1143000" y="2667305"/>
            <a:ext cx="7810805" cy="57607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19"/>
          <p:cNvSpPr/>
          <p:nvPr/>
        </p:nvSpPr>
        <p:spPr>
          <a:xfrm>
            <a:off x="1447495" y="3771900"/>
            <a:ext cx="7220102" cy="1790395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160ed63ff4897580506bbf37f334b853.png" id="682" name="Google Shape;682;p19"/>
          <p:cNvPicPr preferRelativeResize="0"/>
          <p:nvPr/>
        </p:nvPicPr>
        <p:blipFill rotWithShape="1">
          <a:blip r:embed="rId6">
            <a:alphaModFix/>
          </a:blip>
          <a:srcRect b="-398" l="0" r="0" t="-398"/>
          <a:stretch/>
        </p:blipFill>
        <p:spPr>
          <a:xfrm>
            <a:off x="9334195" y="2667305"/>
            <a:ext cx="7810805" cy="57607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19"/>
          <p:cNvSpPr/>
          <p:nvPr/>
        </p:nvSpPr>
        <p:spPr>
          <a:xfrm>
            <a:off x="9639605" y="3771900"/>
            <a:ext cx="7220102" cy="1790395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5c8bf8acd772ec8c06d393da37b0cf8d.png" id="684" name="Google Shape;684;p19"/>
          <p:cNvPicPr preferRelativeResize="0"/>
          <p:nvPr/>
        </p:nvPicPr>
        <p:blipFill rotWithShape="1">
          <a:blip r:embed="rId7">
            <a:alphaModFix/>
          </a:blip>
          <a:srcRect b="-398" l="0" r="0" t="-398"/>
          <a:stretch/>
        </p:blipFill>
        <p:spPr>
          <a:xfrm>
            <a:off x="1143000" y="6057900"/>
            <a:ext cx="7810805" cy="57607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19"/>
          <p:cNvSpPr/>
          <p:nvPr/>
        </p:nvSpPr>
        <p:spPr>
          <a:xfrm>
            <a:off x="1447495" y="7162495"/>
            <a:ext cx="7220102" cy="1410005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5a165d334a73f7fa335269d0f60d777a.png" id="686" name="Google Shape;686;p19"/>
          <p:cNvPicPr preferRelativeResize="0"/>
          <p:nvPr/>
        </p:nvPicPr>
        <p:blipFill rotWithShape="1">
          <a:blip r:embed="rId8">
            <a:alphaModFix/>
          </a:blip>
          <a:srcRect b="-398" l="0" r="0" t="-398"/>
          <a:stretch/>
        </p:blipFill>
        <p:spPr>
          <a:xfrm>
            <a:off x="9334195" y="6057900"/>
            <a:ext cx="7810805" cy="57607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19"/>
          <p:cNvSpPr/>
          <p:nvPr/>
        </p:nvSpPr>
        <p:spPr>
          <a:xfrm>
            <a:off x="9639605" y="7162495"/>
            <a:ext cx="7220102" cy="1410005"/>
          </a:xfrm>
          <a:prstGeom prst="rect">
            <a:avLst/>
          </a:prstGeom>
          <a:solidFill>
            <a:srgbClr val="F4F7FC"/>
          </a:solidFill>
          <a:ln cap="flat" cmpd="sng" w="12700">
            <a:solidFill>
              <a:srgbClr val="D9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19"/>
          <p:cNvSpPr txBox="1"/>
          <p:nvPr/>
        </p:nvSpPr>
        <p:spPr>
          <a:xfrm>
            <a:off x="1143000" y="495605"/>
            <a:ext cx="3162910" cy="277063"/>
          </a:xfrm>
          <a:prstGeom prst="rect">
            <a:avLst/>
          </a:prstGeom>
          <a:solidFill>
            <a:srgbClr val="16215B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500" lIns="139700" spcFirstLastPara="1" rIns="139700" wrap="square" tIns="63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Apêndice · biblioteca de evidências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19"/>
          <p:cNvSpPr txBox="1"/>
          <p:nvPr/>
        </p:nvSpPr>
        <p:spPr>
          <a:xfrm>
            <a:off x="13334695" y="552298"/>
            <a:ext cx="381030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{{AREA}} · {{ONDA}}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9"/>
          <p:cNvSpPr txBox="1"/>
          <p:nvPr/>
        </p:nvSpPr>
        <p:spPr>
          <a:xfrm>
            <a:off x="1143000" y="1009498"/>
            <a:ext cx="16002000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3900"/>
              <a:buFont typeface="Sora"/>
              <a:buNone/>
            </a:pPr>
            <a:r>
              <a:rPr b="1" i="0" lang="en-US" sz="39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Retenção e </a:t>
            </a:r>
            <a:r>
              <a:rPr b="1" i="1" lang="en-US" sz="3900" u="none" cap="none" strike="noStrike">
                <a:solidFill>
                  <a:srgbClr val="0285FF"/>
                </a:solidFill>
                <a:latin typeface="Sora"/>
                <a:ea typeface="Sora"/>
                <a:cs typeface="Sora"/>
                <a:sym typeface="Sora"/>
              </a:rPr>
              <a:t>segmentação</a:t>
            </a:r>
            <a:r>
              <a:rPr b="1" i="0" lang="en-US" sz="390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 da população.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19"/>
          <p:cNvSpPr txBox="1"/>
          <p:nvPr/>
        </p:nvSpPr>
        <p:spPr>
          <a:xfrm>
            <a:off x="1143000" y="1638605"/>
            <a:ext cx="1600200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4"/>
              </a:buClr>
              <a:buSzPts val="1350"/>
              <a:buFont typeface="Poppins"/>
              <a:buNone/>
            </a:pPr>
            <a:r>
              <a:rPr b="0" i="0" lang="en-US" sz="1350" u="none" cap="none" strike="noStrike">
                <a:solidFill>
                  <a:srgbClr val="4B5274"/>
                </a:solidFill>
                <a:latin typeface="Poppins"/>
                <a:ea typeface="Poppins"/>
                <a:cs typeface="Poppins"/>
                <a:sym typeface="Poppins"/>
              </a:rPr>
              <a:t>Visões detalhadas por tempo de casa e escopo de função, e outras segmentações quando disponíveis.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19"/>
          <p:cNvSpPr txBox="1"/>
          <p:nvPr/>
        </p:nvSpPr>
        <p:spPr>
          <a:xfrm>
            <a:off x="1447495" y="2915107"/>
            <a:ext cx="7239305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5CF5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895CF5"/>
                </a:solidFill>
                <a:latin typeface="Poppins"/>
                <a:ea typeface="Poppins"/>
                <a:cs typeface="Poppins"/>
                <a:sym typeface="Poppins"/>
              </a:rPr>
              <a:t>Tempo de casa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9"/>
          <p:cNvSpPr txBox="1"/>
          <p:nvPr/>
        </p:nvSpPr>
        <p:spPr>
          <a:xfrm>
            <a:off x="1447495" y="3152851"/>
            <a:ext cx="7239305" cy="314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1950"/>
              <a:buFont typeface="Sora"/>
              <a:buNone/>
            </a:pPr>
            <a:r>
              <a:rPr b="1" i="0" lang="en-US" sz="195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Risco de retenção por faixa de tempo de casa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19"/>
          <p:cNvSpPr txBox="1"/>
          <p:nvPr/>
        </p:nvSpPr>
        <p:spPr>
          <a:xfrm>
            <a:off x="9639605" y="2915107"/>
            <a:ext cx="7239305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0285FF"/>
                </a:solidFill>
                <a:latin typeface="Poppins"/>
                <a:ea typeface="Poppins"/>
                <a:cs typeface="Poppins"/>
                <a:sym typeface="Poppins"/>
              </a:rPr>
              <a:t>Escopo de função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9"/>
          <p:cNvSpPr txBox="1"/>
          <p:nvPr/>
        </p:nvSpPr>
        <p:spPr>
          <a:xfrm>
            <a:off x="9639605" y="3152851"/>
            <a:ext cx="7239305" cy="314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1950"/>
              <a:buFont typeface="Sora"/>
              <a:buNone/>
            </a:pPr>
            <a:r>
              <a:rPr b="1" i="0" lang="en-US" sz="195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Lideranças vs pessoas individuais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9"/>
          <p:cNvSpPr txBox="1"/>
          <p:nvPr/>
        </p:nvSpPr>
        <p:spPr>
          <a:xfrm>
            <a:off x="1447495" y="6305702"/>
            <a:ext cx="7239305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B673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2BB673"/>
                </a:solidFill>
                <a:latin typeface="Poppins"/>
                <a:ea typeface="Poppins"/>
                <a:cs typeface="Poppins"/>
                <a:sym typeface="Poppins"/>
              </a:rPr>
              <a:t>Marca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9"/>
          <p:cNvSpPr txBox="1"/>
          <p:nvPr/>
        </p:nvSpPr>
        <p:spPr>
          <a:xfrm>
            <a:off x="1447495" y="6543446"/>
            <a:ext cx="7239305" cy="314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1950"/>
              <a:buFont typeface="Sora"/>
              <a:buNone/>
            </a:pPr>
            <a:r>
              <a:rPr b="1" i="0" lang="en-US" sz="195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Resultados por marca, quando relevante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9"/>
          <p:cNvSpPr txBox="1"/>
          <p:nvPr/>
        </p:nvSpPr>
        <p:spPr>
          <a:xfrm>
            <a:off x="9639605" y="6305702"/>
            <a:ext cx="7239305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68A14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B68A14"/>
                </a:solidFill>
                <a:latin typeface="Poppins"/>
                <a:ea typeface="Poppins"/>
                <a:cs typeface="Poppins"/>
                <a:sym typeface="Poppins"/>
              </a:rPr>
              <a:t>Modelo de trabalho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19"/>
          <p:cNvSpPr txBox="1"/>
          <p:nvPr/>
        </p:nvSpPr>
        <p:spPr>
          <a:xfrm>
            <a:off x="9639605" y="6543446"/>
            <a:ext cx="7821778" cy="314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5B"/>
              </a:buClr>
              <a:buSzPts val="1950"/>
              <a:buFont typeface="Sora"/>
              <a:buNone/>
            </a:pPr>
            <a:r>
              <a:rPr b="1" i="0" lang="en-US" sz="1950" u="none" cap="none" strike="noStrike">
                <a:solidFill>
                  <a:srgbClr val="16215B"/>
                </a:solidFill>
                <a:latin typeface="Sora"/>
                <a:ea typeface="Sora"/>
                <a:cs typeface="Sora"/>
                <a:sym typeface="Sora"/>
              </a:rPr>
              <a:t>Resultados por modelo de trabalho, quando relevante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9"/>
          <p:cNvSpPr txBox="1"/>
          <p:nvPr/>
        </p:nvSpPr>
        <p:spPr>
          <a:xfrm>
            <a:off x="1447495" y="9258300"/>
            <a:ext cx="154305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CD4B"/>
              </a:buClr>
              <a:buSzPts val="1125"/>
              <a:buFont typeface="Poppins"/>
              <a:buNone/>
            </a:pPr>
            <a:r>
              <a:rPr b="1" i="0" lang="en-US" sz="1125" u="none" cap="none" strike="noStrike">
                <a:solidFill>
                  <a:srgbClr val="F8CD4B"/>
                </a:solidFill>
                <a:latin typeface="Poppins"/>
                <a:ea typeface="Poppins"/>
                <a:cs typeface="Poppins"/>
                <a:sym typeface="Poppins"/>
              </a:rPr>
              <a:t>Cuidado ·</a:t>
            </a:r>
            <a:r>
              <a:rPr b="0" i="0" lang="en-US" sz="11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Recortes por segmento com </a:t>
            </a:r>
            <a:r>
              <a:rPr b="0" i="1" lang="en-US" sz="11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b="0" i="0" lang="en-US" sz="11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pequeno são apenas indicativos. Quando uma população fica abaixo do limiar de divulgação, nenhum resultado é mostrado.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05" name="Chart 704"/>
          <p:cNvGraphicFramePr>
            <a:graphicFrameLocks noGrp="1"/>
          </p:cNvGraphicFramePr>
          <p:nvPr/>
        </p:nvGraphicFramePr>
        <p:xfrm>
          <a:off x="1481328" y="3785615"/>
          <a:ext cx="7150608" cy="1755648"/>
        </p:xfrm>
        <a:graphic>
          <a:graphicData uri="http://schemas.openxmlformats.org/drawingml/2006/chart">
            <c:chart r:id="rId9"/>
          </a:graphicData>
        </a:graphic>
      </p:graphicFrame>
      <p:graphicFrame>
        <p:nvGraphicFramePr>
          <p:cNvPr id="706" name="Chart 705"/>
          <p:cNvGraphicFramePr>
            <a:graphicFrameLocks noGrp="1"/>
          </p:cNvGraphicFramePr>
          <p:nvPr/>
        </p:nvGraphicFramePr>
        <p:xfrm>
          <a:off x="9674352" y="3785615"/>
          <a:ext cx="7150608" cy="1755648"/>
        </p:xfrm>
        <a:graphic>
          <a:graphicData uri="http://schemas.openxmlformats.org/drawingml/2006/chart">
            <c:chart r:id="rId10"/>
          </a:graphicData>
        </a:graphic>
      </p:graphicFrame>
      <p:graphicFrame>
        <p:nvGraphicFramePr>
          <p:cNvPr id="707" name="Chart 706"/>
          <p:cNvGraphicFramePr>
            <a:graphicFrameLocks noGrp="1"/>
          </p:cNvGraphicFramePr>
          <p:nvPr/>
        </p:nvGraphicFramePr>
        <p:xfrm>
          <a:off x="1481328" y="7178040"/>
          <a:ext cx="7150608" cy="1371600"/>
        </p:xfrm>
        <a:graphic>
          <a:graphicData uri="http://schemas.openxmlformats.org/drawingml/2006/chart">
            <c:chart r:id="rId11"/>
          </a:graphicData>
        </a:graphic>
      </p:graphicFrame>
      <p:graphicFrame>
        <p:nvGraphicFramePr>
          <p:cNvPr id="708" name="Chart 707"/>
          <p:cNvGraphicFramePr>
            <a:graphicFrameLocks noGrp="1"/>
          </p:cNvGraphicFramePr>
          <p:nvPr/>
        </p:nvGraphicFramePr>
        <p:xfrm>
          <a:off x="9674352" y="7178040"/>
          <a:ext cx="7150608" cy="1371600"/>
        </p:xfrm>
        <a:graphic>
          <a:graphicData uri="http://schemas.openxmlformats.org/drawingml/2006/chart">
            <c:chart r:id="rId12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15B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-dedup-5eefcd3a79b80d6e935470e334c29f89.png" id="710" name="Google Shape;7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53598" y="-1904695"/>
            <a:ext cx="10477195" cy="104771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4f4be534a60e8d71b47e8883d6a36dc3.png" id="711" name="Google Shape;711;p20"/>
          <p:cNvPicPr preferRelativeResize="0"/>
          <p:nvPr/>
        </p:nvPicPr>
        <p:blipFill rotWithShape="1">
          <a:blip r:embed="rId4">
            <a:alphaModFix/>
          </a:blip>
          <a:srcRect b="0" l="-2083" r="-2083" t="0"/>
          <a:stretch/>
        </p:blipFill>
        <p:spPr>
          <a:xfrm>
            <a:off x="1143000" y="2762402"/>
            <a:ext cx="16002000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p20"/>
          <p:cNvSpPr/>
          <p:nvPr/>
        </p:nvSpPr>
        <p:spPr>
          <a:xfrm>
            <a:off x="13525805" y="3238805"/>
            <a:ext cx="3619195" cy="5333695"/>
          </a:xfrm>
          <a:prstGeom prst="rect">
            <a:avLst/>
          </a:prstGeom>
          <a:solidFill>
            <a:srgbClr val="FFFFFF">
              <a:alpha val="7059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68d7978898a3900d897008c966ef8a94.png" id="713" name="Google Shape;713;p20"/>
          <p:cNvPicPr preferRelativeResize="0"/>
          <p:nvPr/>
        </p:nvPicPr>
        <p:blipFill rotWithShape="1">
          <a:blip r:embed="rId5">
            <a:alphaModFix/>
          </a:blip>
          <a:srcRect b="0" l="-2083" r="-2083" t="0"/>
          <a:stretch/>
        </p:blipFill>
        <p:spPr>
          <a:xfrm>
            <a:off x="1143000" y="8953805"/>
            <a:ext cx="11811305" cy="91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-dedup-bc121ffa8f8e2d9d0a763d6efab56c2a.png" id="714" name="Google Shape;714;p20"/>
          <p:cNvPicPr preferRelativeResize="0"/>
          <p:nvPr/>
        </p:nvPicPr>
        <p:blipFill rotWithShape="1">
          <a:blip r:embed="rId6">
            <a:alphaModFix/>
          </a:blip>
          <a:srcRect b="0" l="-403" r="-403" t="0"/>
          <a:stretch/>
        </p:blipFill>
        <p:spPr>
          <a:xfrm>
            <a:off x="13525805" y="3238805"/>
            <a:ext cx="57607" cy="5333695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20"/>
          <p:cNvSpPr txBox="1"/>
          <p:nvPr/>
        </p:nvSpPr>
        <p:spPr>
          <a:xfrm>
            <a:off x="1143000" y="952805"/>
            <a:ext cx="2200961" cy="295351"/>
          </a:xfrm>
          <a:prstGeom prst="rect">
            <a:avLst/>
          </a:prstGeom>
          <a:noFill/>
          <a:ln cap="flat" cmpd="sng" w="12700">
            <a:solidFill>
              <a:srgbClr val="FFFFFF">
                <a:alpha val="3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500" lIns="139700" spcFirstLastPara="1" rIns="139700" wrap="square" tIns="63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Apêndice · metodologia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20"/>
          <p:cNvSpPr txBox="1"/>
          <p:nvPr/>
        </p:nvSpPr>
        <p:spPr>
          <a:xfrm>
            <a:off x="1143000" y="1619402"/>
            <a:ext cx="1333561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Sora"/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Definições e </a:t>
            </a:r>
            <a:r>
              <a:rPr b="1" i="1" lang="en-US" sz="4500" u="none" cap="none" strike="noStrike">
                <a:solidFill>
                  <a:srgbClr val="0285FF"/>
                </a:solidFill>
                <a:latin typeface="Sora"/>
                <a:ea typeface="Sora"/>
                <a:cs typeface="Sora"/>
                <a:sym typeface="Sora"/>
              </a:rPr>
              <a:t>limites analíticos.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0"/>
          <p:cNvSpPr txBox="1"/>
          <p:nvPr/>
        </p:nvSpPr>
        <p:spPr>
          <a:xfrm>
            <a:off x="1143000" y="3238805"/>
            <a:ext cx="7239305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0285FF"/>
                </a:solidFill>
                <a:latin typeface="Poppins"/>
                <a:ea typeface="Poppins"/>
                <a:cs typeface="Poppins"/>
                <a:sym typeface="Poppins"/>
              </a:rPr>
              <a:t>Definições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0"/>
          <p:cNvSpPr/>
          <p:nvPr/>
        </p:nvSpPr>
        <p:spPr>
          <a:xfrm>
            <a:off x="1143000" y="3666744"/>
            <a:ext cx="7239305" cy="9144"/>
          </a:xfrm>
          <a:prstGeom prst="rect">
            <a:avLst/>
          </a:prstGeom>
          <a:solidFill>
            <a:srgbClr val="FFFFFF">
              <a:alpha val="18039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20"/>
          <p:cNvSpPr txBox="1"/>
          <p:nvPr/>
        </p:nvSpPr>
        <p:spPr>
          <a:xfrm>
            <a:off x="1143000" y="3866998"/>
            <a:ext cx="7239305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Sora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eNPS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0"/>
          <p:cNvSpPr txBox="1"/>
          <p:nvPr/>
        </p:nvSpPr>
        <p:spPr>
          <a:xfrm>
            <a:off x="1143000" y="4200754"/>
            <a:ext cx="72393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Pergunta de 0 a 10 sobre recomendar a organização como lugar para trabalhar. Promotores = notas 9–10; detratores = 0–6. eNPS = % promotores − % detratores (vai de −100 a +100).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20"/>
          <p:cNvSpPr/>
          <p:nvPr/>
        </p:nvSpPr>
        <p:spPr>
          <a:xfrm>
            <a:off x="1143000" y="4612234"/>
            <a:ext cx="7239305" cy="9144"/>
          </a:xfrm>
          <a:prstGeom prst="rect">
            <a:avLst/>
          </a:prstGeom>
          <a:solidFill>
            <a:srgbClr val="FFFFFF">
              <a:alpha val="18039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20"/>
          <p:cNvSpPr txBox="1"/>
          <p:nvPr/>
        </p:nvSpPr>
        <p:spPr>
          <a:xfrm>
            <a:off x="1143000" y="4812487"/>
            <a:ext cx="7239305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Sora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Satisfação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20"/>
          <p:cNvSpPr txBox="1"/>
          <p:nvPr/>
        </p:nvSpPr>
        <p:spPr>
          <a:xfrm>
            <a:off x="1143000" y="5146243"/>
            <a:ext cx="72393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Média das notas de 0 a 10 na pergunta sobre o nível de satisfação trabalhando na empresa.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20"/>
          <p:cNvSpPr/>
          <p:nvPr/>
        </p:nvSpPr>
        <p:spPr>
          <a:xfrm>
            <a:off x="1143000" y="5557723"/>
            <a:ext cx="7239305" cy="9144"/>
          </a:xfrm>
          <a:prstGeom prst="rect">
            <a:avLst/>
          </a:prstGeom>
          <a:solidFill>
            <a:srgbClr val="FFFFFF">
              <a:alpha val="18039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20"/>
          <p:cNvSpPr txBox="1"/>
          <p:nvPr/>
        </p:nvSpPr>
        <p:spPr>
          <a:xfrm>
            <a:off x="1143000" y="5757977"/>
            <a:ext cx="7239305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Sora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Risco de retenção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0"/>
          <p:cNvSpPr txBox="1"/>
          <p:nvPr/>
        </p:nvSpPr>
        <p:spPr>
          <a:xfrm>
            <a:off x="1143000" y="6090818"/>
            <a:ext cx="72393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% de pessoas com nota de 0 a 6 na pergunta de 0 a 10 sobre permanecer trabalhando aqui.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20"/>
          <p:cNvSpPr/>
          <p:nvPr/>
        </p:nvSpPr>
        <p:spPr>
          <a:xfrm>
            <a:off x="1143000" y="6503213"/>
            <a:ext cx="7239305" cy="961949"/>
          </a:xfrm>
          <a:prstGeom prst="rect">
            <a:avLst/>
          </a:prstGeom>
          <a:noFill/>
          <a:ln cap="flat" cmpd="sng" w="12700">
            <a:solidFill>
              <a:srgbClr val="FFFF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20"/>
          <p:cNvSpPr txBox="1"/>
          <p:nvPr/>
        </p:nvSpPr>
        <p:spPr>
          <a:xfrm>
            <a:off x="1143000" y="6703466"/>
            <a:ext cx="7239305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Sora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Drivers de experiência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20"/>
          <p:cNvSpPr txBox="1"/>
          <p:nvPr/>
        </p:nvSpPr>
        <p:spPr>
          <a:xfrm>
            <a:off x="1143000" y="7036308"/>
            <a:ext cx="72393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Poppins"/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{{DRIVERS_LISTA}}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0"/>
          <p:cNvSpPr txBox="1"/>
          <p:nvPr/>
        </p:nvSpPr>
        <p:spPr>
          <a:xfrm>
            <a:off x="9144000" y="3238805"/>
            <a:ext cx="3810305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5FF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0285FF"/>
                </a:solidFill>
                <a:latin typeface="Poppins"/>
                <a:ea typeface="Poppins"/>
                <a:cs typeface="Poppins"/>
                <a:sym typeface="Poppins"/>
              </a:rPr>
              <a:t>Regras de leitura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0"/>
          <p:cNvSpPr/>
          <p:nvPr/>
        </p:nvSpPr>
        <p:spPr>
          <a:xfrm>
            <a:off x="9144000" y="3715207"/>
            <a:ext cx="152705" cy="152705"/>
          </a:xfrm>
          <a:prstGeom prst="ellipse">
            <a:avLst/>
          </a:prstGeom>
          <a:solidFill>
            <a:srgbClr val="2BB673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20"/>
          <p:cNvSpPr txBox="1"/>
          <p:nvPr/>
        </p:nvSpPr>
        <p:spPr>
          <a:xfrm>
            <a:off x="9430207" y="3666744"/>
            <a:ext cx="906170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Poppins"/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Favorável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20"/>
          <p:cNvSpPr txBox="1"/>
          <p:nvPr/>
        </p:nvSpPr>
        <p:spPr>
          <a:xfrm>
            <a:off x="12592202" y="3690518"/>
            <a:ext cx="431597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Sora"/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4 – 5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20"/>
          <p:cNvSpPr/>
          <p:nvPr/>
        </p:nvSpPr>
        <p:spPr>
          <a:xfrm>
            <a:off x="9144000" y="4114800"/>
            <a:ext cx="152705" cy="152705"/>
          </a:xfrm>
          <a:prstGeom prst="ellipse">
            <a:avLst/>
          </a:prstGeom>
          <a:solidFill>
            <a:srgbClr val="F8CD4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20"/>
          <p:cNvSpPr txBox="1"/>
          <p:nvPr/>
        </p:nvSpPr>
        <p:spPr>
          <a:xfrm>
            <a:off x="9430207" y="4067251"/>
            <a:ext cx="605333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Poppins"/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Neutro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20"/>
          <p:cNvSpPr txBox="1"/>
          <p:nvPr/>
        </p:nvSpPr>
        <p:spPr>
          <a:xfrm>
            <a:off x="12854635" y="4091026"/>
            <a:ext cx="105156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Sora"/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3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20"/>
          <p:cNvSpPr/>
          <p:nvPr/>
        </p:nvSpPr>
        <p:spPr>
          <a:xfrm>
            <a:off x="9144000" y="4515307"/>
            <a:ext cx="152705" cy="152705"/>
          </a:xfrm>
          <a:prstGeom prst="ellipse">
            <a:avLst/>
          </a:prstGeom>
          <a:solidFill>
            <a:srgbClr val="D5225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20"/>
          <p:cNvSpPr txBox="1"/>
          <p:nvPr/>
        </p:nvSpPr>
        <p:spPr>
          <a:xfrm>
            <a:off x="9430207" y="4466844"/>
            <a:ext cx="1208837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Poppins"/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Desfavorável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0"/>
          <p:cNvSpPr txBox="1"/>
          <p:nvPr/>
        </p:nvSpPr>
        <p:spPr>
          <a:xfrm>
            <a:off x="12628778" y="4490618"/>
            <a:ext cx="39685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Sora"/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1 – 2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0"/>
          <p:cNvSpPr txBox="1"/>
          <p:nvPr/>
        </p:nvSpPr>
        <p:spPr>
          <a:xfrm>
            <a:off x="9144000" y="4943246"/>
            <a:ext cx="3810305" cy="523951"/>
          </a:xfrm>
          <a:prstGeom prst="rect">
            <a:avLst/>
          </a:prstGeom>
          <a:noFill/>
          <a:ln cap="flat" cmpd="sng" w="1270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400" lIns="152400" spcFirstLastPara="1" rIns="152400" wrap="square" tIns="152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eNPS e risco de retenção classificam cada nota de 0 a 10 (promotor 9–10, detrator/risco 0–6). Satisfação é a média simples.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0"/>
          <p:cNvSpPr txBox="1"/>
          <p:nvPr/>
        </p:nvSpPr>
        <p:spPr>
          <a:xfrm>
            <a:off x="13868705" y="3504895"/>
            <a:ext cx="30486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CD4B"/>
              </a:buClr>
              <a:buSzPts val="825"/>
              <a:buFont typeface="Poppins"/>
              <a:buNone/>
            </a:pPr>
            <a:r>
              <a:rPr b="1" i="0" lang="en-US" sz="825" u="none" cap="none" strike="noStrike">
                <a:solidFill>
                  <a:srgbClr val="F8CD4B"/>
                </a:solidFill>
                <a:latin typeface="Poppins"/>
                <a:ea typeface="Poppins"/>
                <a:cs typeface="Poppins"/>
                <a:sym typeface="Poppins"/>
              </a:rPr>
              <a:t>Limites analíticos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0"/>
          <p:cNvSpPr txBox="1"/>
          <p:nvPr/>
        </p:nvSpPr>
        <p:spPr>
          <a:xfrm>
            <a:off x="13868705" y="3853282"/>
            <a:ext cx="3048610" cy="4042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Departamento é o recorte mais granular. Não existem resultados por time.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Populações pequenas devem ser interpretadas com cautela.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Associação com engajamento não estabelece causalidade.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Comentários representam percepções e contexto, não medição.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Hipóteses da liderança não são achados de pesquisa.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20"/>
          <p:cNvSpPr txBox="1"/>
          <p:nvPr/>
        </p:nvSpPr>
        <p:spPr>
          <a:xfrm>
            <a:off x="1143000" y="9201607"/>
            <a:ext cx="11811305" cy="3529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Sora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O dashboard guarda o detalhe. Esta sessão decide </a:t>
            </a:r>
            <a:r>
              <a:rPr b="0" i="1" lang="en-US" sz="1950" u="none" cap="none" strike="noStrike">
                <a:solidFill>
                  <a:srgbClr val="F8CD4B"/>
                </a:solidFill>
                <a:latin typeface="Sora"/>
                <a:ea typeface="Sora"/>
                <a:cs typeface="Sora"/>
                <a:sym typeface="Sora"/>
              </a:rPr>
              <a:t>o que faremos a respeito.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