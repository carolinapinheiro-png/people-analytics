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82" r:id="rId38"/>
    <p:sldId id="281" r:id="rId37"/>
    <p:sldId id="280" r:id="rId36"/>
    <p:sldId id="279" r:id="rId35"/>
    <p:sldId id="278" r:id="rId34"/>
    <p:sldId id="277" r:id="rId33"/>
    <p:sldId id="276" r:id="rId32"/>
    <p:sldId id="275" r:id="rId31"/>
    <p:sldId id="274" r:id="rId30"/>
    <p:sldId id="270" r:id="rId20"/>
    <p:sldId id="284" r:id="rId40"/>
    <p:sldId id="283" r:id="rId39"/>
    <p:sldId id="271" r:id="rId21"/>
    <p:sldId id="272" r:id="rId22"/>
    <p:sldId id="273" r:id="rId23"/>
  </p:sldIdLst>
  <p:sldSz cy="10287000" cx="18288000"/>
  <p:notesSz cx="10287000" cy="18288000"/>
  <p:embeddedFontLst>
    <p:embeddedFont>
      <p:font typeface="Poppins"/>
      <p:regular r:id="rId24"/>
      <p:bold r:id="rId25"/>
      <p:italic r:id="rId26"/>
      <p:boldItalic r:id="rId27"/>
    </p:embeddedFont>
    <p:embeddedFont>
      <p:font typeface="Sora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AC2FE4-DBA5-4F3B-94BE-2F4E2715C5E2}">
  <a:tblStyle styleId="{0DAC2FE4-DBA5-4F3B-94BE-2F4E2715C5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24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font" Target="fonts/Poppins-regular.fntdata"/><Relationship Id="rId25" Type="http://schemas.openxmlformats.org/officeDocument/2006/relationships/font" Target="fonts/Poppins-bold.fntdata"/><Relationship Id="rId26" Type="http://schemas.openxmlformats.org/officeDocument/2006/relationships/font" Target="fonts/Poppins-italic.fntdata"/><Relationship Id="rId27" Type="http://schemas.openxmlformats.org/officeDocument/2006/relationships/font" Target="fonts/Poppins-boldItalic.fntdata"/><Relationship Id="rId28" Type="http://schemas.openxmlformats.org/officeDocument/2006/relationships/font" Target="fonts/Sora-regular.fntdata"/><Relationship Id="rId29" Type="http://schemas.openxmlformats.org/officeDocument/2006/relationships/font" Target="fonts/Sora-bold.fntdata"/><Relationship Id="rId30" Type="http://schemas.openxmlformats.org/officeDocument/2006/relationships/slide" Target="slides/slide23.xml"/><Relationship Id="rId31" Type="http://schemas.openxmlformats.org/officeDocument/2006/relationships/slide" Target="slides/slide22.xml"/><Relationship Id="rId32" Type="http://schemas.openxmlformats.org/officeDocument/2006/relationships/slide" Target="slides/slide21.xml"/><Relationship Id="rId33" Type="http://schemas.openxmlformats.org/officeDocument/2006/relationships/slide" Target="slides/slide20.xml"/><Relationship Id="rId34" Type="http://schemas.openxmlformats.org/officeDocument/2006/relationships/slide" Target="slides/slide19.xml"/><Relationship Id="rId35" Type="http://schemas.openxmlformats.org/officeDocument/2006/relationships/slide" Target="slides/slide18.xml"/><Relationship Id="rId36" Type="http://schemas.openxmlformats.org/officeDocument/2006/relationships/slide" Target="slides/slide17.xml"/><Relationship Id="rId37" Type="http://schemas.openxmlformats.org/officeDocument/2006/relationships/slide" Target="slides/slide16.xml"/><Relationship Id="rId38" Type="http://schemas.openxmlformats.org/officeDocument/2006/relationships/slide" Target="slides/slide15.xml"/><Relationship Id="rId39" Type="http://schemas.openxmlformats.org/officeDocument/2006/relationships/slide" Target="slides/slide26.xml"/><Relationship Id="rId40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eNPS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Risco de retenção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7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7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6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eNPS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Satisfação (0–10)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Risco de retenção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Sheet1!$A$2:$A$11</c:f>
              <c:strCache>
                <c:ptCount val="10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3" name="Google Shape;5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8" name="Google Shape;57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0" name="Google Shape;63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4" name="Google Shape;64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0" name="Google Shape;670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4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9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19.png"/><Relationship Id="rId6" Type="http://schemas.openxmlformats.org/officeDocument/2006/relationships/image" Target="../media/image12.png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24.png"/><Relationship Id="rId6" Type="http://schemas.openxmlformats.org/officeDocument/2006/relationships/image" Target="../media/image23.png"/><Relationship Id="rId7" Type="http://schemas.openxmlformats.org/officeDocument/2006/relationships/image" Target="../media/image16.png"/><Relationship Id="rId8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2.png"/><Relationship Id="rId6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72.png"/><Relationship Id="rId6" Type="http://schemas.openxmlformats.org/officeDocument/2006/relationships/image" Target="../media/image70.png"/><Relationship Id="rId7" Type="http://schemas.openxmlformats.org/officeDocument/2006/relationships/image" Target="../media/image29.png"/><Relationship Id="rId8" Type="http://schemas.openxmlformats.org/officeDocument/2006/relationships/chart" Target="../charts/chart3.xml"/><Relationship Id="rId9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7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6.png"/><Relationship Id="rId6" Type="http://schemas.openxmlformats.org/officeDocument/2006/relationships/image" Target="../media/image4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Relationship Id="rId9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3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55.png"/><Relationship Id="rId6" Type="http://schemas.openxmlformats.org/officeDocument/2006/relationships/image" Target="../media/image57.png"/><Relationship Id="rId7" Type="http://schemas.openxmlformats.org/officeDocument/2006/relationships/image" Target="../media/image56.png"/><Relationship Id="rId8" Type="http://schemas.openxmlformats.org/officeDocument/2006/relationships/chart" Target="../charts/chart15.xml"/><Relationship Id="rId9" Type="http://schemas.openxmlformats.org/officeDocument/2006/relationships/chart" Target="../charts/chart16.xml"/><Relationship Id="rId10" Type="http://schemas.openxmlformats.org/officeDocument/2006/relationships/chart" Target="../charts/chart17.xml"/><Relationship Id="rId11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60.png"/><Relationship Id="rId6" Type="http://schemas.openxmlformats.org/officeDocument/2006/relationships/image" Target="../media/image66.png"/><Relationship Id="rId7" Type="http://schemas.openxmlformats.org/officeDocument/2006/relationships/image" Target="../media/image61.png"/><Relationship Id="rId8" Type="http://schemas.openxmlformats.org/officeDocument/2006/relationships/image" Target="../media/image71.png"/><Relationship Id="rId9" Type="http://schemas.openxmlformats.org/officeDocument/2006/relationships/chart" Target="../charts/chart19.xml"/><Relationship Id="rId10" Type="http://schemas.openxmlformats.org/officeDocument/2006/relationships/chart" Target="../charts/chart20.xml"/><Relationship Id="rId11" Type="http://schemas.openxmlformats.org/officeDocument/2006/relationships/chart" Target="../charts/chart21.xml"/><Relationship Id="rId12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5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15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dac6518d6f877de6ded8dac23173552b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750770" y="1872055"/>
            <a:ext cx="8572500" cy="857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9544507"/>
            <a:ext cx="18288000" cy="743407"/>
          </a:xfrm>
          <a:prstGeom prst="rect">
            <a:avLst/>
          </a:prstGeom>
          <a:solidFill>
            <a:srgbClr val="000000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13906195" y="1410005"/>
            <a:ext cx="3238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[DATA DA SESSÃO DE LIDERANÇA]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15185441" y="914400"/>
            <a:ext cx="1962302" cy="362102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FFFF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5185441" y="914400"/>
            <a:ext cx="1962302" cy="36210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6200" lIns="139700" spcFirstLastPara="1" rIns="139700" wrap="square" tIns="76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{{ONDA}}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1143000" y="3619195"/>
            <a:ext cx="123828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Pesquisa de Engajamento · Sessão de Trabalho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1143000" y="4219956"/>
            <a:ext cx="12382805" cy="2524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350"/>
              <a:buFont typeface="Sora"/>
              <a:buNone/>
            </a:pPr>
            <a:r>
              <a:rPr b="1" i="0" lang="en-US" sz="83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Pesquisa de</a:t>
            </a:r>
            <a:endParaRPr b="0" i="0" sz="8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350"/>
              <a:buFont typeface="Sora"/>
              <a:buNone/>
            </a:pPr>
            <a:r>
              <a:rPr b="1" i="1" lang="en-US" sz="83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Engajamento</a:t>
            </a:r>
            <a:endParaRPr b="0" i="0" sz="8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f9be622aaaf1e146cff3f994144a5288.png" id="23" name="Google Shape;23;p3"/>
          <p:cNvPicPr preferRelativeResize="0"/>
          <p:nvPr/>
        </p:nvPicPr>
        <p:blipFill rotWithShape="1">
          <a:blip r:embed="rId4">
            <a:alphaModFix/>
          </a:blip>
          <a:srcRect b="-420" l="0" r="0" t="-420"/>
          <a:stretch/>
        </p:blipFill>
        <p:spPr>
          <a:xfrm>
            <a:off x="1143000" y="7015277"/>
            <a:ext cx="761695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/>
          <p:nvPr/>
        </p:nvSpPr>
        <p:spPr>
          <a:xfrm>
            <a:off x="2133295" y="6810451"/>
            <a:ext cx="3219602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Sora"/>
              <a:buNone/>
            </a:pPr>
            <a:r>
              <a:rPr b="0" i="0" lang="en-US" sz="27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{{AREA}}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1143000" y="7543800"/>
            <a:ext cx="7383780" cy="333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Poppins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 percepção das pessoas às prioridades da liderança.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1143000" y="9810598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Interno · Sessão de Trabalho da Liderança · Conduzida pelo HRBP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16554298" y="9849002"/>
            <a:ext cx="714146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01 / 13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3" name="Google Shape;33;p4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/>
          <p:nvPr/>
        </p:nvSpPr>
        <p:spPr>
          <a:xfrm>
            <a:off x="1143000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143000" y="5524805"/>
            <a:ext cx="2933395" cy="28346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16215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4324198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324198" y="5524805"/>
            <a:ext cx="2933395" cy="28346"/>
          </a:xfrm>
          <a:prstGeom prst="rect">
            <a:avLst/>
          </a:prstGeom>
          <a:solidFill>
            <a:srgbClr val="0285FF"/>
          </a:solidFill>
          <a:ln cap="flat" cmpd="sng" w="12700">
            <a:solidFill>
              <a:srgbClr val="0285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505395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7505395" y="5524805"/>
            <a:ext cx="2933395" cy="28346"/>
          </a:xfrm>
          <a:prstGeom prst="rect">
            <a:avLst/>
          </a:prstGeom>
          <a:solidFill>
            <a:srgbClr val="895CF5"/>
          </a:solidFill>
          <a:ln cap="flat" cmpd="sng" w="12700">
            <a:solidFill>
              <a:srgbClr val="895CF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0687507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0687507" y="5524805"/>
            <a:ext cx="2933395" cy="28346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3868705" y="5524805"/>
            <a:ext cx="2933395" cy="26673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1143000" y="8572500"/>
            <a:ext cx="15659100" cy="1143000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 txBox="1"/>
          <p:nvPr/>
        </p:nvSpPr>
        <p:spPr>
          <a:xfrm>
            <a:off x="1356055" y="1285646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1904695" y="1333195"/>
            <a:ext cx="5715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Definindo a conversa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1143000" y="2476195"/>
            <a:ext cx="12382805" cy="15718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6300"/>
              <a:buFont typeface="Sora"/>
              <a:buNone/>
            </a:pPr>
            <a:r>
              <a:rPr b="1" i="0" lang="en-US" sz="63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A conversa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6300"/>
              <a:buFont typeface="Sora"/>
              <a:buNone/>
            </a:pPr>
            <a:r>
              <a:rPr b="1" i="1" lang="en-US" sz="63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de hoje.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 txBox="1"/>
          <p:nvPr/>
        </p:nvSpPr>
        <p:spPr>
          <a:xfrm>
            <a:off x="1143000" y="4349801"/>
            <a:ext cx="9525305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503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650"/>
              <a:buFont typeface="Poppins"/>
              <a:buNone/>
            </a:pPr>
            <a:r>
              <a:rPr b="0" i="0" lang="en-US" sz="16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Esta não é uma apresentação com todos os resultados da pesquisa. É uma conversa estruturada sobre o que as pessoas estão vivendo, o que merece nossa atenção e o que queremos fazer a seguir.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1143000" y="495330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O caminho da sessão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1333195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1333195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OUVIR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ebb1c604fc782604e988d7eeb2f6956f.png" id="52" name="Google Shape;52;p4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333195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 txBox="1"/>
          <p:nvPr/>
        </p:nvSpPr>
        <p:spPr>
          <a:xfrm>
            <a:off x="1333195" y="6943954"/>
            <a:ext cx="2572207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pessoas nos disseram.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4515307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4515307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COMPREENDER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639fc3ff82f8efbb6fed31cc725f5534.png" id="56" name="Google Shape;56;p4"/>
          <p:cNvPicPr preferRelativeResize="0"/>
          <p:nvPr/>
        </p:nvPicPr>
        <p:blipFill rotWithShape="1">
          <a:blip r:embed="rId5">
            <a:alphaModFix/>
          </a:blip>
          <a:srcRect b="-400" l="0" r="0" t="-400"/>
          <a:stretch/>
        </p:blipFill>
        <p:spPr>
          <a:xfrm>
            <a:off x="4515307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4"/>
          <p:cNvSpPr txBox="1"/>
          <p:nvPr/>
        </p:nvSpPr>
        <p:spPr>
          <a:xfrm>
            <a:off x="4515307" y="6943954"/>
            <a:ext cx="2572207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evidências mostram.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696505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696505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REFLETIR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74841058d5fe05ab575284776392db91.png" id="60" name="Google Shape;60;p4"/>
          <p:cNvPicPr preferRelativeResize="0"/>
          <p:nvPr/>
        </p:nvPicPr>
        <p:blipFill rotWithShape="1">
          <a:blip r:embed="rId6">
            <a:alphaModFix/>
          </a:blip>
          <a:srcRect b="-400" l="0" r="0" t="-400"/>
          <a:stretch/>
        </p:blipFill>
        <p:spPr>
          <a:xfrm>
            <a:off x="7696505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4"/>
          <p:cNvSpPr txBox="1"/>
          <p:nvPr/>
        </p:nvSpPr>
        <p:spPr>
          <a:xfrm>
            <a:off x="7696505" y="6943954"/>
            <a:ext cx="257220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pode explicar.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10877702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10877702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PRIORIZAR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bfb6eb5e7ff90699eb052546ae8a30a7.png" id="64" name="Google Shape;64;p4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0877702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0877702" y="6943954"/>
            <a:ext cx="257220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mais importa.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4058900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05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 txBox="1"/>
          <p:nvPr/>
        </p:nvSpPr>
        <p:spPr>
          <a:xfrm>
            <a:off x="14058900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AGIR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e2739b857fe263d267c0b244a16996d2.png" id="68" name="Google Shape;68;p4"/>
          <p:cNvPicPr preferRelativeResize="0"/>
          <p:nvPr/>
        </p:nvPicPr>
        <p:blipFill rotWithShape="1">
          <a:blip r:embed="rId8">
            <a:alphaModFix/>
          </a:blip>
          <a:srcRect b="-400" l="0" r="0" t="-400"/>
          <a:stretch/>
        </p:blipFill>
        <p:spPr>
          <a:xfrm>
            <a:off x="14058900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4"/>
          <p:cNvSpPr txBox="1"/>
          <p:nvPr/>
        </p:nvSpPr>
        <p:spPr>
          <a:xfrm>
            <a:off x="14058900" y="6943954"/>
            <a:ext cx="273222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que faremos a seguir.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1524305" y="8762695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Resultado desejado hoje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1524305" y="9038844"/>
            <a:ext cx="382585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650"/>
              <a:buFont typeface="Sora"/>
              <a:buNone/>
            </a:pPr>
            <a:r>
              <a:rPr b="0" i="0" lang="en-US" sz="16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Quatro entregas para levarmos.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 txBox="1"/>
          <p:nvPr/>
        </p:nvSpPr>
        <p:spPr>
          <a:xfrm>
            <a:off x="5333695" y="8762695"/>
            <a:ext cx="3238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5333695" y="9010498"/>
            <a:ext cx="3238805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Âncoras que queremos proteger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8762695" y="8762695"/>
            <a:ext cx="36201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 txBox="1"/>
          <p:nvPr/>
        </p:nvSpPr>
        <p:spPr>
          <a:xfrm>
            <a:off x="8762695" y="9010498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Tópicos prioritários a tratar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 txBox="1"/>
          <p:nvPr/>
        </p:nvSpPr>
        <p:spPr>
          <a:xfrm>
            <a:off x="12573000" y="8762695"/>
            <a:ext cx="19056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12573000" y="9010498"/>
            <a:ext cx="19056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Questões em aberto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14668805" y="8762695"/>
            <a:ext cx="19056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 txBox="1"/>
          <p:nvPr/>
        </p:nvSpPr>
        <p:spPr>
          <a:xfrm>
            <a:off x="14668805" y="9010498"/>
            <a:ext cx="1905610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Responsáveis e próximos passos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 txBox="1"/>
          <p:nvPr/>
        </p:nvSpPr>
        <p:spPr>
          <a:xfrm>
            <a:off x="16663111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02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86" name="Google Shape;86;p5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5"/>
          <p:cNvSpPr/>
          <p:nvPr/>
        </p:nvSpPr>
        <p:spPr>
          <a:xfrm>
            <a:off x="1143000" y="4190695"/>
            <a:ext cx="495330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6476695" y="4190695"/>
            <a:ext cx="495330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11811305" y="4190695"/>
            <a:ext cx="533369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1143000" y="9048902"/>
            <a:ext cx="16002000" cy="6099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d386765dd7aa19d987d7d365f6f5c220.png" id="91" name="Google Shape;91;p5"/>
          <p:cNvPicPr preferRelativeResize="0"/>
          <p:nvPr/>
        </p:nvPicPr>
        <p:blipFill rotWithShape="1">
          <a:blip r:embed="rId4">
            <a:alphaModFix/>
          </a:blip>
          <a:srcRect b="-397" l="0" r="0" t="-397"/>
          <a:stretch/>
        </p:blipFill>
        <p:spPr>
          <a:xfrm>
            <a:off x="1143000" y="4190695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43c2393b353c9efeaffb0360f0e5b8f7.png" id="92" name="Google Shape;92;p5"/>
          <p:cNvPicPr preferRelativeResize="0"/>
          <p:nvPr/>
        </p:nvPicPr>
        <p:blipFill rotWithShape="1">
          <a:blip r:embed="rId5">
            <a:alphaModFix/>
          </a:blip>
          <a:srcRect b="-397" l="0" r="0" t="-397"/>
          <a:stretch/>
        </p:blipFill>
        <p:spPr>
          <a:xfrm>
            <a:off x="6476695" y="4190695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4b526dd164ec794df5a6f8b2ac4a433.png" id="93" name="Google Shape;93;p5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4190695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12191695" y="7524598"/>
            <a:ext cx="4591202" cy="8577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Metodologia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1143000" y="2476195"/>
            <a:ext cx="14287500" cy="705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</a:t>
            </a:r>
            <a:r>
              <a:rPr b="1" i="1" lang="en-US" sz="55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ouvimos.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1143000" y="3409798"/>
            <a:ext cx="1085850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pessoas nos disseram, como medimos e como a liderança deve ler os números que seguem.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1524305" y="4572000"/>
            <a:ext cx="4191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1524305" y="4876495"/>
            <a:ext cx="4191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Participação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1524305" y="5524805"/>
            <a:ext cx="419161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6300"/>
              <a:buFont typeface="Sora"/>
              <a:buNone/>
            </a:pPr>
            <a:r>
              <a:rPr b="0" i="0" lang="en-US" sz="63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{{PART}}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1524305" y="6458407"/>
            <a:ext cx="419161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taxa de participação · {{BENCH}} {{PART_FB}}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29ef20c730219f0c0b9e0cf79cf43a77.png" id="103" name="Google Shape;103;p5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524305" y="6772046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5"/>
          <p:cNvSpPr txBox="1"/>
          <p:nvPr/>
        </p:nvSpPr>
        <p:spPr>
          <a:xfrm>
            <a:off x="1524305" y="7019849"/>
            <a:ext cx="1181405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{{ELEG}}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1524305" y="7457846"/>
            <a:ext cx="1538021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pessoas elegíveis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4355287" y="7019849"/>
            <a:ext cx="1362456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{{RESP}}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 txBox="1"/>
          <p:nvPr/>
        </p:nvSpPr>
        <p:spPr>
          <a:xfrm>
            <a:off x="4355287" y="7457846"/>
            <a:ext cx="171084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respostas recebidas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6858000" y="4572000"/>
            <a:ext cx="4191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6858000" y="4876495"/>
            <a:ext cx="4191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medimos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6858000" y="5524805"/>
            <a:ext cx="1905610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Desfechos de engajamento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6858000" y="6019495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6858000" y="6162142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eNPS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6858000" y="6495898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"/>
          <p:cNvSpPr txBox="1"/>
          <p:nvPr/>
        </p:nvSpPr>
        <p:spPr>
          <a:xfrm>
            <a:off x="6858000" y="6638544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Satisfação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6858000" y="6972300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 txBox="1"/>
          <p:nvPr/>
        </p:nvSpPr>
        <p:spPr>
          <a:xfrm>
            <a:off x="6858000" y="7114946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Risco de retenção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 txBox="1"/>
          <p:nvPr/>
        </p:nvSpPr>
        <p:spPr>
          <a:xfrm>
            <a:off x="9525305" y="5524805"/>
            <a:ext cx="20958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Experiência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525305" y="5857646"/>
            <a:ext cx="209580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"/>
          <p:cNvSpPr txBox="1"/>
          <p:nvPr/>
        </p:nvSpPr>
        <p:spPr>
          <a:xfrm>
            <a:off x="9525305" y="6000293"/>
            <a:ext cx="2095805" cy="19111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Drivers: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 txBox="1"/>
          <p:nvPr/>
        </p:nvSpPr>
        <p:spPr>
          <a:xfrm>
            <a:off x="9525305" y="6262726"/>
            <a:ext cx="2095805" cy="648310"/>
          </a:xfrm>
          <a:prstGeom prst="rect">
            <a:avLst/>
          </a:prstGeom>
          <a:solidFill>
            <a:srgbClr val="F4F7FC"/>
          </a:solidFill>
          <a:ln cap="flat" cmpd="sng" w="12700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{{DRIVERS_RESUMO}}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12191695" y="4572000"/>
            <a:ext cx="4572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 txBox="1"/>
          <p:nvPr/>
        </p:nvSpPr>
        <p:spPr>
          <a:xfrm>
            <a:off x="12191695" y="4876495"/>
            <a:ext cx="4796028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ler os resultados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12191695" y="5524805"/>
            <a:ext cx="285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Para perguntas de 1–5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12191695" y="5939028"/>
            <a:ext cx="171907" cy="171907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12497105" y="5896051"/>
            <a:ext cx="96012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14666976" y="5919826"/>
            <a:ext cx="46543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4 – 5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2191695" y="6329477"/>
            <a:ext cx="171907" cy="171907"/>
          </a:xfrm>
          <a:prstGeom prst="ellipse">
            <a:avLst/>
          </a:prstGeom>
          <a:solidFill>
            <a:srgbClr val="F8CD4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12497105" y="6286500"/>
            <a:ext cx="640994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Neutro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14944039" y="6310274"/>
            <a:ext cx="1143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2191695" y="6719926"/>
            <a:ext cx="171907" cy="171907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"/>
          <p:cNvSpPr txBox="1"/>
          <p:nvPr/>
        </p:nvSpPr>
        <p:spPr>
          <a:xfrm>
            <a:off x="12497105" y="6676949"/>
            <a:ext cx="128016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Desfavorável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14705381" y="6700723"/>
            <a:ext cx="41971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1 – 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/>
        </p:nvSpPr>
        <p:spPr>
          <a:xfrm>
            <a:off x="12382805" y="7658100"/>
            <a:ext cx="42291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Para indicadores 0–10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 txBox="1"/>
          <p:nvPr/>
        </p:nvSpPr>
        <p:spPr>
          <a:xfrm>
            <a:off x="12382805" y="7915046"/>
            <a:ext cx="42291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eNPS: % notas 9–10 − % notas 0–6 · Risco: % notas 0–6 em permanência · Satisfação: média 0–10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1524305" y="9239098"/>
            <a:ext cx="1505011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Poppins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Nota ·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Os resultados refletem a percepção no nível de Departamento. A pesquisa não fornece resultados por time.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16663111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03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1385316" y="1314907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143" name="Google Shape;143;p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6"/>
          <p:cNvSpPr/>
          <p:nvPr/>
        </p:nvSpPr>
        <p:spPr>
          <a:xfrm>
            <a:off x="1143000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4953305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8762695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12573000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1143000" y="6667805"/>
            <a:ext cx="16002000" cy="800100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87626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8762695" y="8229600"/>
            <a:ext cx="57607" cy="1333195"/>
          </a:xfrm>
          <a:prstGeom prst="rect">
            <a:avLst/>
          </a:prstGeom>
          <a:solidFill>
            <a:srgbClr val="2BB673"/>
          </a:solidFill>
          <a:ln cap="flat" cmpd="sng" w="12700">
            <a:solidFill>
              <a:srgbClr val="2BB67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116201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11620195" y="8229600"/>
            <a:ext cx="57607" cy="1333195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144776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14477695" y="8229600"/>
            <a:ext cx="57607" cy="1333195"/>
          </a:xfrm>
          <a:prstGeom prst="rect">
            <a:avLst/>
          </a:prstGeom>
          <a:solidFill>
            <a:srgbClr val="F8CD4B"/>
          </a:solidFill>
          <a:ln cap="flat" cmpd="sng" w="12700">
            <a:solidFill>
              <a:srgbClr val="F8CD4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1351483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Diretrizes de leitura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1143000" y="2476195"/>
            <a:ext cx="14287500" cy="14100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interpretar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você vai </a:t>
            </a:r>
            <a:r>
              <a:rPr b="1" i="1" lang="en-US" sz="55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ver.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144749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 txBox="1"/>
          <p:nvPr/>
        </p:nvSpPr>
        <p:spPr>
          <a:xfrm>
            <a:off x="144749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Pontuação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1447495" y="5829300"/>
            <a:ext cx="3048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a percepção está hoje.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 txBox="1"/>
          <p:nvPr/>
        </p:nvSpPr>
        <p:spPr>
          <a:xfrm>
            <a:off x="5257800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5257800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Comparação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 txBox="1"/>
          <p:nvPr/>
        </p:nvSpPr>
        <p:spPr>
          <a:xfrm>
            <a:off x="5257800" y="5829300"/>
            <a:ext cx="30486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Como {{AREA}} se compara com a Flutter Brasil.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 txBox="1"/>
          <p:nvPr/>
        </p:nvSpPr>
        <p:spPr>
          <a:xfrm>
            <a:off x="906810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 txBox="1"/>
          <p:nvPr/>
        </p:nvSpPr>
        <p:spPr>
          <a:xfrm>
            <a:off x="906810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Movimento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 txBox="1"/>
          <p:nvPr/>
        </p:nvSpPr>
        <p:spPr>
          <a:xfrm>
            <a:off x="9068105" y="5829300"/>
            <a:ext cx="3048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Como a percepção evoluiu.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1287749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1287749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Pessoas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/>
        </p:nvSpPr>
        <p:spPr>
          <a:xfrm>
            <a:off x="12877495" y="5829300"/>
            <a:ext cx="30486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Se algumas populações vivem a organização de modo diferente.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1524305" y="6858000"/>
            <a:ext cx="14859000" cy="333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800"/>
              <a:buFont typeface="Sora"/>
              <a:buNone/>
            </a:pPr>
            <a:r>
              <a:rPr b="0" i="1" lang="en-US" sz="180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Nenhum número sozinho</a:t>
            </a:r>
            <a:r>
              <a:rPr b="0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 define uma prioridade. Buscamos </a:t>
            </a:r>
            <a:r>
              <a:rPr b="0" i="1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padrões entre múltiplas evidências.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 txBox="1"/>
          <p:nvPr/>
        </p:nvSpPr>
        <p:spPr>
          <a:xfrm>
            <a:off x="1143000" y="7772400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Alguns cuidados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1143000" y="8051292"/>
            <a:ext cx="7239305" cy="1255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Resultados de Departamento não identificam times individuais.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Populações pequenas devem ser interpretadas com cautela.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Associação com engajamento não estabelece causalidade.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Comentários das pessoas representam percepções e contexto.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Hipóteses da liderança não devem aparecer como achados da pesquisa.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 txBox="1"/>
          <p:nvPr/>
        </p:nvSpPr>
        <p:spPr>
          <a:xfrm>
            <a:off x="8762695" y="7772400"/>
            <a:ext cx="8382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Estrutura de trabalho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 txBox="1"/>
          <p:nvPr/>
        </p:nvSpPr>
        <p:spPr>
          <a:xfrm>
            <a:off x="90104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/>
        </p:nvSpPr>
        <p:spPr>
          <a:xfrm>
            <a:off x="90104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Algo valioso que deve permanecer forte.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/>
        </p:nvSpPr>
        <p:spPr>
          <a:xfrm>
            <a:off x="118679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 txBox="1"/>
          <p:nvPr/>
        </p:nvSpPr>
        <p:spPr>
          <a:xfrm>
            <a:off x="118679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Fricção crível onde a evidência sustenta 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 txBox="1"/>
          <p:nvPr/>
        </p:nvSpPr>
        <p:spPr>
          <a:xfrm>
            <a:off x="147254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 txBox="1"/>
          <p:nvPr/>
        </p:nvSpPr>
        <p:spPr>
          <a:xfrm>
            <a:off x="147254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Sinal relevante que pede mais investigação.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16659454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04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187" name="Google Shape;187;p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7"/>
          <p:cNvSpPr/>
          <p:nvPr/>
        </p:nvSpPr>
        <p:spPr>
          <a:xfrm>
            <a:off x="1143000" y="4095598"/>
            <a:ext cx="10858500" cy="49533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12382805" y="4095598"/>
            <a:ext cx="4762195" cy="36191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12382805" y="7905902"/>
            <a:ext cx="4762195" cy="1143000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ac0f0736bef8251357c202e8481c5a4c.png" id="191" name="Google Shape;191;p7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4095598"/>
            <a:ext cx="10858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e64afe16678efa691ac7e4407b0cdd9.png" id="196" name="Google Shape;196;p7"/>
          <p:cNvPicPr preferRelativeResize="0"/>
          <p:nvPr/>
        </p:nvPicPr>
        <p:blipFill rotWithShape="1">
          <a:blip r:embed="rId6">
            <a:alphaModFix/>
          </a:blip>
          <a:srcRect b="0" l="-2078" r="-2078" t="0"/>
          <a:stretch/>
        </p:blipFill>
        <p:spPr>
          <a:xfrm>
            <a:off x="13144500" y="5544007"/>
            <a:ext cx="3619195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e64afe16678efa691ac7e4407b0cdd9.png" id="197" name="Google Shape;197;p7"/>
          <p:cNvPicPr preferRelativeResize="0"/>
          <p:nvPr/>
        </p:nvPicPr>
        <p:blipFill rotWithShape="1">
          <a:blip r:embed="rId6">
            <a:alphaModFix/>
          </a:blip>
          <a:srcRect b="0" l="-2078" r="-2078" t="0"/>
          <a:stretch/>
        </p:blipFill>
        <p:spPr>
          <a:xfrm>
            <a:off x="13144500" y="6439205"/>
            <a:ext cx="3619195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"/>
          <p:cNvSpPr txBox="1"/>
          <p:nvPr/>
        </p:nvSpPr>
        <p:spPr>
          <a:xfrm>
            <a:off x="1355141" y="1285646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Orientação histórica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1143000" y="2381098"/>
            <a:ext cx="11430000" cy="128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o sentimento das pessoas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evoluiu no </a:t>
            </a:r>
            <a:r>
              <a:rPr b="1" i="1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{{AREA}}?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1524305" y="4438498"/>
            <a:ext cx="8572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 · 60% do slide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1524305" y="4695444"/>
            <a:ext cx="85725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Visão histórica da percepção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1524305" y="8544154"/>
            <a:ext cx="100968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Fonte: dashboard People Analytics · {{AREA}} ({{HIST_N}}) vs {{BENCH}}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12763195" y="4381805"/>
            <a:ext cx="4000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O que os dados mostram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 txBox="1"/>
          <p:nvPr/>
        </p:nvSpPr>
        <p:spPr>
          <a:xfrm>
            <a:off x="12763195" y="4819802"/>
            <a:ext cx="45811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13340182" y="4819802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12763195" y="5715000"/>
            <a:ext cx="47640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13409676" y="5715000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2763195" y="6610198"/>
            <a:ext cx="47640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13408762" y="6610198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12763195" y="8134502"/>
            <a:ext cx="4000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geral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12763195" y="8429854"/>
            <a:ext cx="40005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[Síntese da trajetória em 1–2 frases]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6662197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05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6" name="Chart 215"/>
          <p:cNvGraphicFramePr>
            <a:graphicFrameLocks noGrp="1"/>
          </p:cNvGraphicFramePr>
          <p:nvPr/>
        </p:nvGraphicFramePr>
        <p:xfrm>
          <a:off x="1527048" y="5257800"/>
          <a:ext cx="4937760" cy="3200400"/>
        </p:xfrm>
        <a:graphic>
          <a:graphicData uri="http://schemas.openxmlformats.org/drawingml/2006/chart">
            <c:chart r:id="rId7"/>
          </a:graphicData>
        </a:graphic>
      </p:graphicFrame>
      <p:graphicFrame>
        <p:nvGraphicFramePr>
          <p:cNvPr id="217" name="Chart 216"/>
          <p:cNvGraphicFramePr>
            <a:graphicFrameLocks noGrp="1"/>
          </p:cNvGraphicFramePr>
          <p:nvPr/>
        </p:nvGraphicFramePr>
        <p:xfrm>
          <a:off x="6702552" y="5257800"/>
          <a:ext cx="4937760" cy="3200400"/>
        </p:xfrm>
        <a:graphic>
          <a:graphicData uri="http://schemas.openxmlformats.org/drawingml/2006/chart">
            <c:chart r:id="rId8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221" name="Google Shape;221;p8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"/>
          <p:cNvSpPr/>
          <p:nvPr/>
        </p:nvSpPr>
        <p:spPr>
          <a:xfrm>
            <a:off x="1143000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953305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8762695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12573000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8762695" y="5905195"/>
            <a:ext cx="7429500" cy="2190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1143000" y="8382305"/>
            <a:ext cx="15049195" cy="1238098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2c57750bb86fb0d98276d09ac0904c68.png" id="228" name="Google Shape;228;p8"/>
          <p:cNvPicPr preferRelativeResize="0"/>
          <p:nvPr/>
        </p:nvPicPr>
        <p:blipFill rotWithShape="1">
          <a:blip r:embed="rId4">
            <a:alphaModFix/>
          </a:blip>
          <a:srcRect b="-404" l="0" r="0" t="-404"/>
          <a:stretch/>
        </p:blipFill>
        <p:spPr>
          <a:xfrm>
            <a:off x="1143000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b4b14867eed28854f61a0778ce311888.png" id="229" name="Google Shape;229;p8"/>
          <p:cNvPicPr preferRelativeResize="0"/>
          <p:nvPr/>
        </p:nvPicPr>
        <p:blipFill rotWithShape="1">
          <a:blip r:embed="rId5">
            <a:alphaModFix/>
          </a:blip>
          <a:srcRect b="-404" l="0" r="0" t="-404"/>
          <a:stretch/>
        </p:blipFill>
        <p:spPr>
          <a:xfrm>
            <a:off x="4953305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5d011dd77b04abfeb0fc9735283a3d5.png" id="230" name="Google Shape;230;p8"/>
          <p:cNvPicPr preferRelativeResize="0"/>
          <p:nvPr/>
        </p:nvPicPr>
        <p:blipFill rotWithShape="1">
          <a:blip r:embed="rId6">
            <a:alphaModFix/>
          </a:blip>
          <a:srcRect b="-404" l="0" r="0" t="-404"/>
          <a:stretch/>
        </p:blipFill>
        <p:spPr>
          <a:xfrm>
            <a:off x="8762695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91b2fcf0a9fa020dc644d8225b5f7d0d.png" id="231" name="Google Shape;231;p8"/>
          <p:cNvPicPr preferRelativeResize="0"/>
          <p:nvPr/>
        </p:nvPicPr>
        <p:blipFill rotWithShape="1">
          <a:blip r:embed="rId7">
            <a:alphaModFix/>
          </a:blip>
          <a:srcRect b="-404" l="0" r="0" t="-404"/>
          <a:stretch/>
        </p:blipFill>
        <p:spPr>
          <a:xfrm>
            <a:off x="12573000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100a37d2f7d805adc0a22bd43fa21f51.png" id="232" name="Google Shape;232;p8"/>
          <p:cNvPicPr preferRelativeResize="0"/>
          <p:nvPr/>
        </p:nvPicPr>
        <p:blipFill rotWithShape="1">
          <a:blip r:embed="rId8">
            <a:alphaModFix/>
          </a:blip>
          <a:srcRect b="0" l="-406" r="-406" t="0"/>
          <a:stretch/>
        </p:blipFill>
        <p:spPr>
          <a:xfrm>
            <a:off x="1143000" y="8382305"/>
            <a:ext cx="57607" cy="123809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8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 txBox="1"/>
          <p:nvPr/>
        </p:nvSpPr>
        <p:spPr>
          <a:xfrm>
            <a:off x="1350569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Estado atual — diagnóstico em um slide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1143000" y="2381098"/>
            <a:ext cx="1428750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Onde estamos </a:t>
            </a:r>
            <a:r>
              <a:rPr b="1" i="1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hoje.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152430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eNPS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1524305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{{ENPS}}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 txBox="1"/>
          <p:nvPr/>
        </p:nvSpPr>
        <p:spPr>
          <a:xfrm>
            <a:off x="1524305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{{ENPS_SUB}}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 txBox="1"/>
          <p:nvPr/>
        </p:nvSpPr>
        <p:spPr>
          <a:xfrm>
            <a:off x="533369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Satisfação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 txBox="1"/>
          <p:nvPr/>
        </p:nvSpPr>
        <p:spPr>
          <a:xfrm>
            <a:off x="5333695" y="4304995"/>
            <a:ext cx="438089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{{SAT}} / 10</a:t>
            </a:r>
            <a:r>
              <a:rPr b="0" i="0" lang="en-US" sz="270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/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5333695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{{SAT_SUB}}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 txBox="1"/>
          <p:nvPr/>
        </p:nvSpPr>
        <p:spPr>
          <a:xfrm>
            <a:off x="9144000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Risco de retenção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9144000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{{RISCO}}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 txBox="1"/>
          <p:nvPr/>
        </p:nvSpPr>
        <p:spPr>
          <a:xfrm>
            <a:off x="9144000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{{RISCO_SUB}}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 txBox="1"/>
          <p:nvPr/>
        </p:nvSpPr>
        <p:spPr>
          <a:xfrm>
            <a:off x="1295430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Participação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12954305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{{PART}}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 txBox="1"/>
          <p:nvPr/>
        </p:nvSpPr>
        <p:spPr>
          <a:xfrm>
            <a:off x="12954305" y="5219395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 = {{RESP}} · {{BENCH}} {{PART_FB}}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1143000" y="5905195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O que os dados mostram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1143000" y="6295644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8"/>
          <p:cNvSpPr/>
          <p:nvPr/>
        </p:nvSpPr>
        <p:spPr>
          <a:xfrm>
            <a:off x="1143000" y="62956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1638605" y="6295644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1143000" y="6791249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8"/>
          <p:cNvSpPr/>
          <p:nvPr/>
        </p:nvSpPr>
        <p:spPr>
          <a:xfrm>
            <a:off x="1143000" y="67912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B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1638605" y="6791249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1143000" y="7286854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1143000" y="72868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C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1638605" y="7286854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9144000" y="6152998"/>
            <a:ext cx="66678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 txBox="1"/>
          <p:nvPr/>
        </p:nvSpPr>
        <p:spPr>
          <a:xfrm>
            <a:off x="9144000" y="6524244"/>
            <a:ext cx="6667805" cy="7434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Sora"/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Qual é a história que esses indicadores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2250"/>
              <a:buFont typeface="Sora"/>
              <a:buNone/>
            </a:pPr>
            <a:r>
              <a:rPr b="0" i="1" lang="en-US" sz="22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contam juntos?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9144000" y="7496251"/>
            <a:ext cx="66678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[Não basta repetir os KPIs. Traga o quadro completo.]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1524305" y="8572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que as pessoas estão dizendo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1524305" y="8867851"/>
            <a:ext cx="362011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650"/>
              <a:buFont typeface="Sora"/>
              <a:buNone/>
            </a:pPr>
            <a:r>
              <a:rPr b="0" i="0" lang="en-US" sz="16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2–3 percepções recorrentes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 txBox="1"/>
          <p:nvPr/>
        </p:nvSpPr>
        <p:spPr>
          <a:xfrm>
            <a:off x="5333695" y="8542325"/>
            <a:ext cx="10478110" cy="525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[Insira os temas recorrentes que contextualizam 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números acima. Use 2–3 linhas curtas, sem parágrafos.]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16657625" y="9773107"/>
            <a:ext cx="68305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06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271" name="Google Shape;271;p9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9"/>
          <p:cNvSpPr/>
          <p:nvPr/>
        </p:nvSpPr>
        <p:spPr>
          <a:xfrm>
            <a:off x="1143000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9"/>
          <p:cNvSpPr/>
          <p:nvPr/>
        </p:nvSpPr>
        <p:spPr>
          <a:xfrm>
            <a:off x="6476695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11811305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1143000" y="8953805"/>
            <a:ext cx="15811805" cy="761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ef716a7ffcd019e31f4c9db229db726b.png" id="276" name="Google Shape;276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f716a7ffcd019e31f4c9db229db726b.png" id="277" name="Google Shape;277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6476695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f716a7ffcd019e31f4c9db229db726b.png" id="278" name="Google Shape;278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811305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488a9f057625e794ee95b0b10ba4401.png" id="279" name="Google Shape;279;p9"/>
          <p:cNvPicPr preferRelativeResize="0"/>
          <p:nvPr/>
        </p:nvPicPr>
        <p:blipFill rotWithShape="1">
          <a:blip r:embed="rId5">
            <a:alphaModFix/>
          </a:blip>
          <a:srcRect b="0" l="-420" r="-420" t="0"/>
          <a:stretch/>
        </p:blipFill>
        <p:spPr>
          <a:xfrm>
            <a:off x="1143000" y="8953805"/>
            <a:ext cx="57607" cy="761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3b2cf410200ae7e9b69cc3cdce8f143.png" id="280" name="Google Shape;280;p9"/>
          <p:cNvPicPr preferRelativeResize="0"/>
          <p:nvPr/>
        </p:nvPicPr>
        <p:blipFill rotWithShape="1">
          <a:blip r:embed="rId6">
            <a:alphaModFix/>
          </a:blip>
          <a:srcRect b="-2078" l="0" r="0" t="-2078"/>
          <a:stretch/>
        </p:blipFill>
        <p:spPr>
          <a:xfrm>
            <a:off x="6286500" y="5143500"/>
            <a:ext cx="9144" cy="36191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3b2cf410200ae7e9b69cc3cdce8f143.png" id="281" name="Google Shape;281;p9"/>
          <p:cNvPicPr preferRelativeResize="0"/>
          <p:nvPr/>
        </p:nvPicPr>
        <p:blipFill rotWithShape="1">
          <a:blip r:embed="rId6">
            <a:alphaModFix/>
          </a:blip>
          <a:srcRect b="-2078" l="0" r="0" t="-2078"/>
          <a:stretch/>
        </p:blipFill>
        <p:spPr>
          <a:xfrm>
            <a:off x="11620195" y="5143500"/>
            <a:ext cx="9144" cy="361919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9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9"/>
          <p:cNvSpPr txBox="1"/>
          <p:nvPr/>
        </p:nvSpPr>
        <p:spPr>
          <a:xfrm>
            <a:off x="1358798" y="1285646"/>
            <a:ext cx="143561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Âncoras que vale preservar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 txBox="1"/>
          <p:nvPr/>
        </p:nvSpPr>
        <p:spPr>
          <a:xfrm>
            <a:off x="1143000" y="2381098"/>
            <a:ext cx="14287500" cy="1200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está funcionando</a:t>
            </a:r>
            <a:r>
              <a:rPr b="1" i="1" lang="en-US" sz="450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 — </a:t>
            </a: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 vale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ser protegido.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1143000" y="4095598"/>
            <a:ext cx="142875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Síntese do HRBP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1143000" y="4381805"/>
            <a:ext cx="1333561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{{S7_SINTESE}}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 txBox="1"/>
          <p:nvPr/>
        </p:nvSpPr>
        <p:spPr>
          <a:xfrm>
            <a:off x="1524305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{{A0_TOP}}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 txBox="1"/>
          <p:nvPr/>
        </p:nvSpPr>
        <p:spPr>
          <a:xfrm>
            <a:off x="1524305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1524305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 txBox="1"/>
          <p:nvPr/>
        </p:nvSpPr>
        <p:spPr>
          <a:xfrm>
            <a:off x="1524305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{{A0_EV}}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 txBox="1"/>
          <p:nvPr/>
        </p:nvSpPr>
        <p:spPr>
          <a:xfrm>
            <a:off x="1524305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 txBox="1"/>
          <p:nvPr/>
        </p:nvSpPr>
        <p:spPr>
          <a:xfrm>
            <a:off x="1524305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1524305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9"/>
          <p:cNvSpPr txBox="1"/>
          <p:nvPr/>
        </p:nvSpPr>
        <p:spPr>
          <a:xfrm>
            <a:off x="1524305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 txBox="1"/>
          <p:nvPr/>
        </p:nvSpPr>
        <p:spPr>
          <a:xfrm>
            <a:off x="6858000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{{A1_TOP}}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 txBox="1"/>
          <p:nvPr/>
        </p:nvSpPr>
        <p:spPr>
          <a:xfrm>
            <a:off x="6858000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 txBox="1"/>
          <p:nvPr/>
        </p:nvSpPr>
        <p:spPr>
          <a:xfrm>
            <a:off x="6858000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 txBox="1"/>
          <p:nvPr/>
        </p:nvSpPr>
        <p:spPr>
          <a:xfrm>
            <a:off x="6858000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{{A1_EV}}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 txBox="1"/>
          <p:nvPr/>
        </p:nvSpPr>
        <p:spPr>
          <a:xfrm>
            <a:off x="6858000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6858000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 txBox="1"/>
          <p:nvPr/>
        </p:nvSpPr>
        <p:spPr>
          <a:xfrm>
            <a:off x="6858000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 txBox="1"/>
          <p:nvPr/>
        </p:nvSpPr>
        <p:spPr>
          <a:xfrm>
            <a:off x="6858000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 txBox="1"/>
          <p:nvPr/>
        </p:nvSpPr>
        <p:spPr>
          <a:xfrm>
            <a:off x="12191695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{{A2_TOP}}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 txBox="1"/>
          <p:nvPr/>
        </p:nvSpPr>
        <p:spPr>
          <a:xfrm>
            <a:off x="12191695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 txBox="1"/>
          <p:nvPr/>
        </p:nvSpPr>
        <p:spPr>
          <a:xfrm>
            <a:off x="12191695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 txBox="1"/>
          <p:nvPr/>
        </p:nvSpPr>
        <p:spPr>
          <a:xfrm>
            <a:off x="12191695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{{A2_EV}}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 txBox="1"/>
          <p:nvPr/>
        </p:nvSpPr>
        <p:spPr>
          <a:xfrm>
            <a:off x="12191695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 txBox="1"/>
          <p:nvPr/>
        </p:nvSpPr>
        <p:spPr>
          <a:xfrm>
            <a:off x="12191695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 txBox="1"/>
          <p:nvPr/>
        </p:nvSpPr>
        <p:spPr>
          <a:xfrm>
            <a:off x="12191695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 txBox="1"/>
          <p:nvPr/>
        </p:nvSpPr>
        <p:spPr>
          <a:xfrm>
            <a:off x="12191695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1524305" y="9105595"/>
            <a:ext cx="22860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Para refletir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 txBox="1"/>
          <p:nvPr/>
        </p:nvSpPr>
        <p:spPr>
          <a:xfrm>
            <a:off x="1524305" y="9372600"/>
            <a:ext cx="2286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0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LIDERANÇA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4381805" y="9084564"/>
            <a:ext cx="12382805" cy="4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O que estamos fazendo hoje que pode estar contribuindo para essas forças?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O que precisamos preservar conscientemente à medida que a organização evolui?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16668598" y="9773107"/>
            <a:ext cx="68031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07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21" name="Google Shape;321;p10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0"/>
          <p:cNvSpPr/>
          <p:nvPr/>
        </p:nvSpPr>
        <p:spPr>
          <a:xfrm>
            <a:off x="1143000" y="4953305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0"/>
          <p:cNvSpPr/>
          <p:nvPr/>
        </p:nvSpPr>
        <p:spPr>
          <a:xfrm>
            <a:off x="1143000" y="6286500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0"/>
          <p:cNvSpPr/>
          <p:nvPr/>
        </p:nvSpPr>
        <p:spPr>
          <a:xfrm>
            <a:off x="1143000" y="7619695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0"/>
          <p:cNvSpPr/>
          <p:nvPr/>
        </p:nvSpPr>
        <p:spPr>
          <a:xfrm>
            <a:off x="10096805" y="4953305"/>
            <a:ext cx="7048195" cy="2572207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0"/>
          <p:cNvSpPr/>
          <p:nvPr/>
        </p:nvSpPr>
        <p:spPr>
          <a:xfrm>
            <a:off x="1143000" y="9144000"/>
            <a:ext cx="8572500" cy="6099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cfebd8b11c244f877cb9af815970164b.png" id="327" name="Google Shape;327;p10"/>
          <p:cNvPicPr preferRelativeResize="0"/>
          <p:nvPr/>
        </p:nvPicPr>
        <p:blipFill rotWithShape="1">
          <a:blip r:embed="rId4">
            <a:alphaModFix/>
          </a:blip>
          <a:srcRect b="0" l="-406" r="-406" t="0"/>
          <a:stretch/>
        </p:blipFill>
        <p:spPr>
          <a:xfrm>
            <a:off x="1143000" y="4953305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fc12ba6508b39f2df81698200ac048b2.png" id="328" name="Google Shape;328;p10"/>
          <p:cNvPicPr preferRelativeResize="0"/>
          <p:nvPr/>
        </p:nvPicPr>
        <p:blipFill rotWithShape="1">
          <a:blip r:embed="rId5">
            <a:alphaModFix/>
          </a:blip>
          <a:srcRect b="0" l="-406" r="-406" t="0"/>
          <a:stretch/>
        </p:blipFill>
        <p:spPr>
          <a:xfrm>
            <a:off x="1143000" y="6286500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febd8b11c244f877cb9af815970164b.png" id="329" name="Google Shape;329;p10"/>
          <p:cNvPicPr preferRelativeResize="0"/>
          <p:nvPr/>
        </p:nvPicPr>
        <p:blipFill rotWithShape="1">
          <a:blip r:embed="rId4">
            <a:alphaModFix/>
          </a:blip>
          <a:srcRect b="0" l="-406" r="-406" t="0"/>
          <a:stretch/>
        </p:blipFill>
        <p:spPr>
          <a:xfrm>
            <a:off x="1143000" y="7619695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0c4c30db12edd56752663768ca831d6.png" id="330" name="Google Shape;330;p10"/>
          <p:cNvPicPr preferRelativeResize="0"/>
          <p:nvPr/>
        </p:nvPicPr>
        <p:blipFill rotWithShape="1">
          <a:blip r:embed="rId6">
            <a:alphaModFix/>
          </a:blip>
          <a:srcRect b="0" l="-391" r="-391" t="0"/>
          <a:stretch/>
        </p:blipFill>
        <p:spPr>
          <a:xfrm>
            <a:off x="10096805" y="4953305"/>
            <a:ext cx="57607" cy="2572207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0"/>
          <p:cNvSpPr/>
          <p:nvPr/>
        </p:nvSpPr>
        <p:spPr>
          <a:xfrm>
            <a:off x="10096805" y="7715707"/>
            <a:ext cx="7067398" cy="1733702"/>
          </a:xfrm>
          <a:prstGeom prst="rect">
            <a:avLst/>
          </a:prstGeom>
          <a:solidFill>
            <a:srgbClr val="FBFBFD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0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0"/>
          <p:cNvSpPr txBox="1"/>
          <p:nvPr/>
        </p:nvSpPr>
        <p:spPr>
          <a:xfrm>
            <a:off x="1352398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Questões que merecem atenção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 txBox="1"/>
          <p:nvPr/>
        </p:nvSpPr>
        <p:spPr>
          <a:xfrm>
            <a:off x="1143000" y="2381098"/>
            <a:ext cx="13335610" cy="1200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Onde devemos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4500"/>
              <a:buFont typeface="Sora"/>
              <a:buNone/>
            </a:pPr>
            <a:r>
              <a:rPr b="1" i="1" lang="en-US" sz="45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prestar atenção?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1143000" y="4095598"/>
            <a:ext cx="1428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Síntese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1143000" y="4371746"/>
            <a:ext cx="1428750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{{S8_SINTESE}}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 txBox="1"/>
          <p:nvPr/>
        </p:nvSpPr>
        <p:spPr>
          <a:xfrm>
            <a:off x="1524305" y="5505602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{{F0_TOP}}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 txBox="1"/>
          <p:nvPr/>
        </p:nvSpPr>
        <p:spPr>
          <a:xfrm>
            <a:off x="1524305" y="5143500"/>
            <a:ext cx="676656" cy="247802"/>
          </a:xfrm>
          <a:prstGeom prst="rect">
            <a:avLst/>
          </a:prstGeom>
          <a:solidFill>
            <a:srgbClr val="D5225D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TRATAR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 txBox="1"/>
          <p:nvPr/>
        </p:nvSpPr>
        <p:spPr>
          <a:xfrm>
            <a:off x="5333695" y="5143500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5333695" y="5362956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{{F0_EV}}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5333695" y="563910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5333695" y="5857646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1524305" y="6838798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{{F1_TOP}}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 txBox="1"/>
          <p:nvPr/>
        </p:nvSpPr>
        <p:spPr>
          <a:xfrm>
            <a:off x="1524305" y="6476695"/>
            <a:ext cx="1028700" cy="247802"/>
          </a:xfrm>
          <a:prstGeom prst="rect">
            <a:avLst/>
          </a:prstGeom>
          <a:solidFill>
            <a:srgbClr val="B68A14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APROFUNDAR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5333695" y="647669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5333695" y="6696151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{{F1_EV}}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 txBox="1"/>
          <p:nvPr/>
        </p:nvSpPr>
        <p:spPr>
          <a:xfrm>
            <a:off x="5333695" y="6972300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 txBox="1"/>
          <p:nvPr/>
        </p:nvSpPr>
        <p:spPr>
          <a:xfrm>
            <a:off x="5333695" y="7191756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 txBox="1"/>
          <p:nvPr/>
        </p:nvSpPr>
        <p:spPr>
          <a:xfrm>
            <a:off x="1524305" y="8172907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{{F2_TOP}}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 txBox="1"/>
          <p:nvPr/>
        </p:nvSpPr>
        <p:spPr>
          <a:xfrm>
            <a:off x="1524305" y="7810805"/>
            <a:ext cx="676656" cy="247802"/>
          </a:xfrm>
          <a:prstGeom prst="rect">
            <a:avLst/>
          </a:prstGeom>
          <a:solidFill>
            <a:srgbClr val="D5225D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TRATAR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5333695" y="781080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 txBox="1"/>
          <p:nvPr/>
        </p:nvSpPr>
        <p:spPr>
          <a:xfrm>
            <a:off x="5333695" y="8029346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{{F2_EV}}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 txBox="1"/>
          <p:nvPr/>
        </p:nvSpPr>
        <p:spPr>
          <a:xfrm>
            <a:off x="5333695" y="830549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 txBox="1"/>
          <p:nvPr/>
        </p:nvSpPr>
        <p:spPr>
          <a:xfrm>
            <a:off x="5333695" y="8524951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 txBox="1"/>
          <p:nvPr/>
        </p:nvSpPr>
        <p:spPr>
          <a:xfrm>
            <a:off x="10477195" y="5201107"/>
            <a:ext cx="6286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que as pessoas estão dizendo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 txBox="1"/>
          <p:nvPr/>
        </p:nvSpPr>
        <p:spPr>
          <a:xfrm>
            <a:off x="10477195" y="5465369"/>
            <a:ext cx="6286500" cy="564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96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[2–3 percepções recorrentes ligadas às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96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fricções identificadas. Mantenha curtas.]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 txBox="1"/>
          <p:nvPr/>
        </p:nvSpPr>
        <p:spPr>
          <a:xfrm>
            <a:off x="10477195" y="6255410"/>
            <a:ext cx="2581351" cy="495605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90500" spcFirstLastPara="1" rIns="190500" wrap="square" tIns="139700">
            <a:noAutofit/>
          </a:bodyPr>
          <a:lstStyle/>
          <a:p>
            <a:pPr indent="0" lvl="0" marL="0" marR="0" rtl="0" algn="l">
              <a:lnSpc>
                <a:spcPct val="15502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 txBox="1"/>
          <p:nvPr/>
        </p:nvSpPr>
        <p:spPr>
          <a:xfrm>
            <a:off x="10477195" y="8001000"/>
            <a:ext cx="6286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Dashboard de apoio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 txBox="1"/>
          <p:nvPr/>
        </p:nvSpPr>
        <p:spPr>
          <a:xfrm>
            <a:off x="10477195" y="8275320"/>
            <a:ext cx="6286500" cy="4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[COLE A EVIDÊNCIA DO DASHBOARD AQUI — SOMENTE A VISÃO QUE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AJUDA A QUANTIFICAR O ACHADO]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1524305" y="9277502"/>
            <a:ext cx="8001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050"/>
              <a:buFont typeface="Sora"/>
              <a:buNone/>
            </a:pPr>
            <a:r>
              <a:rPr b="1" i="0" lang="en-US" sz="10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Para refletir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 txBox="1"/>
          <p:nvPr/>
        </p:nvSpPr>
        <p:spPr>
          <a:xfrm>
            <a:off x="1524305" y="9525305"/>
            <a:ext cx="83557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que vocês reconhecem nesses achados? O que pode ajudar a explicar essa experiência no {{AREA}}?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 txBox="1"/>
          <p:nvPr/>
        </p:nvSpPr>
        <p:spPr>
          <a:xfrm>
            <a:off x="16660368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08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69" name="Google Shape;369;p11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1"/>
          <p:cNvSpPr/>
          <p:nvPr/>
        </p:nvSpPr>
        <p:spPr>
          <a:xfrm>
            <a:off x="1143000" y="5143500"/>
            <a:ext cx="7429500" cy="3238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8762695" y="5143500"/>
            <a:ext cx="8382305" cy="3238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1"/>
          <p:cNvSpPr/>
          <p:nvPr/>
        </p:nvSpPr>
        <p:spPr>
          <a:xfrm>
            <a:off x="1143000" y="8686800"/>
            <a:ext cx="9715500" cy="1188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11239805" y="8419795"/>
            <a:ext cx="5905195" cy="14474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4b55038ac9931b702eeae16fa65097e1.png" id="374" name="Google Shape;374;p11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5143500"/>
            <a:ext cx="7429500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11"/>
          <p:cNvSpPr/>
          <p:nvPr/>
        </p:nvSpPr>
        <p:spPr>
          <a:xfrm>
            <a:off x="5524805" y="5467198"/>
            <a:ext cx="2686507" cy="15435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8f1d9b6cf2357ded5b3a924ef60bc931.png" id="376" name="Google Shape;376;p11"/>
          <p:cNvPicPr preferRelativeResize="0"/>
          <p:nvPr/>
        </p:nvPicPr>
        <p:blipFill rotWithShape="1">
          <a:blip r:embed="rId5">
            <a:alphaModFix/>
          </a:blip>
          <a:srcRect b="-398" l="0" r="0" t="-398"/>
          <a:stretch/>
        </p:blipFill>
        <p:spPr>
          <a:xfrm>
            <a:off x="8762695" y="5143500"/>
            <a:ext cx="83823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1"/>
          <p:cNvSpPr/>
          <p:nvPr/>
        </p:nvSpPr>
        <p:spPr>
          <a:xfrm>
            <a:off x="13144500" y="5467198"/>
            <a:ext cx="3638398" cy="15435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b18a5eabbc8021883d6efb3f6c7a4d64.png" id="378" name="Google Shape;378;p11"/>
          <p:cNvPicPr preferRelativeResize="0"/>
          <p:nvPr/>
        </p:nvPicPr>
        <p:blipFill rotWithShape="1">
          <a:blip r:embed="rId6">
            <a:alphaModFix/>
          </a:blip>
          <a:srcRect b="0" l="-411" r="-411" t="0"/>
          <a:stretch/>
        </p:blipFill>
        <p:spPr>
          <a:xfrm>
            <a:off x="11239805" y="8419795"/>
            <a:ext cx="57607" cy="14474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46ce620dca7890a08957b0984a11f2a.png" id="379" name="Google Shape;379;p11"/>
          <p:cNvPicPr preferRelativeResize="0"/>
          <p:nvPr/>
        </p:nvPicPr>
        <p:blipFill rotWithShape="1">
          <a:blip r:embed="rId7">
            <a:alphaModFix/>
          </a:blip>
          <a:srcRect b="0" l="-2083" r="-2083" t="0"/>
          <a:stretch/>
        </p:blipFill>
        <p:spPr>
          <a:xfrm>
            <a:off x="1143000" y="8686800"/>
            <a:ext cx="9715500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46ce620dca7890a08957b0984a11f2a.png" id="380" name="Google Shape;380;p11"/>
          <p:cNvPicPr preferRelativeResize="0"/>
          <p:nvPr/>
        </p:nvPicPr>
        <p:blipFill rotWithShape="1">
          <a:blip r:embed="rId7">
            <a:alphaModFix/>
          </a:blip>
          <a:srcRect b="0" l="-2083" r="-2083" t="0"/>
          <a:stretch/>
        </p:blipFill>
        <p:spPr>
          <a:xfrm>
            <a:off x="1143000" y="9849002"/>
            <a:ext cx="97155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1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1"/>
          <p:cNvSpPr txBox="1"/>
          <p:nvPr/>
        </p:nvSpPr>
        <p:spPr>
          <a:xfrm>
            <a:off x="1350569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 txBox="1"/>
          <p:nvPr/>
        </p:nvSpPr>
        <p:spPr>
          <a:xfrm>
            <a:off x="1904695" y="133319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Diferenças entre populações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 txBox="1"/>
          <p:nvPr/>
        </p:nvSpPr>
        <p:spPr>
          <a:xfrm>
            <a:off x="1143000" y="2381098"/>
            <a:ext cx="14287500" cy="11622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350"/>
              <a:buFont typeface="Sora"/>
              <a:buNone/>
            </a:pPr>
            <a:r>
              <a:rPr b="1" i="0" lang="en-US" sz="43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risco de retenção </a:t>
            </a:r>
            <a:r>
              <a:rPr b="1" i="1" lang="en-US" sz="43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não se distribui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350"/>
              <a:buFont typeface="Sora"/>
              <a:buNone/>
            </a:pPr>
            <a:r>
              <a:rPr b="1" i="0" lang="en-US" sz="43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necessariamente de forma igual.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 txBox="1"/>
          <p:nvPr/>
        </p:nvSpPr>
        <p:spPr>
          <a:xfrm>
            <a:off x="1143000" y="4095598"/>
            <a:ext cx="1428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Resumo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 txBox="1"/>
          <p:nvPr/>
        </p:nvSpPr>
        <p:spPr>
          <a:xfrm>
            <a:off x="1143000" y="4371746"/>
            <a:ext cx="1333561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[Se há diferenças significativas entre populações dentro do {{AREA}}]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 txBox="1"/>
          <p:nvPr/>
        </p:nvSpPr>
        <p:spPr>
          <a:xfrm>
            <a:off x="1524305" y="5467198"/>
            <a:ext cx="381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Por escopo de função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 txBox="1"/>
          <p:nvPr/>
        </p:nvSpPr>
        <p:spPr>
          <a:xfrm>
            <a:off x="1524305" y="5724144"/>
            <a:ext cx="3810305" cy="724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vs pessoas individuais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 txBox="1"/>
          <p:nvPr/>
        </p:nvSpPr>
        <p:spPr>
          <a:xfrm>
            <a:off x="5544007" y="5715000"/>
            <a:ext cx="2628900" cy="152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 txBox="1"/>
          <p:nvPr/>
        </p:nvSpPr>
        <p:spPr>
          <a:xfrm>
            <a:off x="1524305" y="7429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 txBox="1"/>
          <p:nvPr/>
        </p:nvSpPr>
        <p:spPr>
          <a:xfrm>
            <a:off x="1524305" y="7667244"/>
            <a:ext cx="36201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[XX]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 txBox="1"/>
          <p:nvPr/>
        </p:nvSpPr>
        <p:spPr>
          <a:xfrm>
            <a:off x="9144000" y="5467198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Por tempo de casa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 txBox="1"/>
          <p:nvPr/>
        </p:nvSpPr>
        <p:spPr>
          <a:xfrm>
            <a:off x="9144000" y="5724144"/>
            <a:ext cx="3620110" cy="10863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Risco de retenção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por faixa de tempo de casa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 txBox="1"/>
          <p:nvPr/>
        </p:nvSpPr>
        <p:spPr>
          <a:xfrm>
            <a:off x="13278002" y="5715000"/>
            <a:ext cx="3372307" cy="152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 txBox="1"/>
          <p:nvPr/>
        </p:nvSpPr>
        <p:spPr>
          <a:xfrm>
            <a:off x="9144000" y="7429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 txBox="1"/>
          <p:nvPr/>
        </p:nvSpPr>
        <p:spPr>
          <a:xfrm>
            <a:off x="9144000" y="7667244"/>
            <a:ext cx="36201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[XX]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 txBox="1"/>
          <p:nvPr/>
        </p:nvSpPr>
        <p:spPr>
          <a:xfrm>
            <a:off x="1143000" y="8449056"/>
            <a:ext cx="8572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Tabela de populações — até 3–4 destacadas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 txBox="1"/>
          <p:nvPr/>
        </p:nvSpPr>
        <p:spPr>
          <a:xfrm>
            <a:off x="1333195" y="8741664"/>
            <a:ext cx="1524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População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1"/>
          <p:cNvSpPr txBox="1"/>
          <p:nvPr/>
        </p:nvSpPr>
        <p:spPr>
          <a:xfrm>
            <a:off x="3047695" y="8741664"/>
            <a:ext cx="1143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Risco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 txBox="1"/>
          <p:nvPr/>
        </p:nvSpPr>
        <p:spPr>
          <a:xfrm>
            <a:off x="4381805" y="8741664"/>
            <a:ext cx="1524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Benchmark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 txBox="1"/>
          <p:nvPr/>
        </p:nvSpPr>
        <p:spPr>
          <a:xfrm>
            <a:off x="6096305" y="8741664"/>
            <a:ext cx="762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 txBox="1"/>
          <p:nvPr/>
        </p:nvSpPr>
        <p:spPr>
          <a:xfrm>
            <a:off x="7048195" y="8741664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Qualificação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 txBox="1"/>
          <p:nvPr/>
        </p:nvSpPr>
        <p:spPr>
          <a:xfrm>
            <a:off x="1333195" y="8979408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{{P_R0_C0}}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05;p11"/>
          <p:cNvSpPr txBox="1"/>
          <p:nvPr/>
        </p:nvSpPr>
        <p:spPr>
          <a:xfrm>
            <a:off x="1333195" y="9637776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{{P_R3_C0}}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05;p11"/>
          <p:cNvSpPr txBox="1"/>
          <p:nvPr/>
        </p:nvSpPr>
        <p:spPr>
          <a:xfrm>
            <a:off x="1333195" y="9418320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{{P_R2_C0}}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05;p11"/>
          <p:cNvSpPr txBox="1"/>
          <p:nvPr/>
        </p:nvSpPr>
        <p:spPr>
          <a:xfrm>
            <a:off x="1333195" y="9198864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{{P_R1_C0}}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1"/>
          <p:cNvSpPr txBox="1"/>
          <p:nvPr/>
        </p:nvSpPr>
        <p:spPr>
          <a:xfrm>
            <a:off x="3047695" y="8979408"/>
            <a:ext cx="1143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{{P_R0_C1}}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06;p11"/>
          <p:cNvSpPr txBox="1"/>
          <p:nvPr/>
        </p:nvSpPr>
        <p:spPr>
          <a:xfrm>
            <a:off x="3047695" y="9637776"/>
            <a:ext cx="1143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{{P_R3_C1}}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06;p11"/>
          <p:cNvSpPr txBox="1"/>
          <p:nvPr/>
        </p:nvSpPr>
        <p:spPr>
          <a:xfrm>
            <a:off x="3047695" y="9418320"/>
            <a:ext cx="1143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{{P_R2_C1}}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06;p11"/>
          <p:cNvSpPr txBox="1"/>
          <p:nvPr/>
        </p:nvSpPr>
        <p:spPr>
          <a:xfrm>
            <a:off x="3047695" y="9198864"/>
            <a:ext cx="1143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{{P_R1_C1}}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1"/>
          <p:cNvSpPr txBox="1"/>
          <p:nvPr/>
        </p:nvSpPr>
        <p:spPr>
          <a:xfrm>
            <a:off x="4381805" y="8979408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{{P_R0_C2}}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07;p11"/>
          <p:cNvSpPr txBox="1"/>
          <p:nvPr/>
        </p:nvSpPr>
        <p:spPr>
          <a:xfrm>
            <a:off x="4381805" y="9637776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{{P_R3_C2}}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07;p11"/>
          <p:cNvSpPr txBox="1"/>
          <p:nvPr/>
        </p:nvSpPr>
        <p:spPr>
          <a:xfrm>
            <a:off x="4381805" y="9418320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{{P_R2_C2}}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07;p11"/>
          <p:cNvSpPr txBox="1"/>
          <p:nvPr/>
        </p:nvSpPr>
        <p:spPr>
          <a:xfrm>
            <a:off x="4381805" y="9198864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{{P_R1_C2}}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 txBox="1"/>
          <p:nvPr/>
        </p:nvSpPr>
        <p:spPr>
          <a:xfrm>
            <a:off x="6096305" y="8979408"/>
            <a:ext cx="762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{{P_R0_C3}}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08;p11"/>
          <p:cNvSpPr txBox="1"/>
          <p:nvPr/>
        </p:nvSpPr>
        <p:spPr>
          <a:xfrm>
            <a:off x="6096305" y="9637776"/>
            <a:ext cx="762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{{P_R3_C3}}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08;p11"/>
          <p:cNvSpPr txBox="1"/>
          <p:nvPr/>
        </p:nvSpPr>
        <p:spPr>
          <a:xfrm>
            <a:off x="6096305" y="9418320"/>
            <a:ext cx="762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{{P_R2_C3}}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08;p11"/>
          <p:cNvSpPr txBox="1"/>
          <p:nvPr/>
        </p:nvSpPr>
        <p:spPr>
          <a:xfrm>
            <a:off x="6096305" y="9198864"/>
            <a:ext cx="762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{{P_R1_C3}}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 txBox="1"/>
          <p:nvPr/>
        </p:nvSpPr>
        <p:spPr>
          <a:xfrm>
            <a:off x="7048195" y="8979408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{{P_R0_C4}}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09;p11"/>
          <p:cNvSpPr txBox="1"/>
          <p:nvPr/>
        </p:nvSpPr>
        <p:spPr>
          <a:xfrm>
            <a:off x="7048195" y="9637776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{{P_R3_C4}}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09;p11"/>
          <p:cNvSpPr txBox="1"/>
          <p:nvPr/>
        </p:nvSpPr>
        <p:spPr>
          <a:xfrm>
            <a:off x="7048195" y="9418320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{{P_R2_C4}}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09;p11"/>
          <p:cNvSpPr txBox="1"/>
          <p:nvPr/>
        </p:nvSpPr>
        <p:spPr>
          <a:xfrm>
            <a:off x="7048195" y="9198864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{{P_R1_C4}}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 txBox="1"/>
          <p:nvPr/>
        </p:nvSpPr>
        <p:spPr>
          <a:xfrm>
            <a:off x="11620195" y="8572500"/>
            <a:ext cx="52578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Diferenças entre populações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 txBox="1"/>
          <p:nvPr/>
        </p:nvSpPr>
        <p:spPr>
          <a:xfrm>
            <a:off x="11620195" y="8829446"/>
            <a:ext cx="5257800" cy="4197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952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Indicam onde pode valer atenção adicional — não explicam </a:t>
            </a: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a diferença existe. </a:t>
            </a:r>
            <a:r>
              <a:rPr b="1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pequeno exige cautela adicional.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1"/>
          <p:cNvSpPr txBox="1"/>
          <p:nvPr/>
        </p:nvSpPr>
        <p:spPr>
          <a:xfrm>
            <a:off x="11620195" y="9338767"/>
            <a:ext cx="5257800" cy="3721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Quais dessas vocês reconhecem? Que contexto adicional precisaríamos antes de decidir se vamos agir?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 txBox="1"/>
          <p:nvPr/>
        </p:nvSpPr>
        <p:spPr>
          <a:xfrm>
            <a:off x="16657625" y="9773107"/>
            <a:ext cx="68305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09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14" name="Chart 413"/>
          <p:cNvGraphicFramePr>
            <a:graphicFrameLocks noGrp="1"/>
          </p:cNvGraphicFramePr>
          <p:nvPr/>
        </p:nvGraphicFramePr>
        <p:xfrm>
          <a:off x="5559552" y="5687568"/>
          <a:ext cx="2615184" cy="1298448"/>
        </p:xfrm>
        <a:graphic>
          <a:graphicData uri="http://schemas.openxmlformats.org/drawingml/2006/chart">
            <c:chart r:id="rId8"/>
          </a:graphicData>
        </a:graphic>
      </p:graphicFrame>
      <p:graphicFrame>
        <p:nvGraphicFramePr>
          <p:cNvPr id="415" name="Chart 414"/>
          <p:cNvGraphicFramePr>
            <a:graphicFrameLocks noGrp="1"/>
          </p:cNvGraphicFramePr>
          <p:nvPr/>
        </p:nvGraphicFramePr>
        <p:xfrm>
          <a:off x="13185648" y="5687568"/>
          <a:ext cx="3566160" cy="1298448"/>
        </p:xfrm>
        <a:graphic>
          <a:graphicData uri="http://schemas.openxmlformats.org/drawingml/2006/chart">
            <c:chart r:id="rId9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419" name="Google Shape;419;p12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2"/>
          <p:cNvSpPr/>
          <p:nvPr/>
        </p:nvSpPr>
        <p:spPr>
          <a:xfrm>
            <a:off x="1143000" y="4095598"/>
            <a:ext cx="6476695" cy="3047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2"/>
          <p:cNvSpPr/>
          <p:nvPr/>
        </p:nvSpPr>
        <p:spPr>
          <a:xfrm>
            <a:off x="10668305" y="4095598"/>
            <a:ext cx="6476695" cy="3047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1143000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2"/>
          <p:cNvSpPr/>
          <p:nvPr/>
        </p:nvSpPr>
        <p:spPr>
          <a:xfrm>
            <a:off x="4953305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2"/>
          <p:cNvSpPr/>
          <p:nvPr/>
        </p:nvSpPr>
        <p:spPr>
          <a:xfrm>
            <a:off x="8762695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2"/>
          <p:cNvSpPr/>
          <p:nvPr/>
        </p:nvSpPr>
        <p:spPr>
          <a:xfrm>
            <a:off x="12573000" y="7905902"/>
            <a:ext cx="4591202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2"/>
          <p:cNvSpPr/>
          <p:nvPr/>
        </p:nvSpPr>
        <p:spPr>
          <a:xfrm>
            <a:off x="1143000" y="8953805"/>
            <a:ext cx="16002000" cy="76169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b0f6c09112975f81ae344edcdd393be3.png" id="427" name="Google Shape;427;p12"/>
          <p:cNvPicPr preferRelativeResize="0"/>
          <p:nvPr/>
        </p:nvPicPr>
        <p:blipFill rotWithShape="1">
          <a:blip r:embed="rId4">
            <a:alphaModFix/>
          </a:blip>
          <a:srcRect b="0" l="-405" r="-405" t="0"/>
          <a:stretch/>
        </p:blipFill>
        <p:spPr>
          <a:xfrm>
            <a:off x="1143000" y="4095598"/>
            <a:ext cx="57607" cy="3047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54b47def6178dcace7a7eeb1bc211a6.png" id="428" name="Google Shape;428;p12"/>
          <p:cNvPicPr preferRelativeResize="0"/>
          <p:nvPr/>
        </p:nvPicPr>
        <p:blipFill rotWithShape="1">
          <a:blip r:embed="rId5">
            <a:alphaModFix/>
          </a:blip>
          <a:srcRect b="0" l="-405" r="-405" t="0"/>
          <a:stretch/>
        </p:blipFill>
        <p:spPr>
          <a:xfrm>
            <a:off x="10668305" y="4095598"/>
            <a:ext cx="57607" cy="3047695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33319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2"/>
          <p:cNvSpPr/>
          <p:nvPr/>
        </p:nvSpPr>
        <p:spPr>
          <a:xfrm>
            <a:off x="5143500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2"/>
          <p:cNvSpPr/>
          <p:nvPr/>
        </p:nvSpPr>
        <p:spPr>
          <a:xfrm>
            <a:off x="895380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4B5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1276319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B68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fe779508fdac7c18971789675b78fb26.png" id="433" name="Google Shape;433;p12"/>
          <p:cNvPicPr preferRelativeResize="0"/>
          <p:nvPr/>
        </p:nvPicPr>
        <p:blipFill rotWithShape="1">
          <a:blip r:embed="rId6">
            <a:alphaModFix/>
          </a:blip>
          <a:srcRect b="-408" l="0" r="0" t="-408"/>
          <a:stretch/>
        </p:blipFill>
        <p:spPr>
          <a:xfrm>
            <a:off x="8191195" y="5609844"/>
            <a:ext cx="1904695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10116007" y="5057546"/>
            <a:ext cx="171907" cy="190195"/>
          </a:xfrm>
          <a:prstGeom prst="rect">
            <a:avLst/>
          </a:prstGeom>
          <a:noFill/>
          <a:ln cap="flat" cmpd="sng" w="1270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895C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2"/>
          <p:cNvSpPr txBox="1"/>
          <p:nvPr/>
        </p:nvSpPr>
        <p:spPr>
          <a:xfrm>
            <a:off x="1292962" y="1285646"/>
            <a:ext cx="295351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 txBox="1"/>
          <p:nvPr/>
        </p:nvSpPr>
        <p:spPr>
          <a:xfrm>
            <a:off x="1904695" y="133319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evento recente mudou o quadro?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 txBox="1"/>
          <p:nvPr/>
        </p:nvSpPr>
        <p:spPr>
          <a:xfrm>
            <a:off x="1143000" y="2381098"/>
            <a:ext cx="15240305" cy="10863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050"/>
              <a:buFont typeface="Sora"/>
              <a:buNone/>
            </a:pP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evento recente mudou </a:t>
            </a:r>
            <a:r>
              <a:rPr b="1" i="1" lang="en-US" sz="405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materialmente</a:t>
            </a: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 a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050"/>
              <a:buFont typeface="Sora"/>
              <a:buNone/>
            </a:pP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percepção das pessoas?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 txBox="1"/>
          <p:nvPr/>
        </p:nvSpPr>
        <p:spPr>
          <a:xfrm>
            <a:off x="1524305" y="4438498"/>
            <a:ext cx="5906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Evidência da pesquisa · antes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 txBox="1"/>
          <p:nvPr/>
        </p:nvSpPr>
        <p:spPr>
          <a:xfrm>
            <a:off x="1524305" y="4714646"/>
            <a:ext cx="590611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 pesquisa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já vinha mostrando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 txBox="1"/>
          <p:nvPr/>
        </p:nvSpPr>
        <p:spPr>
          <a:xfrm>
            <a:off x="1524305" y="5671109"/>
            <a:ext cx="5906110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[Resumo do HRBP sobre os achados pré-evento relevantes — 2–3 linhas curtas que ancoram o que já sabíamos]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2"/>
          <p:cNvSpPr txBox="1"/>
          <p:nvPr/>
        </p:nvSpPr>
        <p:spPr>
          <a:xfrm>
            <a:off x="8001000" y="6286500"/>
            <a:ext cx="2286000" cy="3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Comparado com o que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ouvimos depois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 txBox="1"/>
          <p:nvPr/>
        </p:nvSpPr>
        <p:spPr>
          <a:xfrm>
            <a:off x="11048695" y="4438498"/>
            <a:ext cx="5906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Pulso · depois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 txBox="1"/>
          <p:nvPr/>
        </p:nvSpPr>
        <p:spPr>
          <a:xfrm>
            <a:off x="11048695" y="4714646"/>
            <a:ext cx="590611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ouvimos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depois do evento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 txBox="1"/>
          <p:nvPr/>
        </p:nvSpPr>
        <p:spPr>
          <a:xfrm>
            <a:off x="11048695" y="5671109"/>
            <a:ext cx="5906110" cy="46725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9700" lIns="152400" spcFirstLastPara="1" rIns="152400" wrap="square" tIns="139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{{EVENTO_RES}}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 txBox="1"/>
          <p:nvPr/>
        </p:nvSpPr>
        <p:spPr>
          <a:xfrm>
            <a:off x="11048695" y="6270955"/>
            <a:ext cx="5906110" cy="46725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52400" spcFirstLastPara="1" rIns="152400" wrap="square" tIns="139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[INSERIR RESUMO DA PERCEPÇÃO PÓS-EVENTO]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2"/>
          <p:cNvSpPr txBox="1"/>
          <p:nvPr/>
        </p:nvSpPr>
        <p:spPr>
          <a:xfrm>
            <a:off x="1143000" y="7524598"/>
            <a:ext cx="1600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 — selecione uma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2"/>
          <p:cNvSpPr txBox="1"/>
          <p:nvPr/>
        </p:nvSpPr>
        <p:spPr>
          <a:xfrm>
            <a:off x="1714500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Reforça padrões existentes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2"/>
          <p:cNvSpPr txBox="1"/>
          <p:nvPr/>
        </p:nvSpPr>
        <p:spPr>
          <a:xfrm>
            <a:off x="5524805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Sinal novo / contextual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 txBox="1"/>
          <p:nvPr/>
        </p:nvSpPr>
        <p:spPr>
          <a:xfrm>
            <a:off x="9334195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Sem diferença material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 txBox="1"/>
          <p:nvPr/>
        </p:nvSpPr>
        <p:spPr>
          <a:xfrm>
            <a:off x="13144500" y="8096098"/>
            <a:ext cx="388162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Evidência insuficiente para concluir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2"/>
          <p:cNvSpPr txBox="1"/>
          <p:nvPr/>
        </p:nvSpPr>
        <p:spPr>
          <a:xfrm>
            <a:off x="1524305" y="9105595"/>
            <a:ext cx="2667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Explicação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2"/>
          <p:cNvSpPr txBox="1"/>
          <p:nvPr/>
        </p:nvSpPr>
        <p:spPr>
          <a:xfrm>
            <a:off x="1524305" y="9344254"/>
            <a:ext cx="2667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Máx. 2 frases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2"/>
          <p:cNvSpPr txBox="1"/>
          <p:nvPr/>
        </p:nvSpPr>
        <p:spPr>
          <a:xfrm>
            <a:off x="4381805" y="9105595"/>
            <a:ext cx="12573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[Explicação do HRBP para a classificação escolhida. O que, se algo, esse contexto deveria mudar nas nossas prioridades?]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 txBox="1"/>
          <p:nvPr/>
        </p:nvSpPr>
        <p:spPr>
          <a:xfrm>
            <a:off x="16689629" y="9773107"/>
            <a:ext cx="67757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10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461" name="Google Shape;461;p13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3"/>
          <p:cNvSpPr/>
          <p:nvPr/>
        </p:nvSpPr>
        <p:spPr>
          <a:xfrm>
            <a:off x="1143000" y="4286707"/>
            <a:ext cx="495330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3"/>
          <p:cNvSpPr/>
          <p:nvPr/>
        </p:nvSpPr>
        <p:spPr>
          <a:xfrm>
            <a:off x="6476695" y="4286707"/>
            <a:ext cx="495330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11811305" y="4286707"/>
            <a:ext cx="533369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3"/>
          <p:cNvSpPr/>
          <p:nvPr/>
        </p:nvSpPr>
        <p:spPr>
          <a:xfrm>
            <a:off x="1143000" y="9010498"/>
            <a:ext cx="16002000" cy="7242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43c2393b353c9efeaffb0360f0e5b8f7.png" id="466" name="Google Shape;466;p13"/>
          <p:cNvPicPr preferRelativeResize="0"/>
          <p:nvPr/>
        </p:nvPicPr>
        <p:blipFill rotWithShape="1">
          <a:blip r:embed="rId4">
            <a:alphaModFix/>
          </a:blip>
          <a:srcRect b="-397" l="0" r="0" t="-397"/>
          <a:stretch/>
        </p:blipFill>
        <p:spPr>
          <a:xfrm>
            <a:off x="1143000" y="4286707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9bc75f0390e520566127804b6766c6e2.png" id="467" name="Google Shape;467;p13"/>
          <p:cNvPicPr preferRelativeResize="0"/>
          <p:nvPr/>
        </p:nvPicPr>
        <p:blipFill rotWithShape="1">
          <a:blip r:embed="rId5">
            <a:alphaModFix/>
          </a:blip>
          <a:srcRect b="-397" l="0" r="0" t="-397"/>
          <a:stretch/>
        </p:blipFill>
        <p:spPr>
          <a:xfrm>
            <a:off x="6476695" y="4286707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4b526dd164ec794df5a6f8b2ac4a433.png" id="468" name="Google Shape;468;p13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4286707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13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3"/>
          <p:cNvSpPr txBox="1"/>
          <p:nvPr/>
        </p:nvSpPr>
        <p:spPr>
          <a:xfrm>
            <a:off x="1330452" y="1285646"/>
            <a:ext cx="238658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3"/>
          <p:cNvSpPr txBox="1"/>
          <p:nvPr/>
        </p:nvSpPr>
        <p:spPr>
          <a:xfrm>
            <a:off x="1904695" y="1333195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Da análise do RH à conversa com a liderança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3"/>
          <p:cNvSpPr txBox="1"/>
          <p:nvPr/>
        </p:nvSpPr>
        <p:spPr>
          <a:xfrm>
            <a:off x="1143000" y="2438705"/>
            <a:ext cx="14287500" cy="112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sabemos — e o que ainda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precisamos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aprofundar?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3"/>
          <p:cNvSpPr txBox="1"/>
          <p:nvPr/>
        </p:nvSpPr>
        <p:spPr>
          <a:xfrm>
            <a:off x="1524305" y="4629607"/>
            <a:ext cx="42867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3"/>
          <p:cNvSpPr txBox="1"/>
          <p:nvPr/>
        </p:nvSpPr>
        <p:spPr>
          <a:xfrm>
            <a:off x="1524305" y="4905756"/>
            <a:ext cx="4286707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sabemos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3"/>
          <p:cNvSpPr txBox="1"/>
          <p:nvPr/>
        </p:nvSpPr>
        <p:spPr>
          <a:xfrm>
            <a:off x="1524305" y="5381244"/>
            <a:ext cx="42867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Conclusões sustentadas pelos resultados. HRBP preenche antes da reunião.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3"/>
          <p:cNvSpPr txBox="1"/>
          <p:nvPr/>
        </p:nvSpPr>
        <p:spPr>
          <a:xfrm>
            <a:off x="1524305" y="6019495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{{S11_C0}}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3"/>
          <p:cNvSpPr txBox="1"/>
          <p:nvPr/>
        </p:nvSpPr>
        <p:spPr>
          <a:xfrm>
            <a:off x="1524305" y="6672377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{{S11_C1}}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 txBox="1"/>
          <p:nvPr/>
        </p:nvSpPr>
        <p:spPr>
          <a:xfrm>
            <a:off x="1524305" y="7324344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{{S11_C2}}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 txBox="1"/>
          <p:nvPr/>
        </p:nvSpPr>
        <p:spPr>
          <a:xfrm>
            <a:off x="6858000" y="4629607"/>
            <a:ext cx="42867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Reflexão da liderança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3"/>
          <p:cNvSpPr txBox="1"/>
          <p:nvPr/>
        </p:nvSpPr>
        <p:spPr>
          <a:xfrm>
            <a:off x="6858000" y="4905756"/>
            <a:ext cx="4286707" cy="762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pode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estar acontecendo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3"/>
          <p:cNvSpPr txBox="1"/>
          <p:nvPr/>
        </p:nvSpPr>
        <p:spPr>
          <a:xfrm>
            <a:off x="6858000" y="5762549"/>
            <a:ext cx="42867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Que contexto operacional ou de liderança pode ajudar a explicar esses achados?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6858000" y="6896405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3"/>
          <p:cNvSpPr/>
          <p:nvPr/>
        </p:nvSpPr>
        <p:spPr>
          <a:xfrm>
            <a:off x="6858000" y="7401154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3"/>
          <p:cNvSpPr/>
          <p:nvPr/>
        </p:nvSpPr>
        <p:spPr>
          <a:xfrm>
            <a:off x="6858000" y="7905902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3"/>
          <p:cNvSpPr/>
          <p:nvPr/>
        </p:nvSpPr>
        <p:spPr>
          <a:xfrm>
            <a:off x="6858000" y="8410651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3"/>
          <p:cNvSpPr txBox="1"/>
          <p:nvPr/>
        </p:nvSpPr>
        <p:spPr>
          <a:xfrm>
            <a:off x="6858000" y="8553298"/>
            <a:ext cx="428670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[Preenchido durante 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3"/>
          <p:cNvSpPr txBox="1"/>
          <p:nvPr/>
        </p:nvSpPr>
        <p:spPr>
          <a:xfrm>
            <a:off x="12191695" y="4629607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B68A14"/>
                </a:solidFill>
                <a:latin typeface="Poppins"/>
                <a:ea typeface="Poppins"/>
                <a:cs typeface="Poppins"/>
                <a:sym typeface="Poppins"/>
              </a:rPr>
              <a:t>Questões em aberto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 txBox="1"/>
          <p:nvPr/>
        </p:nvSpPr>
        <p:spPr>
          <a:xfrm>
            <a:off x="12191695" y="4905756"/>
            <a:ext cx="4572000" cy="762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ainda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precisamos entender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3"/>
          <p:cNvSpPr txBox="1"/>
          <p:nvPr/>
        </p:nvSpPr>
        <p:spPr>
          <a:xfrm>
            <a:off x="12191695" y="5762549"/>
            <a:ext cx="4572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não conseguimos concluir de forma responsável só com a pesquisa?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3"/>
          <p:cNvSpPr/>
          <p:nvPr/>
        </p:nvSpPr>
        <p:spPr>
          <a:xfrm>
            <a:off x="12191695" y="6896405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3"/>
          <p:cNvSpPr/>
          <p:nvPr/>
        </p:nvSpPr>
        <p:spPr>
          <a:xfrm>
            <a:off x="12191695" y="7401154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3"/>
          <p:cNvSpPr/>
          <p:nvPr/>
        </p:nvSpPr>
        <p:spPr>
          <a:xfrm>
            <a:off x="12191695" y="7905902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3"/>
          <p:cNvSpPr/>
          <p:nvPr/>
        </p:nvSpPr>
        <p:spPr>
          <a:xfrm>
            <a:off x="12191695" y="8410651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3"/>
          <p:cNvSpPr txBox="1"/>
          <p:nvPr/>
        </p:nvSpPr>
        <p:spPr>
          <a:xfrm>
            <a:off x="12191695" y="8553298"/>
            <a:ext cx="45720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[Preenchido durante 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3"/>
          <p:cNvSpPr txBox="1"/>
          <p:nvPr/>
        </p:nvSpPr>
        <p:spPr>
          <a:xfrm>
            <a:off x="1524305" y="9201607"/>
            <a:ext cx="3810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DADO ≠ HIPÓTESE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 txBox="1"/>
          <p:nvPr/>
        </p:nvSpPr>
        <p:spPr>
          <a:xfrm>
            <a:off x="5905195" y="9277502"/>
            <a:ext cx="11049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Uma hipótese de liderança vira algo a validar, não uma conclusão de pesquisa.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3"/>
          <p:cNvSpPr txBox="1"/>
          <p:nvPr/>
        </p:nvSpPr>
        <p:spPr>
          <a:xfrm>
            <a:off x="16732606" y="9810598"/>
            <a:ext cx="67117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11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03" name="Google Shape;503;p14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1962302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4"/>
          <p:cNvSpPr/>
          <p:nvPr/>
        </p:nvSpPr>
        <p:spPr>
          <a:xfrm>
            <a:off x="1143000" y="4000500"/>
            <a:ext cx="5048402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4"/>
          <p:cNvSpPr/>
          <p:nvPr/>
        </p:nvSpPr>
        <p:spPr>
          <a:xfrm>
            <a:off x="6572707" y="4000500"/>
            <a:ext cx="5048402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4"/>
          <p:cNvSpPr/>
          <p:nvPr/>
        </p:nvSpPr>
        <p:spPr>
          <a:xfrm>
            <a:off x="12001500" y="4000500"/>
            <a:ext cx="5143500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4"/>
          <p:cNvSpPr/>
          <p:nvPr/>
        </p:nvSpPr>
        <p:spPr>
          <a:xfrm>
            <a:off x="1143000" y="8001000"/>
            <a:ext cx="16002000" cy="1714500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d039b869a620850ceef4fbac6a10582a.png" id="508" name="Google Shape;508;p14"/>
          <p:cNvPicPr preferRelativeResize="0"/>
          <p:nvPr/>
        </p:nvPicPr>
        <p:blipFill rotWithShape="1">
          <a:blip r:embed="rId4">
            <a:alphaModFix/>
          </a:blip>
          <a:srcRect b="0" l="-202" r="-202" t="0"/>
          <a:stretch/>
        </p:blipFill>
        <p:spPr>
          <a:xfrm>
            <a:off x="1143000" y="4000500"/>
            <a:ext cx="5048402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1a9d93cd52901b51b4fa5225378be89.png" id="509" name="Google Shape;509;p14"/>
          <p:cNvPicPr preferRelativeResize="0"/>
          <p:nvPr/>
        </p:nvPicPr>
        <p:blipFill rotWithShape="1">
          <a:blip r:embed="rId5">
            <a:alphaModFix/>
          </a:blip>
          <a:srcRect b="0" l="-202" r="-202" t="0"/>
          <a:stretch/>
        </p:blipFill>
        <p:spPr>
          <a:xfrm>
            <a:off x="6572707" y="4000500"/>
            <a:ext cx="5048402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b394d062dd08034b10923c46d236817.png" id="510" name="Google Shape;510;p14"/>
          <p:cNvPicPr preferRelativeResize="0"/>
          <p:nvPr/>
        </p:nvPicPr>
        <p:blipFill rotWithShape="1">
          <a:blip r:embed="rId6">
            <a:alphaModFix/>
          </a:blip>
          <a:srcRect b="0" l="-201" r="-201" t="0"/>
          <a:stretch/>
        </p:blipFill>
        <p:spPr>
          <a:xfrm>
            <a:off x="12001500" y="4000500"/>
            <a:ext cx="51435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14"/>
          <p:cNvSpPr/>
          <p:nvPr/>
        </p:nvSpPr>
        <p:spPr>
          <a:xfrm>
            <a:off x="1143000" y="1047902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4"/>
          <p:cNvSpPr txBox="1"/>
          <p:nvPr/>
        </p:nvSpPr>
        <p:spPr>
          <a:xfrm>
            <a:off x="1307592" y="1190549"/>
            <a:ext cx="29352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4"/>
          <p:cNvSpPr txBox="1"/>
          <p:nvPr/>
        </p:nvSpPr>
        <p:spPr>
          <a:xfrm>
            <a:off x="1904695" y="1238098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Slide de trabalho de priorização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4"/>
          <p:cNvSpPr txBox="1"/>
          <p:nvPr/>
        </p:nvSpPr>
        <p:spPr>
          <a:xfrm>
            <a:off x="1143000" y="2286000"/>
            <a:ext cx="14287500" cy="112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Diante de tudo o que vimos, no que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vale a pena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focar?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4"/>
          <p:cNvSpPr txBox="1"/>
          <p:nvPr/>
        </p:nvSpPr>
        <p:spPr>
          <a:xfrm>
            <a:off x="1524305" y="4304995"/>
            <a:ext cx="4381805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4"/>
          <p:cNvSpPr txBox="1"/>
          <p:nvPr/>
        </p:nvSpPr>
        <p:spPr>
          <a:xfrm>
            <a:off x="1524305" y="4743907"/>
            <a:ext cx="4381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precisa permanecer forte? Máx. 2 tópicos.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4"/>
          <p:cNvSpPr txBox="1"/>
          <p:nvPr/>
        </p:nvSpPr>
        <p:spPr>
          <a:xfrm>
            <a:off x="1524305" y="5257800"/>
            <a:ext cx="4381805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{{S12_PROT0}}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4"/>
          <p:cNvSpPr txBox="1"/>
          <p:nvPr/>
        </p:nvSpPr>
        <p:spPr>
          <a:xfrm>
            <a:off x="1524305" y="6143854"/>
            <a:ext cx="4381805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{{S12_PROT1}}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4"/>
          <p:cNvSpPr txBox="1"/>
          <p:nvPr/>
        </p:nvSpPr>
        <p:spPr>
          <a:xfrm>
            <a:off x="1524305" y="7029907"/>
            <a:ext cx="4381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{{S12_NOTA}}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4"/>
          <p:cNvSpPr txBox="1"/>
          <p:nvPr/>
        </p:nvSpPr>
        <p:spPr>
          <a:xfrm>
            <a:off x="6953098" y="4304995"/>
            <a:ext cx="4381805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4"/>
          <p:cNvSpPr txBox="1"/>
          <p:nvPr/>
        </p:nvSpPr>
        <p:spPr>
          <a:xfrm>
            <a:off x="6953098" y="4743907"/>
            <a:ext cx="4381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a evidência sustenta agir? Máx. 3.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4"/>
          <p:cNvSpPr txBox="1"/>
          <p:nvPr/>
        </p:nvSpPr>
        <p:spPr>
          <a:xfrm>
            <a:off x="6953098" y="5257800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{{S12_TRAT0}}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4"/>
          <p:cNvSpPr txBox="1"/>
          <p:nvPr/>
        </p:nvSpPr>
        <p:spPr>
          <a:xfrm>
            <a:off x="6953098" y="5934456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{{S12_TRAT1}}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4"/>
          <p:cNvSpPr txBox="1"/>
          <p:nvPr/>
        </p:nvSpPr>
        <p:spPr>
          <a:xfrm>
            <a:off x="6953098" y="6610198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{{S12_TRAT2}}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4"/>
          <p:cNvSpPr txBox="1"/>
          <p:nvPr/>
        </p:nvSpPr>
        <p:spPr>
          <a:xfrm>
            <a:off x="6953098" y="7286854"/>
            <a:ext cx="4381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{{S12_NOTA}}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4"/>
          <p:cNvSpPr txBox="1"/>
          <p:nvPr/>
        </p:nvSpPr>
        <p:spPr>
          <a:xfrm>
            <a:off x="12382805" y="4304995"/>
            <a:ext cx="4476902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4"/>
          <p:cNvSpPr txBox="1"/>
          <p:nvPr/>
        </p:nvSpPr>
        <p:spPr>
          <a:xfrm>
            <a:off x="12382805" y="4743907"/>
            <a:ext cx="44769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merece investigação antes de agir? Máx. 2.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4"/>
          <p:cNvSpPr txBox="1"/>
          <p:nvPr/>
        </p:nvSpPr>
        <p:spPr>
          <a:xfrm>
            <a:off x="12382805" y="5257800"/>
            <a:ext cx="4476902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{{S12_APROF0}}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4"/>
          <p:cNvSpPr txBox="1"/>
          <p:nvPr/>
        </p:nvSpPr>
        <p:spPr>
          <a:xfrm>
            <a:off x="12382805" y="6143854"/>
            <a:ext cx="4476902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{{S12_APROF1}}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4"/>
          <p:cNvSpPr txBox="1"/>
          <p:nvPr/>
        </p:nvSpPr>
        <p:spPr>
          <a:xfrm>
            <a:off x="12382805" y="7029907"/>
            <a:ext cx="447690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{{S12_NOTA}}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4"/>
          <p:cNvSpPr txBox="1"/>
          <p:nvPr/>
        </p:nvSpPr>
        <p:spPr>
          <a:xfrm>
            <a:off x="1524305" y="8248802"/>
            <a:ext cx="1524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Quatro testes para aplicar na escolha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4"/>
          <p:cNvSpPr txBox="1"/>
          <p:nvPr/>
        </p:nvSpPr>
        <p:spPr>
          <a:xfrm>
            <a:off x="15243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Impacto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4"/>
          <p:cNvSpPr txBox="1"/>
          <p:nvPr/>
        </p:nvSpPr>
        <p:spPr>
          <a:xfrm>
            <a:off x="1524305" y="8943746"/>
            <a:ext cx="362011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Quais tópicos importam mais para a experiência das pessoas?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4"/>
          <p:cNvSpPr txBox="1"/>
          <p:nvPr/>
        </p:nvSpPr>
        <p:spPr>
          <a:xfrm>
            <a:off x="55248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Influência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4"/>
          <p:cNvSpPr txBox="1"/>
          <p:nvPr/>
        </p:nvSpPr>
        <p:spPr>
          <a:xfrm>
            <a:off x="5524805" y="8943746"/>
            <a:ext cx="41148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essa liderança consegue de fato influenciar?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4"/>
          <p:cNvSpPr txBox="1"/>
          <p:nvPr/>
        </p:nvSpPr>
        <p:spPr>
          <a:xfrm>
            <a:off x="95253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Evidência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4"/>
          <p:cNvSpPr txBox="1"/>
          <p:nvPr/>
        </p:nvSpPr>
        <p:spPr>
          <a:xfrm>
            <a:off x="9525305" y="8943746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sabemos o bastante para agir?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4"/>
          <p:cNvSpPr txBox="1"/>
          <p:nvPr/>
        </p:nvSpPr>
        <p:spPr>
          <a:xfrm>
            <a:off x="13525805" y="8630107"/>
            <a:ext cx="3429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Foco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4"/>
          <p:cNvSpPr txBox="1"/>
          <p:nvPr/>
        </p:nvSpPr>
        <p:spPr>
          <a:xfrm>
            <a:off x="13525805" y="8943746"/>
            <a:ext cx="3429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estamos escolhendo </a:t>
            </a: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não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priorizar de propósito?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4"/>
          <p:cNvSpPr txBox="1"/>
          <p:nvPr/>
        </p:nvSpPr>
        <p:spPr>
          <a:xfrm>
            <a:off x="16706088" y="9905695"/>
            <a:ext cx="67574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12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46" name="Google Shape;546;p15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18672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5"/>
          <p:cNvSpPr/>
          <p:nvPr/>
        </p:nvSpPr>
        <p:spPr>
          <a:xfrm>
            <a:off x="1143000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5"/>
          <p:cNvSpPr/>
          <p:nvPr/>
        </p:nvSpPr>
        <p:spPr>
          <a:xfrm>
            <a:off x="1143000" y="6667805"/>
            <a:ext cx="3047695" cy="384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16215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5"/>
          <p:cNvSpPr/>
          <p:nvPr/>
        </p:nvSpPr>
        <p:spPr>
          <a:xfrm>
            <a:off x="438180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5"/>
          <p:cNvSpPr/>
          <p:nvPr/>
        </p:nvSpPr>
        <p:spPr>
          <a:xfrm>
            <a:off x="4381805" y="6667805"/>
            <a:ext cx="3047695" cy="38405"/>
          </a:xfrm>
          <a:prstGeom prst="rect">
            <a:avLst/>
          </a:prstGeom>
          <a:solidFill>
            <a:srgbClr val="0285FF"/>
          </a:solidFill>
          <a:ln cap="flat" cmpd="sng" w="12700">
            <a:solidFill>
              <a:srgbClr val="0285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5"/>
          <p:cNvSpPr/>
          <p:nvPr/>
        </p:nvSpPr>
        <p:spPr>
          <a:xfrm>
            <a:off x="761969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"/>
          <p:cNvSpPr/>
          <p:nvPr/>
        </p:nvSpPr>
        <p:spPr>
          <a:xfrm>
            <a:off x="7619695" y="6667805"/>
            <a:ext cx="3047695" cy="38405"/>
          </a:xfrm>
          <a:prstGeom prst="rect">
            <a:avLst/>
          </a:prstGeom>
          <a:solidFill>
            <a:srgbClr val="895CF5"/>
          </a:solidFill>
          <a:ln cap="flat" cmpd="sng" w="12700">
            <a:solidFill>
              <a:srgbClr val="895CF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5"/>
          <p:cNvSpPr/>
          <p:nvPr/>
        </p:nvSpPr>
        <p:spPr>
          <a:xfrm>
            <a:off x="10858500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5"/>
          <p:cNvSpPr/>
          <p:nvPr/>
        </p:nvSpPr>
        <p:spPr>
          <a:xfrm>
            <a:off x="10858500" y="6667805"/>
            <a:ext cx="3047695" cy="38405"/>
          </a:xfrm>
          <a:prstGeom prst="rect">
            <a:avLst/>
          </a:prstGeom>
          <a:solidFill>
            <a:srgbClr val="2BB673"/>
          </a:solidFill>
          <a:ln cap="flat" cmpd="sng" w="12700">
            <a:solidFill>
              <a:srgbClr val="2BB67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5"/>
          <p:cNvSpPr/>
          <p:nvPr/>
        </p:nvSpPr>
        <p:spPr>
          <a:xfrm>
            <a:off x="1409730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5"/>
          <p:cNvSpPr/>
          <p:nvPr/>
        </p:nvSpPr>
        <p:spPr>
          <a:xfrm>
            <a:off x="14097305" y="6667805"/>
            <a:ext cx="3047695" cy="38405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15"/>
          <p:cNvSpPr/>
          <p:nvPr/>
        </p:nvSpPr>
        <p:spPr>
          <a:xfrm>
            <a:off x="1143000" y="8630107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5"/>
          <p:cNvSpPr/>
          <p:nvPr/>
        </p:nvSpPr>
        <p:spPr>
          <a:xfrm>
            <a:off x="1143000" y="952805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5"/>
          <p:cNvSpPr txBox="1"/>
          <p:nvPr/>
        </p:nvSpPr>
        <p:spPr>
          <a:xfrm>
            <a:off x="1307592" y="1095451"/>
            <a:ext cx="29352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5"/>
          <p:cNvSpPr txBox="1"/>
          <p:nvPr/>
        </p:nvSpPr>
        <p:spPr>
          <a:xfrm>
            <a:off x="1904695" y="1143000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Da prioridade à responsabilidade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5"/>
          <p:cNvSpPr txBox="1"/>
          <p:nvPr/>
        </p:nvSpPr>
        <p:spPr>
          <a:xfrm>
            <a:off x="1143000" y="2152498"/>
            <a:ext cx="14287500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acontece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agora?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62" name="Google Shape;562;p15"/>
          <p:cNvGraphicFramePr/>
          <p:nvPr/>
        </p:nvGraphicFramePr>
        <p:xfrm>
          <a:off x="1143000" y="31437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3040375"/>
                <a:gridCol w="2560325"/>
                <a:gridCol w="3040375"/>
                <a:gridCol w="1760225"/>
                <a:gridCol w="1760225"/>
                <a:gridCol w="1600200"/>
                <a:gridCol w="2240275"/>
              </a:tblGrid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PRIORIDADE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DECISÃO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PRÓXIMO PASSO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RESPONSÁVEL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APOIO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ATÉ QUANDO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SINAL DE SUCESSO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3" name="Google Shape;563;p15"/>
          <p:cNvSpPr txBox="1"/>
          <p:nvPr/>
        </p:nvSpPr>
        <p:spPr>
          <a:xfrm>
            <a:off x="1143000" y="6286500"/>
            <a:ext cx="1600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Quem é dono do quê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5"/>
          <p:cNvSpPr txBox="1"/>
          <p:nvPr/>
        </p:nvSpPr>
        <p:spPr>
          <a:xfrm>
            <a:off x="1410005" y="6896405"/>
            <a:ext cx="2572207" cy="4096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 DO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DEPARTAMENTO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5"/>
          <p:cNvSpPr txBox="1"/>
          <p:nvPr/>
        </p:nvSpPr>
        <p:spPr>
          <a:xfrm>
            <a:off x="1410005" y="7434072"/>
            <a:ext cx="2904134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Decisões estruturais e de operação.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5"/>
          <p:cNvSpPr txBox="1"/>
          <p:nvPr/>
        </p:nvSpPr>
        <p:spPr>
          <a:xfrm>
            <a:off x="4647895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GESTORES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5"/>
          <p:cNvSpPr txBox="1"/>
          <p:nvPr/>
        </p:nvSpPr>
        <p:spPr>
          <a:xfrm>
            <a:off x="4647895" y="7231990"/>
            <a:ext cx="257220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Práticas diárias de liderança.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5"/>
          <p:cNvSpPr txBox="1"/>
          <p:nvPr/>
        </p:nvSpPr>
        <p:spPr>
          <a:xfrm>
            <a:off x="7886700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HRBP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5"/>
          <p:cNvSpPr txBox="1"/>
          <p:nvPr/>
        </p:nvSpPr>
        <p:spPr>
          <a:xfrm>
            <a:off x="7886700" y="7231990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Diagnóstico, desafio, acompanhamento e suporte.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5"/>
          <p:cNvSpPr txBox="1"/>
          <p:nvPr/>
        </p:nvSpPr>
        <p:spPr>
          <a:xfrm>
            <a:off x="11125505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GESTÃO DE PESSOAS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5"/>
          <p:cNvSpPr txBox="1"/>
          <p:nvPr/>
        </p:nvSpPr>
        <p:spPr>
          <a:xfrm>
            <a:off x="11125505" y="7231990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Sistemas e intervenções de pessoas da companhia.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5"/>
          <p:cNvSpPr txBox="1"/>
          <p:nvPr/>
        </p:nvSpPr>
        <p:spPr>
          <a:xfrm>
            <a:off x="14363395" y="6896405"/>
            <a:ext cx="2572207" cy="4096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LIDERANÇA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EXECUTIVA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5"/>
          <p:cNvSpPr txBox="1"/>
          <p:nvPr/>
        </p:nvSpPr>
        <p:spPr>
          <a:xfrm>
            <a:off x="14363395" y="7434072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Questões que pedem decisões da empresa.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5"/>
          <p:cNvSpPr txBox="1"/>
          <p:nvPr/>
        </p:nvSpPr>
        <p:spPr>
          <a:xfrm>
            <a:off x="1524305" y="8896198"/>
            <a:ext cx="15240305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Sora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Nem todo achado de pesquisa vira uma </a:t>
            </a:r>
            <a:r>
              <a:rPr b="0" i="1" lang="en-US" sz="300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ação de RH.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5"/>
          <p:cNvSpPr txBox="1"/>
          <p:nvPr/>
        </p:nvSpPr>
        <p:spPr>
          <a:xfrm>
            <a:off x="15240305" y="9810598"/>
            <a:ext cx="17145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13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{{D0_NOME}}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{{D0_DESC}}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{{D0_FAV}}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{{D0_MED}}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{{D0_VSFB}}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{{D0_VSANT}}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9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{{D1_NOME}}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{{D1_DESC}}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{{D1_FAV}}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{{D1_MED}}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{{D1_VSFB}}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{{D1_VSANT}}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{{D2_NOME}}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{{D2_DESC}}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{{D2_FAV}}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{{D2_MED}}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{{D2_VSFB}}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{{D2_VSANT}}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{{D3_NOME}}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{{D3_DESC}}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{{D3_FAV}}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{{D3_MED}}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{{D3_VSFB}}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{{D3_VSANT}}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{{D4_NOME}}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{{D4_DESC}}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{{D4_FAV}}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{{D4_MED}}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{{D4_VSFB}}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{{D4_VSANT}}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{{D5_NOME}}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{{D5_DESC}}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{{D5_FAV}}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{{D5_MED}}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{{D5_VSFB}}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{{D5_VSANT}}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{{D6_NOME}}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{{D6_DESC}}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{{D6_FAV}}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{{D6_MED}}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{{D6_VSFB}}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{{D6_VSANT}}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{{D7_NOME}}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{{D7_DESC}}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{{D7_FAV}}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{{D7_MED}}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{{D7_VSFB}}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{{D7_VSANT}}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{{D8_NOME}}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{{D8_DESC}}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{{D8_FAV}}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{{D8_MED}}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{{D8_VSFB}}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{{D8_VSANT}}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{{D9_NOME}}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{{D9_DESC}}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{{D9_FAV}}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{{D9_MED}}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{{D9_VSFB}}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{{D9_VSANT}}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1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2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3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47" name="Google Shape;647;p18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Google Shape;648;p18"/>
          <p:cNvSpPr/>
          <p:nvPr/>
        </p:nvSpPr>
        <p:spPr>
          <a:xfrm>
            <a:off x="1143000" y="2667305"/>
            <a:ext cx="10382098" cy="4286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8"/>
          <p:cNvSpPr/>
          <p:nvPr/>
        </p:nvSpPr>
        <p:spPr>
          <a:xfrm>
            <a:off x="11811305" y="2667305"/>
            <a:ext cx="5333695" cy="4286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18"/>
          <p:cNvSpPr/>
          <p:nvPr/>
        </p:nvSpPr>
        <p:spPr>
          <a:xfrm>
            <a:off x="1143000" y="7200900"/>
            <a:ext cx="16002000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51" name="Google Shape;651;p18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813a1ce1044c86ef0e1b0e32aea1514.png" id="652" name="Google Shape;652;p18"/>
          <p:cNvPicPr preferRelativeResize="0"/>
          <p:nvPr/>
        </p:nvPicPr>
        <p:blipFill rotWithShape="1">
          <a:blip r:embed="rId5">
            <a:alphaModFix/>
          </a:blip>
          <a:srcRect b="-401" l="0" r="0" t="-401"/>
          <a:stretch/>
        </p:blipFill>
        <p:spPr>
          <a:xfrm>
            <a:off x="1143000" y="2667305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cfed60e3a0044a8bbba5629bd0d74b8.png" id="654" name="Google Shape;654;p18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2667305"/>
            <a:ext cx="53336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3e00d751ee909f38b683eed3f58df22.png" id="655" name="Google Shape;655;p18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143000" y="7200900"/>
            <a:ext cx="16002000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Google Shape;656;p18"/>
          <p:cNvSpPr/>
          <p:nvPr/>
        </p:nvSpPr>
        <p:spPr>
          <a:xfrm>
            <a:off x="1447495" y="7848295"/>
            <a:ext cx="15411298" cy="1009498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18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8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todas as ondas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8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históricos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por onda.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8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Resultados do Departamento ao longo de todas as ondas disponíveis.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8"/>
          <p:cNvSpPr txBox="1"/>
          <p:nvPr/>
        </p:nvSpPr>
        <p:spPr>
          <a:xfrm>
            <a:off x="1447495" y="2915107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 · visão de tendência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8"/>
          <p:cNvSpPr txBox="1"/>
          <p:nvPr/>
        </p:nvSpPr>
        <p:spPr>
          <a:xfrm>
            <a:off x="12115800" y="29151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Indicadores por onda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64" name="Google Shape;664;p18"/>
          <p:cNvGraphicFramePr/>
          <p:nvPr/>
        </p:nvGraphicFramePr>
        <p:xfrm>
          <a:off x="12115800" y="3314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1161300"/>
                <a:gridCol w="906175"/>
                <a:gridCol w="1152150"/>
                <a:gridCol w="1505100"/>
              </a:tblGrid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ONDA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ENPS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SATISF.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RISCO RET.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65" name="Google Shape;665;p18"/>
          <p:cNvSpPr txBox="1"/>
          <p:nvPr/>
        </p:nvSpPr>
        <p:spPr>
          <a:xfrm>
            <a:off x="1447495" y="7448702"/>
            <a:ext cx="5715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Movimento dos drivers entre ondas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8"/>
          <p:cNvSpPr txBox="1"/>
          <p:nvPr/>
        </p:nvSpPr>
        <p:spPr>
          <a:xfrm>
            <a:off x="1143000" y="9391802"/>
            <a:ext cx="16002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Nota ·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Diferenças entre ondas não estabelecem causa. O tamanho da população pode variar entre ondas.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68" name="Chart 667"/>
          <p:cNvGraphicFramePr>
            <a:graphicFrameLocks noGrp="1"/>
          </p:cNvGraphicFramePr>
          <p:nvPr/>
        </p:nvGraphicFramePr>
        <p:xfrm>
          <a:off x="1444752" y="3154680"/>
          <a:ext cx="3154680" cy="3611880"/>
        </p:xfrm>
        <a:graphic>
          <a:graphicData uri="http://schemas.openxmlformats.org/drawingml/2006/chart">
            <c:chart r:id="rId8"/>
          </a:graphicData>
        </a:graphic>
      </p:graphicFrame>
      <p:graphicFrame>
        <p:nvGraphicFramePr>
          <p:cNvPr id="669" name="Chart 668"/>
          <p:cNvGraphicFramePr>
            <a:graphicFrameLocks noGrp="1"/>
          </p:cNvGraphicFramePr>
          <p:nvPr/>
        </p:nvGraphicFramePr>
        <p:xfrm>
          <a:off x="4764024" y="3154680"/>
          <a:ext cx="3154680" cy="3611880"/>
        </p:xfrm>
        <a:graphic>
          <a:graphicData uri="http://schemas.openxmlformats.org/drawingml/2006/chart">
            <c:chart r:id="rId9"/>
          </a:graphicData>
        </a:graphic>
      </p:graphicFrame>
      <p:graphicFrame>
        <p:nvGraphicFramePr>
          <p:cNvPr id="670" name="Chart 669"/>
          <p:cNvGraphicFramePr>
            <a:graphicFrameLocks noGrp="1"/>
          </p:cNvGraphicFramePr>
          <p:nvPr/>
        </p:nvGraphicFramePr>
        <p:xfrm>
          <a:off x="8083296" y="3154680"/>
          <a:ext cx="3154680" cy="3611880"/>
        </p:xfrm>
        <a:graphic>
          <a:graphicData uri="http://schemas.openxmlformats.org/drawingml/2006/chart">
            <c:chart r:id="rId10"/>
          </a:graphicData>
        </a:graphic>
      </p:graphicFrame>
      <p:graphicFrame>
        <p:nvGraphicFramePr>
          <p:cNvPr id="671" name="Chart 670"/>
          <p:cNvGraphicFramePr>
            <a:graphicFrameLocks noGrp="1"/>
          </p:cNvGraphicFramePr>
          <p:nvPr/>
        </p:nvGraphicFramePr>
        <p:xfrm>
          <a:off x="1554480" y="7863840"/>
          <a:ext cx="15179040" cy="987552"/>
        </p:xfrm>
        <a:graphic>
          <a:graphicData uri="http://schemas.openxmlformats.org/drawingml/2006/chart">
            <c:chart r:id="rId11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73" name="Google Shape;673;p19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p19"/>
          <p:cNvSpPr/>
          <p:nvPr/>
        </p:nvSpPr>
        <p:spPr>
          <a:xfrm>
            <a:off x="1143000" y="2667305"/>
            <a:ext cx="7810805" cy="3143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19"/>
          <p:cNvSpPr/>
          <p:nvPr/>
        </p:nvSpPr>
        <p:spPr>
          <a:xfrm>
            <a:off x="9334195" y="2667305"/>
            <a:ext cx="7810805" cy="3143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9"/>
          <p:cNvSpPr/>
          <p:nvPr/>
        </p:nvSpPr>
        <p:spPr>
          <a:xfrm>
            <a:off x="1143000" y="6057900"/>
            <a:ext cx="7810805" cy="276240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19"/>
          <p:cNvSpPr/>
          <p:nvPr/>
        </p:nvSpPr>
        <p:spPr>
          <a:xfrm>
            <a:off x="9334195" y="6057900"/>
            <a:ext cx="7810805" cy="276240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19"/>
          <p:cNvSpPr/>
          <p:nvPr/>
        </p:nvSpPr>
        <p:spPr>
          <a:xfrm>
            <a:off x="1143000" y="9068105"/>
            <a:ext cx="16002000" cy="666598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79" name="Google Shape;679;p19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263baab20bd28922bb155b0f4d0f9c0.png" id="680" name="Google Shape;680;p19"/>
          <p:cNvPicPr preferRelativeResize="0"/>
          <p:nvPr/>
        </p:nvPicPr>
        <p:blipFill rotWithShape="1">
          <a:blip r:embed="rId5">
            <a:alphaModFix/>
          </a:blip>
          <a:srcRect b="-398" l="0" r="0" t="-398"/>
          <a:stretch/>
        </p:blipFill>
        <p:spPr>
          <a:xfrm>
            <a:off x="1143000" y="2667305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19"/>
          <p:cNvSpPr/>
          <p:nvPr/>
        </p:nvSpPr>
        <p:spPr>
          <a:xfrm>
            <a:off x="1447495" y="3771900"/>
            <a:ext cx="7220102" cy="17903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160ed63ff4897580506bbf37f334b853.png" id="682" name="Google Shape;682;p19"/>
          <p:cNvPicPr preferRelativeResize="0"/>
          <p:nvPr/>
        </p:nvPicPr>
        <p:blipFill rotWithShape="1">
          <a:blip r:embed="rId6">
            <a:alphaModFix/>
          </a:blip>
          <a:srcRect b="-398" l="0" r="0" t="-398"/>
          <a:stretch/>
        </p:blipFill>
        <p:spPr>
          <a:xfrm>
            <a:off x="9334195" y="2667305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19"/>
          <p:cNvSpPr/>
          <p:nvPr/>
        </p:nvSpPr>
        <p:spPr>
          <a:xfrm>
            <a:off x="9639605" y="3771900"/>
            <a:ext cx="7220102" cy="17903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5c8bf8acd772ec8c06d393da37b0cf8d.png" id="684" name="Google Shape;684;p19"/>
          <p:cNvPicPr preferRelativeResize="0"/>
          <p:nvPr/>
        </p:nvPicPr>
        <p:blipFill rotWithShape="1">
          <a:blip r:embed="rId7">
            <a:alphaModFix/>
          </a:blip>
          <a:srcRect b="-398" l="0" r="0" t="-398"/>
          <a:stretch/>
        </p:blipFill>
        <p:spPr>
          <a:xfrm>
            <a:off x="1143000" y="6057900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19"/>
          <p:cNvSpPr/>
          <p:nvPr/>
        </p:nvSpPr>
        <p:spPr>
          <a:xfrm>
            <a:off x="1447495" y="7162495"/>
            <a:ext cx="7220102" cy="141000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5a165d334a73f7fa335269d0f60d777a.png" id="686" name="Google Shape;686;p19"/>
          <p:cNvPicPr preferRelativeResize="0"/>
          <p:nvPr/>
        </p:nvPicPr>
        <p:blipFill rotWithShape="1">
          <a:blip r:embed="rId8">
            <a:alphaModFix/>
          </a:blip>
          <a:srcRect b="-398" l="0" r="0" t="-398"/>
          <a:stretch/>
        </p:blipFill>
        <p:spPr>
          <a:xfrm>
            <a:off x="9334195" y="6057900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19"/>
          <p:cNvSpPr/>
          <p:nvPr/>
        </p:nvSpPr>
        <p:spPr>
          <a:xfrm>
            <a:off x="9639605" y="7162495"/>
            <a:ext cx="7220102" cy="141000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19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9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9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Retenção e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segmentação</a:t>
            </a: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 da população.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19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Visões detalhadas por tempo de casa e escopo de função, e outras segmentações quando disponíveis.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9"/>
          <p:cNvSpPr txBox="1"/>
          <p:nvPr/>
        </p:nvSpPr>
        <p:spPr>
          <a:xfrm>
            <a:off x="1447495" y="2915107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Tempo de casa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9"/>
          <p:cNvSpPr txBox="1"/>
          <p:nvPr/>
        </p:nvSpPr>
        <p:spPr>
          <a:xfrm>
            <a:off x="1447495" y="3152851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Risco de retenção por faixa de tempo de casa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9"/>
          <p:cNvSpPr txBox="1"/>
          <p:nvPr/>
        </p:nvSpPr>
        <p:spPr>
          <a:xfrm>
            <a:off x="9639605" y="2915107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Escopo de função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9"/>
          <p:cNvSpPr txBox="1"/>
          <p:nvPr/>
        </p:nvSpPr>
        <p:spPr>
          <a:xfrm>
            <a:off x="9639605" y="3152851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Lideranças vs pessoas individuais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9"/>
          <p:cNvSpPr txBox="1"/>
          <p:nvPr/>
        </p:nvSpPr>
        <p:spPr>
          <a:xfrm>
            <a:off x="1447495" y="6305702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Marca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9"/>
          <p:cNvSpPr txBox="1"/>
          <p:nvPr/>
        </p:nvSpPr>
        <p:spPr>
          <a:xfrm>
            <a:off x="1447495" y="6543446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marca, quando relevante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9"/>
          <p:cNvSpPr txBox="1"/>
          <p:nvPr/>
        </p:nvSpPr>
        <p:spPr>
          <a:xfrm>
            <a:off x="9639605" y="6305702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B68A14"/>
                </a:solidFill>
                <a:latin typeface="Poppins"/>
                <a:ea typeface="Poppins"/>
                <a:cs typeface="Poppins"/>
                <a:sym typeface="Poppins"/>
              </a:rPr>
              <a:t>Modelo de trabalho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9"/>
          <p:cNvSpPr txBox="1"/>
          <p:nvPr/>
        </p:nvSpPr>
        <p:spPr>
          <a:xfrm>
            <a:off x="9639605" y="6543446"/>
            <a:ext cx="7821778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modelo de trabalho, quando relevante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9"/>
          <p:cNvSpPr txBox="1"/>
          <p:nvPr/>
        </p:nvSpPr>
        <p:spPr>
          <a:xfrm>
            <a:off x="1447495" y="9258300"/>
            <a:ext cx="154305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Poppins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Cuidado ·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Recortes por segmento com </a:t>
            </a:r>
            <a:r>
              <a:rPr b="0" i="1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pequeno são apenas indicativos. Quando uma população fica abaixo do limiar de divulgação, nenhum resultado é mostrado.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05" name="Chart 704"/>
          <p:cNvGraphicFramePr>
            <a:graphicFrameLocks noGrp="1"/>
          </p:cNvGraphicFramePr>
          <p:nvPr/>
        </p:nvGraphicFramePr>
        <p:xfrm>
          <a:off x="1481328" y="3785615"/>
          <a:ext cx="7150608" cy="1755648"/>
        </p:xfrm>
        <a:graphic>
          <a:graphicData uri="http://schemas.openxmlformats.org/drawingml/2006/chart">
            <c:chart r:id="rId9"/>
          </a:graphicData>
        </a:graphic>
      </p:graphicFrame>
      <p:graphicFrame>
        <p:nvGraphicFramePr>
          <p:cNvPr id="706" name="Chart 705"/>
          <p:cNvGraphicFramePr>
            <a:graphicFrameLocks noGrp="1"/>
          </p:cNvGraphicFramePr>
          <p:nvPr/>
        </p:nvGraphicFramePr>
        <p:xfrm>
          <a:off x="9674352" y="3785615"/>
          <a:ext cx="7150608" cy="1755648"/>
        </p:xfrm>
        <a:graphic>
          <a:graphicData uri="http://schemas.openxmlformats.org/drawingml/2006/chart">
            <c:chart r:id="rId10"/>
          </a:graphicData>
        </a:graphic>
      </p:graphicFrame>
      <p:graphicFrame>
        <p:nvGraphicFramePr>
          <p:cNvPr id="707" name="Chart 706"/>
          <p:cNvGraphicFramePr>
            <a:graphicFrameLocks noGrp="1"/>
          </p:cNvGraphicFramePr>
          <p:nvPr/>
        </p:nvGraphicFramePr>
        <p:xfrm>
          <a:off x="1481328" y="7178040"/>
          <a:ext cx="7150608" cy="1371600"/>
        </p:xfrm>
        <a:graphic>
          <a:graphicData uri="http://schemas.openxmlformats.org/drawingml/2006/chart">
            <c:chart r:id="rId11"/>
          </a:graphicData>
        </a:graphic>
      </p:graphicFrame>
      <p:graphicFrame>
        <p:nvGraphicFramePr>
          <p:cNvPr id="708" name="Chart 707"/>
          <p:cNvGraphicFramePr>
            <a:graphicFrameLocks noGrp="1"/>
          </p:cNvGraphicFramePr>
          <p:nvPr/>
        </p:nvGraphicFramePr>
        <p:xfrm>
          <a:off x="9674352" y="7178040"/>
          <a:ext cx="7150608" cy="1371600"/>
        </p:xfrm>
        <a:graphic>
          <a:graphicData uri="http://schemas.openxmlformats.org/drawingml/2006/chart">
            <c:chart r:id="rId1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15B"/>
        </a:solidFill>
      </p:bgPr>
    </p:bg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eefcd3a79b80d6e935470e334c29f89.png" id="710" name="Google Shape;71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598" y="-1904695"/>
            <a:ext cx="10477195" cy="104771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4f4be534a60e8d71b47e8883d6a36dc3.png" id="711" name="Google Shape;711;p20"/>
          <p:cNvPicPr preferRelativeResize="0"/>
          <p:nvPr/>
        </p:nvPicPr>
        <p:blipFill rotWithShape="1">
          <a:blip r:embed="rId4">
            <a:alphaModFix/>
          </a:blip>
          <a:srcRect b="0" l="-2083" r="-2083" t="0"/>
          <a:stretch/>
        </p:blipFill>
        <p:spPr>
          <a:xfrm>
            <a:off x="1143000" y="2762402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712" name="Google Shape;712;p20"/>
          <p:cNvSpPr/>
          <p:nvPr/>
        </p:nvSpPr>
        <p:spPr>
          <a:xfrm>
            <a:off x="13525805" y="3238805"/>
            <a:ext cx="3619195" cy="5333695"/>
          </a:xfrm>
          <a:prstGeom prst="rect">
            <a:avLst/>
          </a:prstGeom>
          <a:solidFill>
            <a:srgbClr val="FFFFFF">
              <a:alpha val="705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8d7978898a3900d897008c966ef8a94.png" id="713" name="Google Shape;713;p20"/>
          <p:cNvPicPr preferRelativeResize="0"/>
          <p:nvPr/>
        </p:nvPicPr>
        <p:blipFill rotWithShape="1">
          <a:blip r:embed="rId5">
            <a:alphaModFix/>
          </a:blip>
          <a:srcRect b="0" l="-2083" r="-2083" t="0"/>
          <a:stretch/>
        </p:blipFill>
        <p:spPr>
          <a:xfrm>
            <a:off x="1143000" y="8953805"/>
            <a:ext cx="11811305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bc121ffa8f8e2d9d0a763d6efab56c2a.png" id="714" name="Google Shape;714;p20"/>
          <p:cNvPicPr preferRelativeResize="0"/>
          <p:nvPr/>
        </p:nvPicPr>
        <p:blipFill rotWithShape="1">
          <a:blip r:embed="rId6">
            <a:alphaModFix/>
          </a:blip>
          <a:srcRect b="0" l="-403" r="-403" t="0"/>
          <a:stretch/>
        </p:blipFill>
        <p:spPr>
          <a:xfrm>
            <a:off x="13525805" y="3238805"/>
            <a:ext cx="57607" cy="5333695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p20"/>
          <p:cNvSpPr txBox="1"/>
          <p:nvPr/>
        </p:nvSpPr>
        <p:spPr>
          <a:xfrm>
            <a:off x="1143000" y="952805"/>
            <a:ext cx="2200961" cy="295351"/>
          </a:xfrm>
          <a:prstGeom prst="rect">
            <a:avLst/>
          </a:prstGeom>
          <a:noFill/>
          <a:ln cap="flat" cmpd="sng" w="12700">
            <a:solidFill>
              <a:srgbClr val="FFFFFF">
                <a:alpha val="3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metodologia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0"/>
          <p:cNvSpPr txBox="1"/>
          <p:nvPr/>
        </p:nvSpPr>
        <p:spPr>
          <a:xfrm>
            <a:off x="1143000" y="1619402"/>
            <a:ext cx="1333561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Definições e </a:t>
            </a:r>
            <a:r>
              <a:rPr b="1" i="1" lang="en-US" sz="45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limites analíticos.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0"/>
          <p:cNvSpPr txBox="1"/>
          <p:nvPr/>
        </p:nvSpPr>
        <p:spPr>
          <a:xfrm>
            <a:off x="1143000" y="3238805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Definições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0"/>
          <p:cNvSpPr/>
          <p:nvPr/>
        </p:nvSpPr>
        <p:spPr>
          <a:xfrm>
            <a:off x="1143000" y="3666744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20"/>
          <p:cNvSpPr txBox="1"/>
          <p:nvPr/>
        </p:nvSpPr>
        <p:spPr>
          <a:xfrm>
            <a:off x="1143000" y="3866998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eNPS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0"/>
          <p:cNvSpPr txBox="1"/>
          <p:nvPr/>
        </p:nvSpPr>
        <p:spPr>
          <a:xfrm>
            <a:off x="1143000" y="4200754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Pergunta de 0 a 10 sobre recomendar a organização como lugar para trabalhar. Promotores = notas 9–10; detratores = 0–6. eNPS = % promotores − % detratores (vai de −100 a +100).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0"/>
          <p:cNvSpPr/>
          <p:nvPr/>
        </p:nvSpPr>
        <p:spPr>
          <a:xfrm>
            <a:off x="1143000" y="4612234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" name="Google Shape;722;p20"/>
          <p:cNvSpPr txBox="1"/>
          <p:nvPr/>
        </p:nvSpPr>
        <p:spPr>
          <a:xfrm>
            <a:off x="1143000" y="4812487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Satisfação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0"/>
          <p:cNvSpPr txBox="1"/>
          <p:nvPr/>
        </p:nvSpPr>
        <p:spPr>
          <a:xfrm>
            <a:off x="1143000" y="5146243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Média das notas de 0 a 10 na pergunta sobre o nível de satisfação trabalhando na empresa.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0"/>
          <p:cNvSpPr/>
          <p:nvPr/>
        </p:nvSpPr>
        <p:spPr>
          <a:xfrm>
            <a:off x="1143000" y="5557723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20"/>
          <p:cNvSpPr txBox="1"/>
          <p:nvPr/>
        </p:nvSpPr>
        <p:spPr>
          <a:xfrm>
            <a:off x="1143000" y="5757977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Risco de retenção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0"/>
          <p:cNvSpPr txBox="1"/>
          <p:nvPr/>
        </p:nvSpPr>
        <p:spPr>
          <a:xfrm>
            <a:off x="1143000" y="6090818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% de pessoas com nota de 0 a 6 na pergunta de 0 a 10 sobre permanecer trabalhando aqui.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0"/>
          <p:cNvSpPr/>
          <p:nvPr/>
        </p:nvSpPr>
        <p:spPr>
          <a:xfrm>
            <a:off x="1143000" y="6503213"/>
            <a:ext cx="7239305" cy="961949"/>
          </a:xfrm>
          <a:prstGeom prst="rect">
            <a:avLst/>
          </a:prstGeom>
          <a:noFill/>
          <a:ln cap="flat" cmpd="sng" w="12700">
            <a:solidFill>
              <a:srgbClr val="FFFFFF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20"/>
          <p:cNvSpPr txBox="1"/>
          <p:nvPr/>
        </p:nvSpPr>
        <p:spPr>
          <a:xfrm>
            <a:off x="1143000" y="6703466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Drivers de experiência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20"/>
          <p:cNvSpPr txBox="1"/>
          <p:nvPr/>
        </p:nvSpPr>
        <p:spPr>
          <a:xfrm>
            <a:off x="1143000" y="7036308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{{DRIVERS_LISTA}}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0"/>
          <p:cNvSpPr txBox="1"/>
          <p:nvPr/>
        </p:nvSpPr>
        <p:spPr>
          <a:xfrm>
            <a:off x="9144000" y="3238805"/>
            <a:ext cx="381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Regras de leitura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0"/>
          <p:cNvSpPr/>
          <p:nvPr/>
        </p:nvSpPr>
        <p:spPr>
          <a:xfrm>
            <a:off x="9144000" y="3715207"/>
            <a:ext cx="152705" cy="152705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20"/>
          <p:cNvSpPr txBox="1"/>
          <p:nvPr/>
        </p:nvSpPr>
        <p:spPr>
          <a:xfrm>
            <a:off x="9430207" y="3666744"/>
            <a:ext cx="90617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20"/>
          <p:cNvSpPr txBox="1"/>
          <p:nvPr/>
        </p:nvSpPr>
        <p:spPr>
          <a:xfrm>
            <a:off x="12592202" y="3690518"/>
            <a:ext cx="43159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4 – 5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0"/>
          <p:cNvSpPr/>
          <p:nvPr/>
        </p:nvSpPr>
        <p:spPr>
          <a:xfrm>
            <a:off x="9144000" y="4114800"/>
            <a:ext cx="152705" cy="152705"/>
          </a:xfrm>
          <a:prstGeom prst="ellipse">
            <a:avLst/>
          </a:prstGeom>
          <a:solidFill>
            <a:srgbClr val="F8CD4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0"/>
          <p:cNvSpPr txBox="1"/>
          <p:nvPr/>
        </p:nvSpPr>
        <p:spPr>
          <a:xfrm>
            <a:off x="9430207" y="4067251"/>
            <a:ext cx="605333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Neutro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0"/>
          <p:cNvSpPr txBox="1"/>
          <p:nvPr/>
        </p:nvSpPr>
        <p:spPr>
          <a:xfrm>
            <a:off x="12854635" y="4091026"/>
            <a:ext cx="105156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20"/>
          <p:cNvSpPr/>
          <p:nvPr/>
        </p:nvSpPr>
        <p:spPr>
          <a:xfrm>
            <a:off x="9144000" y="4515307"/>
            <a:ext cx="152705" cy="152705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20"/>
          <p:cNvSpPr txBox="1"/>
          <p:nvPr/>
        </p:nvSpPr>
        <p:spPr>
          <a:xfrm>
            <a:off x="9430207" y="4466844"/>
            <a:ext cx="1208837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Desfavorável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0"/>
          <p:cNvSpPr txBox="1"/>
          <p:nvPr/>
        </p:nvSpPr>
        <p:spPr>
          <a:xfrm>
            <a:off x="12628778" y="4490618"/>
            <a:ext cx="39685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 – 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0"/>
          <p:cNvSpPr txBox="1"/>
          <p:nvPr/>
        </p:nvSpPr>
        <p:spPr>
          <a:xfrm>
            <a:off x="9144000" y="4943246"/>
            <a:ext cx="3810305" cy="523951"/>
          </a:xfrm>
          <a:prstGeom prst="rect">
            <a:avLst/>
          </a:prstGeom>
          <a:noFill/>
          <a:ln cap="flat" cmpd="sng" w="12700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52400" spcFirstLastPara="1" rIns="152400" wrap="square" tIns="1524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eNPS e risco de retenção classificam cada nota de 0 a 10 (promotor 9–10, detrator/risco 0–6). Satisfação é a média simples.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0"/>
          <p:cNvSpPr txBox="1"/>
          <p:nvPr/>
        </p:nvSpPr>
        <p:spPr>
          <a:xfrm>
            <a:off x="13868705" y="3504895"/>
            <a:ext cx="3048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Limites analíticos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0"/>
          <p:cNvSpPr txBox="1"/>
          <p:nvPr/>
        </p:nvSpPr>
        <p:spPr>
          <a:xfrm>
            <a:off x="13868705" y="3853282"/>
            <a:ext cx="3048610" cy="4042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Departamento é o recorte mais granular. Não existem resultados por time.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Populações pequenas devem ser interpretadas com cautela.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Associação com engajamento não estabelece causalidade.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Comentários representam percepções e contexto, não medição.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Hipóteses da liderança não são achados de pesquisa.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20"/>
          <p:cNvSpPr txBox="1"/>
          <p:nvPr/>
        </p:nvSpPr>
        <p:spPr>
          <a:xfrm>
            <a:off x="1143000" y="9201607"/>
            <a:ext cx="11811305" cy="3529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Sora"/>
              <a:buNone/>
            </a:pPr>
            <a:r>
              <a:rPr b="0" i="0" lang="en-US" sz="19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O dashboard guarda o detalhe. Esta sessão decide </a:t>
            </a:r>
            <a:r>
              <a:rPr b="0" i="1" lang="en-US" sz="19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o que faremos a respeito.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